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924"/>
    <p:restoredTop sz="94654"/>
  </p:normalViewPr>
  <p:slideViewPr>
    <p:cSldViewPr snapToGrid="0">
      <p:cViewPr varScale="1">
        <p:scale>
          <a:sx n="93" d="100"/>
          <a:sy n="93" d="100"/>
        </p:scale>
        <p:origin x="248" y="11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DE09E2-6289-3DED-6D12-1C463FDBB553}"/>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sv-SE"/>
          </a:p>
        </p:txBody>
      </p:sp>
      <p:sp>
        <p:nvSpPr>
          <p:cNvPr id="3" name="Subtitle 2">
            <a:extLst>
              <a:ext uri="{FF2B5EF4-FFF2-40B4-BE49-F238E27FC236}">
                <a16:creationId xmlns:a16="http://schemas.microsoft.com/office/drawing/2014/main" id="{38F5EEFE-A772-14D3-2060-DB1637AFD7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sv-SE"/>
          </a:p>
        </p:txBody>
      </p:sp>
      <p:sp>
        <p:nvSpPr>
          <p:cNvPr id="4" name="Date Placeholder 3">
            <a:extLst>
              <a:ext uri="{FF2B5EF4-FFF2-40B4-BE49-F238E27FC236}">
                <a16:creationId xmlns:a16="http://schemas.microsoft.com/office/drawing/2014/main" id="{BFC2BAA9-6BD3-EDEA-110E-64DAEB6737BF}"/>
              </a:ext>
            </a:extLst>
          </p:cNvPr>
          <p:cNvSpPr>
            <a:spLocks noGrp="1"/>
          </p:cNvSpPr>
          <p:nvPr>
            <p:ph type="dt" sz="half" idx="10"/>
          </p:nvPr>
        </p:nvSpPr>
        <p:spPr/>
        <p:txBody>
          <a:bodyPr/>
          <a:lstStyle/>
          <a:p>
            <a:fld id="{6C16D705-C0C0-2245-8918-EBC3ED83AE9D}" type="datetimeFigureOut">
              <a:rPr lang="sv-SE" smtClean="0"/>
              <a:t>2026-10-21</a:t>
            </a:fld>
            <a:endParaRPr lang="sv-SE"/>
          </a:p>
        </p:txBody>
      </p:sp>
      <p:sp>
        <p:nvSpPr>
          <p:cNvPr id="5" name="Footer Placeholder 4">
            <a:extLst>
              <a:ext uri="{FF2B5EF4-FFF2-40B4-BE49-F238E27FC236}">
                <a16:creationId xmlns:a16="http://schemas.microsoft.com/office/drawing/2014/main" id="{61FB6CC1-84E1-F493-7FC0-D33F5CE95376}"/>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383030DF-2413-110F-6E58-F15D372A86B1}"/>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9368049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CB2163-0857-75B0-2326-864500EA4DF9}"/>
              </a:ext>
            </a:extLst>
          </p:cNvPr>
          <p:cNvSpPr>
            <a:spLocks noGrp="1"/>
          </p:cNvSpPr>
          <p:nvPr>
            <p:ph type="title"/>
          </p:nvPr>
        </p:nvSpPr>
        <p:spPr/>
        <p:txBody>
          <a:bodyPr/>
          <a:lstStyle/>
          <a:p>
            <a:r>
              <a:rPr lang="en-GB"/>
              <a:t>Click to edit Master title style</a:t>
            </a:r>
            <a:endParaRPr lang="sv-SE"/>
          </a:p>
        </p:txBody>
      </p:sp>
      <p:sp>
        <p:nvSpPr>
          <p:cNvPr id="3" name="Content Placeholder 2">
            <a:extLst>
              <a:ext uri="{FF2B5EF4-FFF2-40B4-BE49-F238E27FC236}">
                <a16:creationId xmlns:a16="http://schemas.microsoft.com/office/drawing/2014/main" id="{60B782F4-2840-09EF-C87C-0A18D3C58630}"/>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FF716A0D-2FC5-F983-AACE-D653FAC8FD8C}"/>
              </a:ext>
            </a:extLst>
          </p:cNvPr>
          <p:cNvSpPr>
            <a:spLocks noGrp="1"/>
          </p:cNvSpPr>
          <p:nvPr>
            <p:ph type="dt" sz="half" idx="10"/>
          </p:nvPr>
        </p:nvSpPr>
        <p:spPr/>
        <p:txBody>
          <a:bodyPr/>
          <a:lstStyle/>
          <a:p>
            <a:fld id="{6C16D705-C0C0-2245-8918-EBC3ED83AE9D}" type="datetimeFigureOut">
              <a:rPr lang="sv-SE" smtClean="0"/>
              <a:t>2026-10-21</a:t>
            </a:fld>
            <a:endParaRPr lang="sv-SE"/>
          </a:p>
        </p:txBody>
      </p:sp>
      <p:sp>
        <p:nvSpPr>
          <p:cNvPr id="5" name="Footer Placeholder 4">
            <a:extLst>
              <a:ext uri="{FF2B5EF4-FFF2-40B4-BE49-F238E27FC236}">
                <a16:creationId xmlns:a16="http://schemas.microsoft.com/office/drawing/2014/main" id="{3D30BA05-6FBC-A97D-503C-FED7CAC60BB2}"/>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C2302B9D-2BB0-3045-AA70-D11FD2C1F10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7217568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729A44-3634-C479-B915-6FC8937B8969}"/>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sv-SE"/>
          </a:p>
        </p:txBody>
      </p:sp>
      <p:sp>
        <p:nvSpPr>
          <p:cNvPr id="3" name="Text Placeholder 2">
            <a:extLst>
              <a:ext uri="{FF2B5EF4-FFF2-40B4-BE49-F238E27FC236}">
                <a16:creationId xmlns:a16="http://schemas.microsoft.com/office/drawing/2014/main" id="{77335C92-48C3-E649-453F-001985A99C0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7C179E4-FED1-D2E5-69FB-0E608A153229}"/>
              </a:ext>
            </a:extLst>
          </p:cNvPr>
          <p:cNvSpPr>
            <a:spLocks noGrp="1"/>
          </p:cNvSpPr>
          <p:nvPr>
            <p:ph type="dt" sz="half" idx="10"/>
          </p:nvPr>
        </p:nvSpPr>
        <p:spPr/>
        <p:txBody>
          <a:bodyPr/>
          <a:lstStyle/>
          <a:p>
            <a:fld id="{6C16D705-C0C0-2245-8918-EBC3ED83AE9D}" type="datetimeFigureOut">
              <a:rPr lang="sv-SE" smtClean="0"/>
              <a:t>2026-10-21</a:t>
            </a:fld>
            <a:endParaRPr lang="sv-SE"/>
          </a:p>
        </p:txBody>
      </p:sp>
      <p:sp>
        <p:nvSpPr>
          <p:cNvPr id="5" name="Footer Placeholder 4">
            <a:extLst>
              <a:ext uri="{FF2B5EF4-FFF2-40B4-BE49-F238E27FC236}">
                <a16:creationId xmlns:a16="http://schemas.microsoft.com/office/drawing/2014/main" id="{68DA4B98-204A-CD0F-A83F-EE901C56BF41}"/>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FA5230D2-435B-8689-90C3-7BCC64C4AA56}"/>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34976456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B66A9-3A3E-081F-822E-9CA65CA1A5AC}"/>
              </a:ext>
            </a:extLst>
          </p:cNvPr>
          <p:cNvSpPr>
            <a:spLocks noGrp="1"/>
          </p:cNvSpPr>
          <p:nvPr>
            <p:ph type="title"/>
          </p:nvPr>
        </p:nvSpPr>
        <p:spPr/>
        <p:txBody>
          <a:bodyPr/>
          <a:lstStyle/>
          <a:p>
            <a:r>
              <a:rPr lang="en-GB"/>
              <a:t>Click to edit Master title style</a:t>
            </a:r>
            <a:endParaRPr lang="sv-SE"/>
          </a:p>
        </p:txBody>
      </p:sp>
      <p:sp>
        <p:nvSpPr>
          <p:cNvPr id="3" name="Content Placeholder 2">
            <a:extLst>
              <a:ext uri="{FF2B5EF4-FFF2-40B4-BE49-F238E27FC236}">
                <a16:creationId xmlns:a16="http://schemas.microsoft.com/office/drawing/2014/main" id="{361AD2CD-0BA7-EFC3-F237-06243FBC91A0}"/>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Content Placeholder 3">
            <a:extLst>
              <a:ext uri="{FF2B5EF4-FFF2-40B4-BE49-F238E27FC236}">
                <a16:creationId xmlns:a16="http://schemas.microsoft.com/office/drawing/2014/main" id="{C3FDCC55-7106-4D88-E6A2-1BCC2170BFA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5" name="Date Placeholder 4">
            <a:extLst>
              <a:ext uri="{FF2B5EF4-FFF2-40B4-BE49-F238E27FC236}">
                <a16:creationId xmlns:a16="http://schemas.microsoft.com/office/drawing/2014/main" id="{B278F9B3-11CC-5815-86D9-F8047A086C39}"/>
              </a:ext>
            </a:extLst>
          </p:cNvPr>
          <p:cNvSpPr>
            <a:spLocks noGrp="1"/>
          </p:cNvSpPr>
          <p:nvPr>
            <p:ph type="dt" sz="half" idx="10"/>
          </p:nvPr>
        </p:nvSpPr>
        <p:spPr/>
        <p:txBody>
          <a:bodyPr/>
          <a:lstStyle/>
          <a:p>
            <a:fld id="{6C16D705-C0C0-2245-8918-EBC3ED83AE9D}" type="datetimeFigureOut">
              <a:rPr lang="sv-SE" smtClean="0"/>
              <a:t>2026-10-21</a:t>
            </a:fld>
            <a:endParaRPr lang="sv-SE"/>
          </a:p>
        </p:txBody>
      </p:sp>
      <p:sp>
        <p:nvSpPr>
          <p:cNvPr id="6" name="Footer Placeholder 5">
            <a:extLst>
              <a:ext uri="{FF2B5EF4-FFF2-40B4-BE49-F238E27FC236}">
                <a16:creationId xmlns:a16="http://schemas.microsoft.com/office/drawing/2014/main" id="{479712DD-6E9C-5B33-A48E-7302060B5E88}"/>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A82624D8-6B78-59A2-EF3F-AFAE5552ADD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19945542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C61979-647C-A367-827A-9B7D1C2F9F4E}"/>
              </a:ext>
            </a:extLst>
          </p:cNvPr>
          <p:cNvSpPr>
            <a:spLocks noGrp="1"/>
          </p:cNvSpPr>
          <p:nvPr>
            <p:ph type="title"/>
          </p:nvPr>
        </p:nvSpPr>
        <p:spPr>
          <a:xfrm>
            <a:off x="839788" y="365125"/>
            <a:ext cx="10515600" cy="1325563"/>
          </a:xfrm>
        </p:spPr>
        <p:txBody>
          <a:bodyPr/>
          <a:lstStyle/>
          <a:p>
            <a:r>
              <a:rPr lang="en-GB"/>
              <a:t>Click to edit Master title style</a:t>
            </a:r>
            <a:endParaRPr lang="sv-SE"/>
          </a:p>
        </p:txBody>
      </p:sp>
      <p:sp>
        <p:nvSpPr>
          <p:cNvPr id="3" name="Text Placeholder 2">
            <a:extLst>
              <a:ext uri="{FF2B5EF4-FFF2-40B4-BE49-F238E27FC236}">
                <a16:creationId xmlns:a16="http://schemas.microsoft.com/office/drawing/2014/main" id="{87BE1AE7-BDB0-EF3C-A5DE-81E773301D3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C6306028-258F-40FC-A883-BD57F21D04EE}"/>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5" name="Text Placeholder 4">
            <a:extLst>
              <a:ext uri="{FF2B5EF4-FFF2-40B4-BE49-F238E27FC236}">
                <a16:creationId xmlns:a16="http://schemas.microsoft.com/office/drawing/2014/main" id="{9F22F79D-951F-C3C8-AEB7-880A2F55426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09A07888-2C15-105F-C1C7-8EEA98EAA781}"/>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7" name="Date Placeholder 6">
            <a:extLst>
              <a:ext uri="{FF2B5EF4-FFF2-40B4-BE49-F238E27FC236}">
                <a16:creationId xmlns:a16="http://schemas.microsoft.com/office/drawing/2014/main" id="{FF119C60-90D6-C277-C96D-F2FC2ADCACF0}"/>
              </a:ext>
            </a:extLst>
          </p:cNvPr>
          <p:cNvSpPr>
            <a:spLocks noGrp="1"/>
          </p:cNvSpPr>
          <p:nvPr>
            <p:ph type="dt" sz="half" idx="10"/>
          </p:nvPr>
        </p:nvSpPr>
        <p:spPr/>
        <p:txBody>
          <a:bodyPr/>
          <a:lstStyle/>
          <a:p>
            <a:fld id="{6C16D705-C0C0-2245-8918-EBC3ED83AE9D}" type="datetimeFigureOut">
              <a:rPr lang="sv-SE" smtClean="0"/>
              <a:t>2026-10-21</a:t>
            </a:fld>
            <a:endParaRPr lang="sv-SE"/>
          </a:p>
        </p:txBody>
      </p:sp>
      <p:sp>
        <p:nvSpPr>
          <p:cNvPr id="8" name="Footer Placeholder 7">
            <a:extLst>
              <a:ext uri="{FF2B5EF4-FFF2-40B4-BE49-F238E27FC236}">
                <a16:creationId xmlns:a16="http://schemas.microsoft.com/office/drawing/2014/main" id="{E1642565-2743-34AA-CB75-27F76B861401}"/>
              </a:ext>
            </a:extLst>
          </p:cNvPr>
          <p:cNvSpPr>
            <a:spLocks noGrp="1"/>
          </p:cNvSpPr>
          <p:nvPr>
            <p:ph type="ftr" sz="quarter" idx="11"/>
          </p:nvPr>
        </p:nvSpPr>
        <p:spPr/>
        <p:txBody>
          <a:bodyPr/>
          <a:lstStyle/>
          <a:p>
            <a:endParaRPr lang="sv-SE"/>
          </a:p>
        </p:txBody>
      </p:sp>
      <p:sp>
        <p:nvSpPr>
          <p:cNvPr id="9" name="Slide Number Placeholder 8">
            <a:extLst>
              <a:ext uri="{FF2B5EF4-FFF2-40B4-BE49-F238E27FC236}">
                <a16:creationId xmlns:a16="http://schemas.microsoft.com/office/drawing/2014/main" id="{400B839B-C5C2-81D2-A039-8687BB40B436}"/>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7333701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03D8A-F167-F737-4B5F-9664767FF266}"/>
              </a:ext>
            </a:extLst>
          </p:cNvPr>
          <p:cNvSpPr>
            <a:spLocks noGrp="1"/>
          </p:cNvSpPr>
          <p:nvPr>
            <p:ph type="title"/>
          </p:nvPr>
        </p:nvSpPr>
        <p:spPr/>
        <p:txBody>
          <a:bodyPr/>
          <a:lstStyle/>
          <a:p>
            <a:r>
              <a:rPr lang="en-GB"/>
              <a:t>Click to edit Master title style</a:t>
            </a:r>
            <a:endParaRPr lang="sv-SE"/>
          </a:p>
        </p:txBody>
      </p:sp>
      <p:sp>
        <p:nvSpPr>
          <p:cNvPr id="3" name="Date Placeholder 2">
            <a:extLst>
              <a:ext uri="{FF2B5EF4-FFF2-40B4-BE49-F238E27FC236}">
                <a16:creationId xmlns:a16="http://schemas.microsoft.com/office/drawing/2014/main" id="{F64C3AF5-A573-1CB7-FA5E-1EFB086C008F}"/>
              </a:ext>
            </a:extLst>
          </p:cNvPr>
          <p:cNvSpPr>
            <a:spLocks noGrp="1"/>
          </p:cNvSpPr>
          <p:nvPr>
            <p:ph type="dt" sz="half" idx="10"/>
          </p:nvPr>
        </p:nvSpPr>
        <p:spPr/>
        <p:txBody>
          <a:bodyPr/>
          <a:lstStyle/>
          <a:p>
            <a:fld id="{6C16D705-C0C0-2245-8918-EBC3ED83AE9D}" type="datetimeFigureOut">
              <a:rPr lang="sv-SE" smtClean="0"/>
              <a:t>2026-10-21</a:t>
            </a:fld>
            <a:endParaRPr lang="sv-SE"/>
          </a:p>
        </p:txBody>
      </p:sp>
      <p:sp>
        <p:nvSpPr>
          <p:cNvPr id="4" name="Footer Placeholder 3">
            <a:extLst>
              <a:ext uri="{FF2B5EF4-FFF2-40B4-BE49-F238E27FC236}">
                <a16:creationId xmlns:a16="http://schemas.microsoft.com/office/drawing/2014/main" id="{50199372-1FFA-53AF-7F3B-A0E8B69B74BA}"/>
              </a:ext>
            </a:extLst>
          </p:cNvPr>
          <p:cNvSpPr>
            <a:spLocks noGrp="1"/>
          </p:cNvSpPr>
          <p:nvPr>
            <p:ph type="ftr" sz="quarter" idx="11"/>
          </p:nvPr>
        </p:nvSpPr>
        <p:spPr/>
        <p:txBody>
          <a:bodyPr/>
          <a:lstStyle/>
          <a:p>
            <a:endParaRPr lang="sv-SE"/>
          </a:p>
        </p:txBody>
      </p:sp>
      <p:sp>
        <p:nvSpPr>
          <p:cNvPr id="5" name="Slide Number Placeholder 4">
            <a:extLst>
              <a:ext uri="{FF2B5EF4-FFF2-40B4-BE49-F238E27FC236}">
                <a16:creationId xmlns:a16="http://schemas.microsoft.com/office/drawing/2014/main" id="{C96FA504-A464-DFBA-544A-4680A5BAF164}"/>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15855572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283532A-AA9A-8E5A-D5D8-7A2B89026B47}"/>
              </a:ext>
            </a:extLst>
          </p:cNvPr>
          <p:cNvSpPr>
            <a:spLocks noGrp="1"/>
          </p:cNvSpPr>
          <p:nvPr>
            <p:ph type="dt" sz="half" idx="10"/>
          </p:nvPr>
        </p:nvSpPr>
        <p:spPr/>
        <p:txBody>
          <a:bodyPr/>
          <a:lstStyle/>
          <a:p>
            <a:fld id="{6C16D705-C0C0-2245-8918-EBC3ED83AE9D}" type="datetimeFigureOut">
              <a:rPr lang="sv-SE" smtClean="0"/>
              <a:t>2026-10-21</a:t>
            </a:fld>
            <a:endParaRPr lang="sv-SE"/>
          </a:p>
        </p:txBody>
      </p:sp>
      <p:sp>
        <p:nvSpPr>
          <p:cNvPr id="3" name="Footer Placeholder 2">
            <a:extLst>
              <a:ext uri="{FF2B5EF4-FFF2-40B4-BE49-F238E27FC236}">
                <a16:creationId xmlns:a16="http://schemas.microsoft.com/office/drawing/2014/main" id="{53CC9E77-FE38-E778-80BD-6F0FFFB210DC}"/>
              </a:ext>
            </a:extLst>
          </p:cNvPr>
          <p:cNvSpPr>
            <a:spLocks noGrp="1"/>
          </p:cNvSpPr>
          <p:nvPr>
            <p:ph type="ftr" sz="quarter" idx="11"/>
          </p:nvPr>
        </p:nvSpPr>
        <p:spPr/>
        <p:txBody>
          <a:bodyPr/>
          <a:lstStyle/>
          <a:p>
            <a:endParaRPr lang="sv-SE"/>
          </a:p>
        </p:txBody>
      </p:sp>
      <p:sp>
        <p:nvSpPr>
          <p:cNvPr id="4" name="Slide Number Placeholder 3">
            <a:extLst>
              <a:ext uri="{FF2B5EF4-FFF2-40B4-BE49-F238E27FC236}">
                <a16:creationId xmlns:a16="http://schemas.microsoft.com/office/drawing/2014/main" id="{C66B2826-6704-FDE1-2488-EB5A7867E9A8}"/>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8878989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F2EE6-5683-4700-D0C3-DA34151FDE37}"/>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sv-SE"/>
          </a:p>
        </p:txBody>
      </p:sp>
      <p:sp>
        <p:nvSpPr>
          <p:cNvPr id="3" name="Content Placeholder 2">
            <a:extLst>
              <a:ext uri="{FF2B5EF4-FFF2-40B4-BE49-F238E27FC236}">
                <a16:creationId xmlns:a16="http://schemas.microsoft.com/office/drawing/2014/main" id="{3D69F4D1-A1DE-6CCF-8CF3-BA1809C7D63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Text Placeholder 3">
            <a:extLst>
              <a:ext uri="{FF2B5EF4-FFF2-40B4-BE49-F238E27FC236}">
                <a16:creationId xmlns:a16="http://schemas.microsoft.com/office/drawing/2014/main" id="{F3B4F5A9-A48B-E99C-EBDF-5132AA5294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30931F9-FCEE-D643-24FB-95B72D04A6AD}"/>
              </a:ext>
            </a:extLst>
          </p:cNvPr>
          <p:cNvSpPr>
            <a:spLocks noGrp="1"/>
          </p:cNvSpPr>
          <p:nvPr>
            <p:ph type="dt" sz="half" idx="10"/>
          </p:nvPr>
        </p:nvSpPr>
        <p:spPr/>
        <p:txBody>
          <a:bodyPr/>
          <a:lstStyle/>
          <a:p>
            <a:fld id="{6C16D705-C0C0-2245-8918-EBC3ED83AE9D}" type="datetimeFigureOut">
              <a:rPr lang="sv-SE" smtClean="0"/>
              <a:t>2026-10-21</a:t>
            </a:fld>
            <a:endParaRPr lang="sv-SE"/>
          </a:p>
        </p:txBody>
      </p:sp>
      <p:sp>
        <p:nvSpPr>
          <p:cNvPr id="6" name="Footer Placeholder 5">
            <a:extLst>
              <a:ext uri="{FF2B5EF4-FFF2-40B4-BE49-F238E27FC236}">
                <a16:creationId xmlns:a16="http://schemas.microsoft.com/office/drawing/2014/main" id="{7FAB59A5-8CBD-1B6B-C1F1-D6A9251DF1FA}"/>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35802E0A-A627-D54F-8BC6-6A5A81A7CCD5}"/>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9973169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F48EEC-0251-F60D-EF53-C841754729DD}"/>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sv-SE"/>
          </a:p>
        </p:txBody>
      </p:sp>
      <p:sp>
        <p:nvSpPr>
          <p:cNvPr id="3" name="Picture Placeholder 2">
            <a:extLst>
              <a:ext uri="{FF2B5EF4-FFF2-40B4-BE49-F238E27FC236}">
                <a16:creationId xmlns:a16="http://schemas.microsoft.com/office/drawing/2014/main" id="{1420BF07-EBA0-1625-CDF7-67BF5CFD3EE7}"/>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sv-SE"/>
          </a:p>
        </p:txBody>
      </p:sp>
      <p:sp>
        <p:nvSpPr>
          <p:cNvPr id="4" name="Text Placeholder 3">
            <a:extLst>
              <a:ext uri="{FF2B5EF4-FFF2-40B4-BE49-F238E27FC236}">
                <a16:creationId xmlns:a16="http://schemas.microsoft.com/office/drawing/2014/main" id="{4C632E95-0ED4-CA98-212B-9455264487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8D49166-D148-0FBC-897D-BCDEE8676C3E}"/>
              </a:ext>
            </a:extLst>
          </p:cNvPr>
          <p:cNvSpPr>
            <a:spLocks noGrp="1"/>
          </p:cNvSpPr>
          <p:nvPr>
            <p:ph type="dt" sz="half" idx="10"/>
          </p:nvPr>
        </p:nvSpPr>
        <p:spPr/>
        <p:txBody>
          <a:bodyPr/>
          <a:lstStyle/>
          <a:p>
            <a:fld id="{6C16D705-C0C0-2245-8918-EBC3ED83AE9D}" type="datetimeFigureOut">
              <a:rPr lang="sv-SE" smtClean="0"/>
              <a:t>2026-10-21</a:t>
            </a:fld>
            <a:endParaRPr lang="sv-SE"/>
          </a:p>
        </p:txBody>
      </p:sp>
      <p:sp>
        <p:nvSpPr>
          <p:cNvPr id="6" name="Footer Placeholder 5">
            <a:extLst>
              <a:ext uri="{FF2B5EF4-FFF2-40B4-BE49-F238E27FC236}">
                <a16:creationId xmlns:a16="http://schemas.microsoft.com/office/drawing/2014/main" id="{B262F951-71B8-3212-03A0-2559A47B9DDB}"/>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B242061A-47EF-E2B7-1E26-3634DB7FA0B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8986680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8A3CC2-AD2C-978D-86AF-963B17C3DF74}"/>
              </a:ext>
            </a:extLst>
          </p:cNvPr>
          <p:cNvSpPr>
            <a:spLocks noGrp="1"/>
          </p:cNvSpPr>
          <p:nvPr>
            <p:ph type="title"/>
          </p:nvPr>
        </p:nvSpPr>
        <p:spPr/>
        <p:txBody>
          <a:bodyPr/>
          <a:lstStyle/>
          <a:p>
            <a:r>
              <a:rPr lang="en-GB"/>
              <a:t>Click to edit Master title style</a:t>
            </a:r>
            <a:endParaRPr lang="sv-SE"/>
          </a:p>
        </p:txBody>
      </p:sp>
      <p:sp>
        <p:nvSpPr>
          <p:cNvPr id="3" name="Vertical Text Placeholder 2">
            <a:extLst>
              <a:ext uri="{FF2B5EF4-FFF2-40B4-BE49-F238E27FC236}">
                <a16:creationId xmlns:a16="http://schemas.microsoft.com/office/drawing/2014/main" id="{A2D90E29-5151-FACB-1CF6-BE5D9663B3EC}"/>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B622A40A-FA9D-BC86-80FD-25416BAE8CFD}"/>
              </a:ext>
            </a:extLst>
          </p:cNvPr>
          <p:cNvSpPr>
            <a:spLocks noGrp="1"/>
          </p:cNvSpPr>
          <p:nvPr>
            <p:ph type="dt" sz="half" idx="10"/>
          </p:nvPr>
        </p:nvSpPr>
        <p:spPr/>
        <p:txBody>
          <a:bodyPr/>
          <a:lstStyle/>
          <a:p>
            <a:fld id="{6C16D705-C0C0-2245-8918-EBC3ED83AE9D}" type="datetimeFigureOut">
              <a:rPr lang="sv-SE" smtClean="0"/>
              <a:t>2026-10-21</a:t>
            </a:fld>
            <a:endParaRPr lang="sv-SE"/>
          </a:p>
        </p:txBody>
      </p:sp>
      <p:sp>
        <p:nvSpPr>
          <p:cNvPr id="5" name="Footer Placeholder 4">
            <a:extLst>
              <a:ext uri="{FF2B5EF4-FFF2-40B4-BE49-F238E27FC236}">
                <a16:creationId xmlns:a16="http://schemas.microsoft.com/office/drawing/2014/main" id="{99E34179-29A9-80B9-4667-970F85FA49E0}"/>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3EFD9AFE-EFE8-EB00-C5FE-79D0A346EE40}"/>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1559101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4B59448-6140-68D1-180D-6A98739917AA}"/>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sv-SE"/>
          </a:p>
        </p:txBody>
      </p:sp>
      <p:sp>
        <p:nvSpPr>
          <p:cNvPr id="3" name="Vertical Text Placeholder 2">
            <a:extLst>
              <a:ext uri="{FF2B5EF4-FFF2-40B4-BE49-F238E27FC236}">
                <a16:creationId xmlns:a16="http://schemas.microsoft.com/office/drawing/2014/main" id="{CF580AC4-4A67-8E3A-7DE1-262D1F6F3FF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9C8EE54B-06BE-9DFA-7BB4-ADEA549536CD}"/>
              </a:ext>
            </a:extLst>
          </p:cNvPr>
          <p:cNvSpPr>
            <a:spLocks noGrp="1"/>
          </p:cNvSpPr>
          <p:nvPr>
            <p:ph type="dt" sz="half" idx="10"/>
          </p:nvPr>
        </p:nvSpPr>
        <p:spPr/>
        <p:txBody>
          <a:bodyPr/>
          <a:lstStyle/>
          <a:p>
            <a:fld id="{6C16D705-C0C0-2245-8918-EBC3ED83AE9D}" type="datetimeFigureOut">
              <a:rPr lang="sv-SE" smtClean="0"/>
              <a:t>2026-10-21</a:t>
            </a:fld>
            <a:endParaRPr lang="sv-SE"/>
          </a:p>
        </p:txBody>
      </p:sp>
      <p:sp>
        <p:nvSpPr>
          <p:cNvPr id="5" name="Footer Placeholder 4">
            <a:extLst>
              <a:ext uri="{FF2B5EF4-FFF2-40B4-BE49-F238E27FC236}">
                <a16:creationId xmlns:a16="http://schemas.microsoft.com/office/drawing/2014/main" id="{11D9FBAD-33A7-3CC1-DF5A-C7736CBDB5A9}"/>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A898C652-2324-FF9E-4C61-4B57F1E68117}"/>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41359927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B8459DB-DD70-413F-A495-D305162B3A0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sv-SE"/>
          </a:p>
        </p:txBody>
      </p:sp>
      <p:sp>
        <p:nvSpPr>
          <p:cNvPr id="3" name="Text Placeholder 2">
            <a:extLst>
              <a:ext uri="{FF2B5EF4-FFF2-40B4-BE49-F238E27FC236}">
                <a16:creationId xmlns:a16="http://schemas.microsoft.com/office/drawing/2014/main" id="{D41F297E-8245-1517-9E30-E91C388D7F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60DC2CCC-007E-2FBA-B5F3-99BF457148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C16D705-C0C0-2245-8918-EBC3ED83AE9D}" type="datetimeFigureOut">
              <a:rPr lang="sv-SE" smtClean="0"/>
              <a:t>2026-10-21</a:t>
            </a:fld>
            <a:endParaRPr lang="sv-SE"/>
          </a:p>
        </p:txBody>
      </p:sp>
      <p:sp>
        <p:nvSpPr>
          <p:cNvPr id="5" name="Footer Placeholder 4">
            <a:extLst>
              <a:ext uri="{FF2B5EF4-FFF2-40B4-BE49-F238E27FC236}">
                <a16:creationId xmlns:a16="http://schemas.microsoft.com/office/drawing/2014/main" id="{39551510-5640-49F6-A4EF-DC19565EC5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sv-SE"/>
          </a:p>
        </p:txBody>
      </p:sp>
      <p:sp>
        <p:nvSpPr>
          <p:cNvPr id="6" name="Slide Number Placeholder 5">
            <a:extLst>
              <a:ext uri="{FF2B5EF4-FFF2-40B4-BE49-F238E27FC236}">
                <a16:creationId xmlns:a16="http://schemas.microsoft.com/office/drawing/2014/main" id="{DAA945A5-B5D3-88CE-082E-B92722FE40A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6B4785A-5206-5C4A-B0FA-198E3231A515}" type="slidenum">
              <a:rPr lang="sv-SE" smtClean="0"/>
              <a:t>‹#›</a:t>
            </a:fld>
            <a:endParaRPr lang="sv-SE"/>
          </a:p>
        </p:txBody>
      </p:sp>
    </p:spTree>
    <p:extLst>
      <p:ext uri="{BB962C8B-B14F-4D97-AF65-F5344CB8AC3E}">
        <p14:creationId xmlns:p14="http://schemas.microsoft.com/office/powerpoint/2010/main" val="95714627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mailto:git@github.com:dosselicious/the_skool_jens_dossel.git"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B4DBD8-733C-FBB4-C7C4-A25FFB06636E}"/>
              </a:ext>
            </a:extLst>
          </p:cNvPr>
          <p:cNvSpPr>
            <a:spLocks noGrp="1"/>
          </p:cNvSpPr>
          <p:nvPr>
            <p:ph type="ctrTitle"/>
          </p:nvPr>
        </p:nvSpPr>
        <p:spPr/>
        <p:txBody>
          <a:bodyPr/>
          <a:lstStyle/>
          <a:p>
            <a:r>
              <a:rPr lang="sv-SE" dirty="0"/>
              <a:t>The </a:t>
            </a:r>
            <a:r>
              <a:rPr lang="sv-SE" dirty="0" err="1"/>
              <a:t>Skool</a:t>
            </a:r>
            <a:r>
              <a:rPr lang="sv-SE" dirty="0"/>
              <a:t> – Jens Dossel</a:t>
            </a:r>
          </a:p>
        </p:txBody>
      </p:sp>
      <p:sp>
        <p:nvSpPr>
          <p:cNvPr id="3" name="Subtitle 2">
            <a:extLst>
              <a:ext uri="{FF2B5EF4-FFF2-40B4-BE49-F238E27FC236}">
                <a16:creationId xmlns:a16="http://schemas.microsoft.com/office/drawing/2014/main" id="{82F11707-E037-C1E0-09C9-D4A77413A3CD}"/>
              </a:ext>
            </a:extLst>
          </p:cNvPr>
          <p:cNvSpPr>
            <a:spLocks noGrp="1"/>
          </p:cNvSpPr>
          <p:nvPr>
            <p:ph type="subTitle" idx="1"/>
          </p:nvPr>
        </p:nvSpPr>
        <p:spPr/>
        <p:txBody>
          <a:bodyPr/>
          <a:lstStyle/>
          <a:p>
            <a:r>
              <a:rPr lang="sv-SE" dirty="0"/>
              <a:t>Lab i SQL1</a:t>
            </a:r>
          </a:p>
        </p:txBody>
      </p:sp>
    </p:spTree>
    <p:extLst>
      <p:ext uri="{BB962C8B-B14F-4D97-AF65-F5344CB8AC3E}">
        <p14:creationId xmlns:p14="http://schemas.microsoft.com/office/powerpoint/2010/main" val="34022905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E881FE-13F5-0AE7-1E7C-6E31E348E70B}"/>
              </a:ext>
            </a:extLst>
          </p:cNvPr>
          <p:cNvSpPr>
            <a:spLocks noGrp="1"/>
          </p:cNvSpPr>
          <p:nvPr>
            <p:ph type="title"/>
          </p:nvPr>
        </p:nvSpPr>
        <p:spPr/>
        <p:txBody>
          <a:bodyPr/>
          <a:lstStyle/>
          <a:p>
            <a:r>
              <a:rPr lang="en-SE" b="1" dirty="0"/>
              <a:t>Uppgift 0 - uppvärmning</a:t>
            </a:r>
            <a:br>
              <a:rPr lang="en-SE" dirty="0"/>
            </a:br>
            <a:endParaRPr lang="sv-SE" dirty="0"/>
          </a:p>
        </p:txBody>
      </p:sp>
      <p:sp>
        <p:nvSpPr>
          <p:cNvPr id="3" name="Content Placeholder 2">
            <a:extLst>
              <a:ext uri="{FF2B5EF4-FFF2-40B4-BE49-F238E27FC236}">
                <a16:creationId xmlns:a16="http://schemas.microsoft.com/office/drawing/2014/main" id="{093E67A4-1A28-0B0C-5412-37E2AB7DE822}"/>
              </a:ext>
            </a:extLst>
          </p:cNvPr>
          <p:cNvSpPr>
            <a:spLocks noGrp="1"/>
          </p:cNvSpPr>
          <p:nvPr>
            <p:ph idx="1"/>
          </p:nvPr>
        </p:nvSpPr>
        <p:spPr/>
        <p:txBody>
          <a:bodyPr>
            <a:normAutofit fontScale="70000" lnSpcReduction="20000"/>
          </a:bodyPr>
          <a:lstStyle/>
          <a:p>
            <a:r>
              <a:rPr lang="sv-SE" dirty="0"/>
              <a:t>Skapade </a:t>
            </a:r>
            <a:r>
              <a:rPr lang="sv-SE" dirty="0" err="1"/>
              <a:t>repot</a:t>
            </a:r>
            <a:r>
              <a:rPr lang="sv-SE" dirty="0"/>
              <a:t> i </a:t>
            </a:r>
            <a:r>
              <a:rPr lang="sv-SE" dirty="0" err="1"/>
              <a:t>Github</a:t>
            </a:r>
            <a:endParaRPr lang="sv-SE" dirty="0"/>
          </a:p>
          <a:p>
            <a:r>
              <a:rPr lang="sv-SE" dirty="0"/>
              <a:t>Klonade det tomma </a:t>
            </a:r>
            <a:r>
              <a:rPr lang="sv-SE" dirty="0" err="1"/>
              <a:t>repot</a:t>
            </a:r>
            <a:r>
              <a:rPr lang="sv-SE" dirty="0"/>
              <a:t> till </a:t>
            </a:r>
            <a:r>
              <a:rPr lang="sv-SE" dirty="0" err="1"/>
              <a:t>vm:</a:t>
            </a:r>
            <a:r>
              <a:rPr lang="sv-SE" dirty="0"/>
              <a:t> </a:t>
            </a:r>
            <a:r>
              <a:rPr lang="en-SE" dirty="0">
                <a:solidFill>
                  <a:schemeClr val="accent6"/>
                </a:solidFill>
              </a:rPr>
              <a:t>git clone </a:t>
            </a:r>
            <a:r>
              <a:rPr lang="en-SE" dirty="0">
                <a:solidFill>
                  <a:srgbClr val="467886"/>
                </a:solidFill>
                <a:hlinkClick r:id="rId2">
                  <a:extLst>
                    <a:ext uri="{A12FA001-AC4F-418D-AE19-62706E023703}">
                      <ahyp:hlinkClr xmlns:ahyp="http://schemas.microsoft.com/office/drawing/2018/hyperlinkcolor" val="tx"/>
                    </a:ext>
                  </a:extLst>
                </a:hlinkClick>
              </a:rPr>
              <a:t>git@github.com:dosselicious/the_skool_jens_dossel.</a:t>
            </a:r>
            <a:r>
              <a:rPr lang="en-SE" dirty="0">
                <a:solidFill>
                  <a:schemeClr val="accent6"/>
                </a:solidFill>
                <a:hlinkClick r:id="rId2">
                  <a:extLst>
                    <a:ext uri="{A12FA001-AC4F-418D-AE19-62706E023703}">
                      <ahyp:hlinkClr xmlns:ahyp="http://schemas.microsoft.com/office/drawing/2018/hyperlinkcolor" val="tx"/>
                    </a:ext>
                  </a:extLst>
                </a:hlinkClick>
              </a:rPr>
              <a:t>git</a:t>
            </a:r>
            <a:br>
              <a:rPr lang="en-SE" dirty="0">
                <a:solidFill>
                  <a:schemeClr val="accent6"/>
                </a:solidFill>
              </a:rPr>
            </a:br>
            <a:r>
              <a:rPr lang="en-SE" dirty="0">
                <a:solidFill>
                  <a:schemeClr val="accent6"/>
                </a:solidFill>
              </a:rPr>
              <a:t>cd the_skool_jens_dossel</a:t>
            </a:r>
          </a:p>
          <a:p>
            <a:r>
              <a:rPr lang="en-GB" dirty="0"/>
              <a:t>S</a:t>
            </a:r>
            <a:r>
              <a:rPr lang="en-SE" dirty="0"/>
              <a:t>kapade .gitignore för att slippa swap-filer och macos metadata.</a:t>
            </a:r>
          </a:p>
          <a:p>
            <a:r>
              <a:rPr lang="sv-SE" dirty="0"/>
              <a:t>Gjorde första </a:t>
            </a:r>
            <a:r>
              <a:rPr lang="sv-SE" dirty="0" err="1"/>
              <a:t>commit</a:t>
            </a:r>
            <a:r>
              <a:rPr lang="sv-SE" dirty="0"/>
              <a:t>.</a:t>
            </a:r>
          </a:p>
          <a:p>
            <a:r>
              <a:rPr lang="sv-SE" dirty="0"/>
              <a:t>Laddade ner och rensade data-filen i </a:t>
            </a:r>
            <a:r>
              <a:rPr lang="sv-SE" dirty="0" err="1"/>
              <a:t>excel</a:t>
            </a:r>
            <a:r>
              <a:rPr lang="sv-SE" dirty="0"/>
              <a:t>, och skickade den sedan till </a:t>
            </a:r>
            <a:r>
              <a:rPr lang="sv-SE" dirty="0" err="1"/>
              <a:t>repot</a:t>
            </a:r>
            <a:r>
              <a:rPr lang="sv-SE" dirty="0"/>
              <a:t>: </a:t>
            </a:r>
            <a:r>
              <a:rPr lang="sv-SE" dirty="0" err="1">
                <a:solidFill>
                  <a:schemeClr val="accent6"/>
                </a:solidFill>
              </a:rPr>
              <a:t>scp</a:t>
            </a:r>
            <a:r>
              <a:rPr lang="sv-SE" dirty="0">
                <a:solidFill>
                  <a:schemeClr val="accent6"/>
                </a:solidFill>
              </a:rPr>
              <a:t> ~/</a:t>
            </a:r>
            <a:r>
              <a:rPr lang="sv-SE" dirty="0" err="1">
                <a:solidFill>
                  <a:schemeClr val="accent6"/>
                </a:solidFill>
              </a:rPr>
              <a:t>Downloads</a:t>
            </a:r>
            <a:r>
              <a:rPr lang="sv-SE" dirty="0">
                <a:solidFill>
                  <a:schemeClr val="accent6"/>
                </a:solidFill>
              </a:rPr>
              <a:t>/</a:t>
            </a:r>
            <a:r>
              <a:rPr lang="sv-SE" dirty="0" err="1">
                <a:solidFill>
                  <a:schemeClr val="accent6"/>
                </a:solidFill>
              </a:rPr>
              <a:t>data_lab.xlsx</a:t>
            </a:r>
            <a:r>
              <a:rPr lang="sv-SE" dirty="0">
                <a:solidFill>
                  <a:schemeClr val="accent6"/>
                </a:solidFill>
              </a:rPr>
              <a:t> </a:t>
            </a:r>
            <a:r>
              <a:rPr lang="sv-SE" dirty="0" err="1">
                <a:solidFill>
                  <a:schemeClr val="accent6"/>
                </a:solidFill>
              </a:rPr>
              <a:t>oracle</a:t>
            </a:r>
            <a:r>
              <a:rPr lang="sv-SE" dirty="0">
                <a:solidFill>
                  <a:schemeClr val="accent6"/>
                </a:solidFill>
              </a:rPr>
              <a:t>:/</a:t>
            </a:r>
            <a:r>
              <a:rPr lang="sv-SE" dirty="0" err="1">
                <a:solidFill>
                  <a:schemeClr val="accent6"/>
                </a:solidFill>
              </a:rPr>
              <a:t>home</a:t>
            </a:r>
            <a:r>
              <a:rPr lang="sv-SE" dirty="0">
                <a:solidFill>
                  <a:schemeClr val="accent6"/>
                </a:solidFill>
              </a:rPr>
              <a:t>/</a:t>
            </a:r>
            <a:r>
              <a:rPr lang="sv-SE" dirty="0" err="1">
                <a:solidFill>
                  <a:schemeClr val="accent6"/>
                </a:solidFill>
              </a:rPr>
              <a:t>jdossel</a:t>
            </a:r>
            <a:r>
              <a:rPr lang="sv-SE" dirty="0">
                <a:solidFill>
                  <a:schemeClr val="accent6"/>
                </a:solidFill>
              </a:rPr>
              <a:t>/</a:t>
            </a:r>
            <a:r>
              <a:rPr lang="sv-SE" dirty="0" err="1">
                <a:solidFill>
                  <a:schemeClr val="accent6"/>
                </a:solidFill>
              </a:rPr>
              <a:t>the_skool_jens_dossel</a:t>
            </a:r>
            <a:r>
              <a:rPr lang="sv-SE" dirty="0">
                <a:solidFill>
                  <a:schemeClr val="accent6"/>
                </a:solidFill>
              </a:rPr>
              <a:t>/</a:t>
            </a:r>
          </a:p>
          <a:p>
            <a:r>
              <a:rPr lang="sv-SE" dirty="0"/>
              <a:t>Skapade databasen i </a:t>
            </a:r>
            <a:r>
              <a:rPr lang="sv-SE" dirty="0" err="1"/>
              <a:t>orac</a:t>
            </a:r>
            <a:r>
              <a:rPr lang="sv-SE" dirty="0"/>
              <a:t>: </a:t>
            </a:r>
            <a:br>
              <a:rPr lang="sv-SE" dirty="0"/>
            </a:br>
            <a:r>
              <a:rPr lang="en-SE" dirty="0">
                <a:solidFill>
                  <a:schemeClr val="accent6"/>
                </a:solidFill>
              </a:rPr>
              <a:t>SQL&gt; set loadformat xlsx</a:t>
            </a:r>
            <a:br>
              <a:rPr lang="en-SE" dirty="0">
                <a:solidFill>
                  <a:schemeClr val="accent6"/>
                </a:solidFill>
              </a:rPr>
            </a:br>
            <a:r>
              <a:rPr lang="en-SE" dirty="0">
                <a:solidFill>
                  <a:schemeClr val="accent6"/>
                </a:solidFill>
              </a:rPr>
              <a:t>SQL&gt; load table data_lab data_lab.xlsx new</a:t>
            </a:r>
          </a:p>
          <a:p>
            <a:r>
              <a:rPr lang="en-SE" dirty="0"/>
              <a:t>Kontrollerade datan:</a:t>
            </a:r>
            <a:br>
              <a:rPr lang="en-SE" dirty="0"/>
            </a:br>
            <a:r>
              <a:rPr lang="en-SE" dirty="0">
                <a:solidFill>
                  <a:schemeClr val="accent6"/>
                </a:solidFill>
              </a:rPr>
              <a:t>SQL&gt; desc data_lab</a:t>
            </a:r>
            <a:br>
              <a:rPr lang="en-SE" dirty="0">
                <a:solidFill>
                  <a:schemeClr val="accent6"/>
                </a:solidFill>
              </a:rPr>
            </a:br>
            <a:r>
              <a:rPr lang="en-SE" dirty="0">
                <a:solidFill>
                  <a:schemeClr val="accent6"/>
                </a:solidFill>
              </a:rPr>
              <a:t>select count(*) from data_lab;</a:t>
            </a:r>
            <a:br>
              <a:rPr lang="en-SE" dirty="0"/>
            </a:br>
            <a:r>
              <a:rPr lang="en-SE" dirty="0"/>
              <a:t>Jag fick med samtliga kolumner och 1184 rader.</a:t>
            </a:r>
          </a:p>
          <a:p>
            <a:endParaRPr lang="en-SE" dirty="0"/>
          </a:p>
          <a:p>
            <a:endParaRPr lang="en-SE" dirty="0"/>
          </a:p>
          <a:p>
            <a:endParaRPr lang="sv-SE" dirty="0"/>
          </a:p>
        </p:txBody>
      </p:sp>
    </p:spTree>
    <p:extLst>
      <p:ext uri="{BB962C8B-B14F-4D97-AF65-F5344CB8AC3E}">
        <p14:creationId xmlns:p14="http://schemas.microsoft.com/office/powerpoint/2010/main" val="26579781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D189C-ACC6-1EB8-4052-75DC26FAE24E}"/>
              </a:ext>
            </a:extLst>
          </p:cNvPr>
          <p:cNvSpPr>
            <a:spLocks noGrp="1"/>
          </p:cNvSpPr>
          <p:nvPr>
            <p:ph type="title"/>
          </p:nvPr>
        </p:nvSpPr>
        <p:spPr>
          <a:xfrm>
            <a:off x="838200" y="365125"/>
            <a:ext cx="10515600" cy="1920875"/>
          </a:xfrm>
        </p:spPr>
        <p:txBody>
          <a:bodyPr>
            <a:normAutofit/>
          </a:bodyPr>
          <a:lstStyle/>
          <a:p>
            <a:r>
              <a:rPr lang="sv-SE" dirty="0"/>
              <a:t>Uppgift 1 – grundläggande EDA</a:t>
            </a:r>
            <a:br>
              <a:rPr lang="sv-SE" dirty="0"/>
            </a:br>
            <a:r>
              <a:rPr lang="sv-SE" sz="3600" dirty="0"/>
              <a:t>a) </a:t>
            </a:r>
            <a:r>
              <a:rPr lang="en-SE" sz="3600" dirty="0"/>
              <a:t>Antal ansökningar per utbildningsområde, sorterat på flest ansökningar – uppgift_1</a:t>
            </a:r>
            <a:r>
              <a:rPr lang="en-SE" sz="3600"/>
              <a:t>/a_1.</a:t>
            </a:r>
            <a:r>
              <a:rPr lang="en-SE" sz="3600" dirty="0"/>
              <a:t>sql</a:t>
            </a:r>
            <a:endParaRPr lang="sv-SE" dirty="0"/>
          </a:p>
        </p:txBody>
      </p:sp>
      <p:sp>
        <p:nvSpPr>
          <p:cNvPr id="3" name="Content Placeholder 2">
            <a:extLst>
              <a:ext uri="{FF2B5EF4-FFF2-40B4-BE49-F238E27FC236}">
                <a16:creationId xmlns:a16="http://schemas.microsoft.com/office/drawing/2014/main" id="{2610E61C-3AD8-B1E3-C1D4-C08FF6060501}"/>
              </a:ext>
            </a:extLst>
          </p:cNvPr>
          <p:cNvSpPr>
            <a:spLocks noGrp="1"/>
          </p:cNvSpPr>
          <p:nvPr>
            <p:ph idx="1"/>
          </p:nvPr>
        </p:nvSpPr>
        <p:spPr>
          <a:xfrm>
            <a:off x="838200" y="2530549"/>
            <a:ext cx="6860059" cy="3646414"/>
          </a:xfrm>
        </p:spPr>
        <p:txBody>
          <a:bodyPr/>
          <a:lstStyle/>
          <a:p>
            <a:pPr marL="0" indent="0">
              <a:buNone/>
            </a:pPr>
            <a:r>
              <a:rPr lang="sv-SE" dirty="0"/>
              <a:t>Jag valde att se utbildningsområde och </a:t>
            </a:r>
            <a:r>
              <a:rPr lang="sv-SE" dirty="0" err="1"/>
              <a:t>count</a:t>
            </a:r>
            <a:r>
              <a:rPr lang="sv-SE" dirty="0"/>
              <a:t>(*) som antal från </a:t>
            </a:r>
            <a:r>
              <a:rPr lang="sv-SE" dirty="0" err="1"/>
              <a:t>data_lab</a:t>
            </a:r>
            <a:r>
              <a:rPr lang="sv-SE" dirty="0"/>
              <a:t>, och genom att gruppera på utbildningsområde får jag antal ansökningar, eller rader, per område. Sorterar på antal fallande. </a:t>
            </a:r>
            <a:br>
              <a:rPr lang="sv-SE" dirty="0"/>
            </a:br>
            <a:r>
              <a:rPr lang="sv-SE" dirty="0"/>
              <a:t>Scriptet avslutar </a:t>
            </a:r>
            <a:r>
              <a:rPr lang="sv-SE" dirty="0" err="1"/>
              <a:t>orac</a:t>
            </a:r>
            <a:r>
              <a:rPr lang="sv-SE" dirty="0"/>
              <a:t> med exit.</a:t>
            </a:r>
          </a:p>
        </p:txBody>
      </p:sp>
      <p:pic>
        <p:nvPicPr>
          <p:cNvPr id="6" name="Picture 5">
            <a:extLst>
              <a:ext uri="{FF2B5EF4-FFF2-40B4-BE49-F238E27FC236}">
                <a16:creationId xmlns:a16="http://schemas.microsoft.com/office/drawing/2014/main" id="{BB6105F8-0D7B-3FF7-C4B5-9C0460EA28F0}"/>
              </a:ext>
            </a:extLst>
          </p:cNvPr>
          <p:cNvPicPr>
            <a:picLocks noChangeAspect="1"/>
          </p:cNvPicPr>
          <p:nvPr/>
        </p:nvPicPr>
        <p:blipFill>
          <a:blip r:embed="rId2"/>
          <a:stretch>
            <a:fillRect/>
          </a:stretch>
        </p:blipFill>
        <p:spPr>
          <a:xfrm>
            <a:off x="7445459" y="1676517"/>
            <a:ext cx="4531766" cy="2618766"/>
          </a:xfrm>
          <a:prstGeom prst="rect">
            <a:avLst/>
          </a:prstGeom>
        </p:spPr>
      </p:pic>
      <p:pic>
        <p:nvPicPr>
          <p:cNvPr id="7" name="Picture 6">
            <a:extLst>
              <a:ext uri="{FF2B5EF4-FFF2-40B4-BE49-F238E27FC236}">
                <a16:creationId xmlns:a16="http://schemas.microsoft.com/office/drawing/2014/main" id="{DCA38C61-8E4C-2424-1392-28595A489D94}"/>
              </a:ext>
            </a:extLst>
          </p:cNvPr>
          <p:cNvPicPr>
            <a:picLocks noChangeAspect="1"/>
          </p:cNvPicPr>
          <p:nvPr/>
        </p:nvPicPr>
        <p:blipFill>
          <a:blip r:embed="rId3"/>
          <a:stretch>
            <a:fillRect/>
          </a:stretch>
        </p:blipFill>
        <p:spPr>
          <a:xfrm>
            <a:off x="7461422" y="3677364"/>
            <a:ext cx="4531766" cy="3353631"/>
          </a:xfrm>
          <a:prstGeom prst="rect">
            <a:avLst/>
          </a:prstGeom>
        </p:spPr>
      </p:pic>
    </p:spTree>
    <p:extLst>
      <p:ext uri="{BB962C8B-B14F-4D97-AF65-F5344CB8AC3E}">
        <p14:creationId xmlns:p14="http://schemas.microsoft.com/office/powerpoint/2010/main" val="18073345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ED477-5BCD-2DC5-4D7D-AAE0738AA9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CAFBE9-034D-4178-F643-FFA3490560DB}"/>
              </a:ext>
            </a:extLst>
          </p:cNvPr>
          <p:cNvSpPr>
            <a:spLocks noGrp="1"/>
          </p:cNvSpPr>
          <p:nvPr>
            <p:ph type="title"/>
          </p:nvPr>
        </p:nvSpPr>
        <p:spPr>
          <a:xfrm>
            <a:off x="838200" y="365125"/>
            <a:ext cx="10515600" cy="1920875"/>
          </a:xfrm>
        </p:spPr>
        <p:txBody>
          <a:bodyPr>
            <a:normAutofit/>
          </a:bodyPr>
          <a:lstStyle/>
          <a:p>
            <a:r>
              <a:rPr lang="sv-SE" dirty="0"/>
              <a:t>Uppgift 1 – grundläggande EDA</a:t>
            </a:r>
            <a:br>
              <a:rPr lang="sv-SE" dirty="0"/>
            </a:br>
            <a:r>
              <a:rPr lang="sv-SE" sz="3200" dirty="0"/>
              <a:t>b) </a:t>
            </a:r>
            <a:r>
              <a:rPr lang="en-SE" sz="3200" dirty="0"/>
              <a:t>Antal BEVILJADE ansökningar per utbildningsområde– uppgift_1/b_1.sql</a:t>
            </a:r>
            <a:endParaRPr lang="sv-SE" sz="3200" dirty="0"/>
          </a:p>
        </p:txBody>
      </p:sp>
      <p:sp>
        <p:nvSpPr>
          <p:cNvPr id="3" name="Content Placeholder 2">
            <a:extLst>
              <a:ext uri="{FF2B5EF4-FFF2-40B4-BE49-F238E27FC236}">
                <a16:creationId xmlns:a16="http://schemas.microsoft.com/office/drawing/2014/main" id="{AE32EE3D-0990-C53E-8D09-EAABD306F712}"/>
              </a:ext>
            </a:extLst>
          </p:cNvPr>
          <p:cNvSpPr>
            <a:spLocks noGrp="1"/>
          </p:cNvSpPr>
          <p:nvPr>
            <p:ph idx="1"/>
          </p:nvPr>
        </p:nvSpPr>
        <p:spPr>
          <a:xfrm>
            <a:off x="838200" y="2530549"/>
            <a:ext cx="6860059" cy="3646414"/>
          </a:xfrm>
        </p:spPr>
        <p:txBody>
          <a:bodyPr/>
          <a:lstStyle/>
          <a:p>
            <a:pPr marL="0" indent="0">
              <a:buNone/>
            </a:pPr>
            <a:r>
              <a:rPr lang="sv-SE" dirty="0"/>
              <a:t>För att endast se de beviljade ansökningarna lade jag till villkoret att Beslut ska vara lika med ”Beviljad”.</a:t>
            </a:r>
            <a:br>
              <a:rPr lang="sv-SE" dirty="0"/>
            </a:br>
            <a:br>
              <a:rPr lang="sv-SE" dirty="0"/>
            </a:br>
            <a:r>
              <a:rPr lang="en-SE" dirty="0">
                <a:solidFill>
                  <a:schemeClr val="accent6"/>
                </a:solidFill>
              </a:rPr>
              <a:t>where Beslut = 'Beviljad'</a:t>
            </a:r>
          </a:p>
          <a:p>
            <a:pPr marL="0" indent="0">
              <a:buNone/>
            </a:pPr>
            <a:endParaRPr lang="sv-SE" dirty="0"/>
          </a:p>
        </p:txBody>
      </p:sp>
      <p:pic>
        <p:nvPicPr>
          <p:cNvPr id="8" name="Picture 7">
            <a:extLst>
              <a:ext uri="{FF2B5EF4-FFF2-40B4-BE49-F238E27FC236}">
                <a16:creationId xmlns:a16="http://schemas.microsoft.com/office/drawing/2014/main" id="{8C67C239-9839-FF77-E65C-232E7FADA020}"/>
              </a:ext>
            </a:extLst>
          </p:cNvPr>
          <p:cNvPicPr>
            <a:picLocks noChangeAspect="1"/>
          </p:cNvPicPr>
          <p:nvPr/>
        </p:nvPicPr>
        <p:blipFill>
          <a:blip r:embed="rId2"/>
          <a:stretch>
            <a:fillRect/>
          </a:stretch>
        </p:blipFill>
        <p:spPr>
          <a:xfrm>
            <a:off x="7337854" y="1539556"/>
            <a:ext cx="4531766" cy="2618766"/>
          </a:xfrm>
          <a:prstGeom prst="rect">
            <a:avLst/>
          </a:prstGeom>
        </p:spPr>
      </p:pic>
      <p:pic>
        <p:nvPicPr>
          <p:cNvPr id="9" name="Picture 8">
            <a:extLst>
              <a:ext uri="{FF2B5EF4-FFF2-40B4-BE49-F238E27FC236}">
                <a16:creationId xmlns:a16="http://schemas.microsoft.com/office/drawing/2014/main" id="{43AD6A94-99FB-0648-F92A-1BB3906090C4}"/>
              </a:ext>
            </a:extLst>
          </p:cNvPr>
          <p:cNvPicPr>
            <a:picLocks noChangeAspect="1"/>
          </p:cNvPicPr>
          <p:nvPr/>
        </p:nvPicPr>
        <p:blipFill>
          <a:blip r:embed="rId3"/>
          <a:stretch>
            <a:fillRect/>
          </a:stretch>
        </p:blipFill>
        <p:spPr>
          <a:xfrm>
            <a:off x="7337854" y="3592200"/>
            <a:ext cx="4531766" cy="3353631"/>
          </a:xfrm>
          <a:prstGeom prst="rect">
            <a:avLst/>
          </a:prstGeom>
        </p:spPr>
      </p:pic>
    </p:spTree>
    <p:extLst>
      <p:ext uri="{BB962C8B-B14F-4D97-AF65-F5344CB8AC3E}">
        <p14:creationId xmlns:p14="http://schemas.microsoft.com/office/powerpoint/2010/main" val="21838037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26EA71-12A4-DDB8-D3C4-759E7A207D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99D416-68BF-6479-6DF1-79AC31708361}"/>
              </a:ext>
            </a:extLst>
          </p:cNvPr>
          <p:cNvSpPr>
            <a:spLocks noGrp="1"/>
          </p:cNvSpPr>
          <p:nvPr>
            <p:ph type="title"/>
          </p:nvPr>
        </p:nvSpPr>
        <p:spPr>
          <a:xfrm>
            <a:off x="838200" y="365125"/>
            <a:ext cx="10515600" cy="1920875"/>
          </a:xfrm>
        </p:spPr>
        <p:txBody>
          <a:bodyPr>
            <a:normAutofit/>
          </a:bodyPr>
          <a:lstStyle/>
          <a:p>
            <a:r>
              <a:rPr lang="sv-SE" dirty="0"/>
              <a:t>Uppgift 1 – grundläggande EDA</a:t>
            </a:r>
            <a:br>
              <a:rPr lang="sv-SE" dirty="0"/>
            </a:br>
            <a:r>
              <a:rPr lang="sv-SE" sz="3200" dirty="0"/>
              <a:t>c) </a:t>
            </a:r>
            <a:r>
              <a:rPr lang="en-SE" sz="3200" dirty="0"/>
              <a:t>Antal AVSLAGNA ansökningar per utbildningsområde– uppgift_1/c_1.sql</a:t>
            </a:r>
            <a:endParaRPr lang="sv-SE" sz="3200" dirty="0"/>
          </a:p>
        </p:txBody>
      </p:sp>
      <p:sp>
        <p:nvSpPr>
          <p:cNvPr id="3" name="Content Placeholder 2">
            <a:extLst>
              <a:ext uri="{FF2B5EF4-FFF2-40B4-BE49-F238E27FC236}">
                <a16:creationId xmlns:a16="http://schemas.microsoft.com/office/drawing/2014/main" id="{0E59F7D4-247D-BE80-BD3B-C77C44E59550}"/>
              </a:ext>
            </a:extLst>
          </p:cNvPr>
          <p:cNvSpPr>
            <a:spLocks noGrp="1"/>
          </p:cNvSpPr>
          <p:nvPr>
            <p:ph idx="1"/>
          </p:nvPr>
        </p:nvSpPr>
        <p:spPr>
          <a:xfrm>
            <a:off x="838200" y="2530549"/>
            <a:ext cx="6860059" cy="3646414"/>
          </a:xfrm>
        </p:spPr>
        <p:txBody>
          <a:bodyPr/>
          <a:lstStyle/>
          <a:p>
            <a:pPr marL="0" indent="0">
              <a:buNone/>
            </a:pPr>
            <a:r>
              <a:rPr lang="sv-SE" dirty="0"/>
              <a:t>För att endast se de beviljade ansökningarna ändrade jag villkoret till att Beslut ska vara lika med ”Avslag”.</a:t>
            </a:r>
            <a:br>
              <a:rPr lang="sv-SE" dirty="0"/>
            </a:br>
            <a:br>
              <a:rPr lang="sv-SE" dirty="0"/>
            </a:br>
            <a:r>
              <a:rPr lang="en-SE" dirty="0">
                <a:solidFill>
                  <a:schemeClr val="accent6"/>
                </a:solidFill>
              </a:rPr>
              <a:t>where Beslut = ‘Avslag'</a:t>
            </a:r>
          </a:p>
          <a:p>
            <a:pPr marL="0" indent="0">
              <a:buNone/>
            </a:pPr>
            <a:endParaRPr lang="sv-SE" dirty="0"/>
          </a:p>
        </p:txBody>
      </p:sp>
      <p:pic>
        <p:nvPicPr>
          <p:cNvPr id="4" name="Picture 3">
            <a:extLst>
              <a:ext uri="{FF2B5EF4-FFF2-40B4-BE49-F238E27FC236}">
                <a16:creationId xmlns:a16="http://schemas.microsoft.com/office/drawing/2014/main" id="{9156442A-7B34-07AC-9D15-C6ABF6590DB5}"/>
              </a:ext>
            </a:extLst>
          </p:cNvPr>
          <p:cNvPicPr>
            <a:picLocks noChangeAspect="1"/>
          </p:cNvPicPr>
          <p:nvPr/>
        </p:nvPicPr>
        <p:blipFill>
          <a:blip r:embed="rId2"/>
          <a:stretch>
            <a:fillRect/>
          </a:stretch>
        </p:blipFill>
        <p:spPr>
          <a:xfrm>
            <a:off x="7563077" y="1441175"/>
            <a:ext cx="4302037" cy="2481069"/>
          </a:xfrm>
          <a:prstGeom prst="rect">
            <a:avLst/>
          </a:prstGeom>
        </p:spPr>
      </p:pic>
      <p:pic>
        <p:nvPicPr>
          <p:cNvPr id="5" name="Picture 4">
            <a:extLst>
              <a:ext uri="{FF2B5EF4-FFF2-40B4-BE49-F238E27FC236}">
                <a16:creationId xmlns:a16="http://schemas.microsoft.com/office/drawing/2014/main" id="{4A5B7B49-E9BE-18C6-9D59-8798A2092462}"/>
              </a:ext>
            </a:extLst>
          </p:cNvPr>
          <p:cNvPicPr>
            <a:picLocks noChangeAspect="1"/>
          </p:cNvPicPr>
          <p:nvPr/>
        </p:nvPicPr>
        <p:blipFill>
          <a:blip r:embed="rId3"/>
          <a:stretch>
            <a:fillRect/>
          </a:stretch>
        </p:blipFill>
        <p:spPr>
          <a:xfrm>
            <a:off x="7506890" y="3611424"/>
            <a:ext cx="4414409" cy="3246576"/>
          </a:xfrm>
          <a:prstGeom prst="rect">
            <a:avLst/>
          </a:prstGeom>
        </p:spPr>
      </p:pic>
    </p:spTree>
    <p:extLst>
      <p:ext uri="{BB962C8B-B14F-4D97-AF65-F5344CB8AC3E}">
        <p14:creationId xmlns:p14="http://schemas.microsoft.com/office/powerpoint/2010/main" val="37770971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EF3DB-B7F9-C0E4-2981-96E310F148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669F0D-A94A-9033-F0D6-EEB1A0C065B5}"/>
              </a:ext>
            </a:extLst>
          </p:cNvPr>
          <p:cNvSpPr>
            <a:spLocks noGrp="1"/>
          </p:cNvSpPr>
          <p:nvPr>
            <p:ph type="title"/>
          </p:nvPr>
        </p:nvSpPr>
        <p:spPr>
          <a:xfrm>
            <a:off x="838200" y="365125"/>
            <a:ext cx="11026914" cy="1920875"/>
          </a:xfrm>
        </p:spPr>
        <p:txBody>
          <a:bodyPr>
            <a:normAutofit fontScale="90000"/>
          </a:bodyPr>
          <a:lstStyle/>
          <a:p>
            <a:r>
              <a:rPr lang="sv-SE" dirty="0"/>
              <a:t>Uppgift 1 – grundläggande EDA</a:t>
            </a:r>
            <a:br>
              <a:rPr lang="sv-SE" dirty="0"/>
            </a:br>
            <a:r>
              <a:rPr lang="sv-SE" sz="3200" dirty="0"/>
              <a:t>d) </a:t>
            </a:r>
            <a:r>
              <a:rPr lang="en-SE" sz="3600" dirty="0"/>
              <a:t>Antal BEVILJADE ansökningar per utbildningsnamn inom Data/IT</a:t>
            </a:r>
            <a:br>
              <a:rPr lang="en-SE" dirty="0"/>
            </a:br>
            <a:r>
              <a:rPr lang="en-SE" sz="3600" dirty="0"/>
              <a:t>– uppgift_1/d_1.sql</a:t>
            </a:r>
            <a:endParaRPr lang="sv-SE" sz="3600" dirty="0"/>
          </a:p>
        </p:txBody>
      </p:sp>
      <p:sp>
        <p:nvSpPr>
          <p:cNvPr id="3" name="Content Placeholder 2">
            <a:extLst>
              <a:ext uri="{FF2B5EF4-FFF2-40B4-BE49-F238E27FC236}">
                <a16:creationId xmlns:a16="http://schemas.microsoft.com/office/drawing/2014/main" id="{A1D555AF-AE78-583D-C54F-BCF432625DBE}"/>
              </a:ext>
            </a:extLst>
          </p:cNvPr>
          <p:cNvSpPr>
            <a:spLocks noGrp="1"/>
          </p:cNvSpPr>
          <p:nvPr>
            <p:ph idx="1"/>
          </p:nvPr>
        </p:nvSpPr>
        <p:spPr>
          <a:xfrm>
            <a:off x="807381" y="4021766"/>
            <a:ext cx="7257946" cy="2393239"/>
          </a:xfrm>
        </p:spPr>
        <p:txBody>
          <a:bodyPr>
            <a:normAutofit/>
          </a:bodyPr>
          <a:lstStyle/>
          <a:p>
            <a:pPr marL="0" indent="0">
              <a:buNone/>
            </a:pPr>
            <a:r>
              <a:rPr lang="sv-SE" dirty="0"/>
              <a:t>Här väljer jag  </a:t>
            </a:r>
            <a:r>
              <a:rPr lang="sv-SE" dirty="0" err="1">
                <a:solidFill>
                  <a:schemeClr val="accent6"/>
                </a:solidFill>
              </a:rPr>
              <a:t>select</a:t>
            </a:r>
            <a:r>
              <a:rPr lang="sv-SE" dirty="0">
                <a:solidFill>
                  <a:schemeClr val="accent6"/>
                </a:solidFill>
              </a:rPr>
              <a:t> </a:t>
            </a:r>
            <a:r>
              <a:rPr lang="sv-SE" dirty="0" err="1">
                <a:solidFill>
                  <a:schemeClr val="accent6"/>
                </a:solidFill>
              </a:rPr>
              <a:t>utbildningsnamn</a:t>
            </a:r>
            <a:r>
              <a:rPr lang="sv-SE" dirty="0">
                <a:solidFill>
                  <a:schemeClr val="accent6"/>
                </a:solidFill>
              </a:rPr>
              <a:t>, </a:t>
            </a:r>
            <a:r>
              <a:rPr lang="sv-SE" dirty="0" err="1">
                <a:solidFill>
                  <a:schemeClr val="accent6"/>
                </a:solidFill>
              </a:rPr>
              <a:t>count</a:t>
            </a:r>
            <a:r>
              <a:rPr lang="sv-SE" dirty="0">
                <a:solidFill>
                  <a:schemeClr val="accent6"/>
                </a:solidFill>
              </a:rPr>
              <a:t>(*)</a:t>
            </a:r>
            <a:r>
              <a:rPr lang="sv-SE" dirty="0"/>
              <a:t>, lägga till villkoren </a:t>
            </a:r>
            <a:r>
              <a:rPr lang="sv-SE" dirty="0" err="1">
                <a:solidFill>
                  <a:schemeClr val="accent6"/>
                </a:solidFill>
              </a:rPr>
              <a:t>where</a:t>
            </a:r>
            <a:r>
              <a:rPr lang="sv-SE" dirty="0">
                <a:solidFill>
                  <a:schemeClr val="accent6"/>
                </a:solidFill>
              </a:rPr>
              <a:t> Beslut = ’Beviljad’ and utbildningsområde = ’DATA/IT’ </a:t>
            </a:r>
            <a:r>
              <a:rPr lang="sv-SE" dirty="0"/>
              <a:t>samt gruppera på </a:t>
            </a:r>
            <a:r>
              <a:rPr lang="sv-SE" dirty="0" err="1"/>
              <a:t>utbildningsnamn</a:t>
            </a:r>
            <a:r>
              <a:rPr lang="sv-SE" dirty="0"/>
              <a:t>.</a:t>
            </a:r>
            <a:endParaRPr lang="en-SE" dirty="0">
              <a:solidFill>
                <a:schemeClr val="accent6"/>
              </a:solidFill>
            </a:endParaRPr>
          </a:p>
          <a:p>
            <a:pPr marL="0" indent="0">
              <a:buNone/>
            </a:pPr>
            <a:endParaRPr lang="sv-SE" dirty="0"/>
          </a:p>
        </p:txBody>
      </p:sp>
      <p:pic>
        <p:nvPicPr>
          <p:cNvPr id="6" name="Picture 5">
            <a:extLst>
              <a:ext uri="{FF2B5EF4-FFF2-40B4-BE49-F238E27FC236}">
                <a16:creationId xmlns:a16="http://schemas.microsoft.com/office/drawing/2014/main" id="{911F0852-23F8-86B6-4F0A-0BD4EDCACD1E}"/>
              </a:ext>
            </a:extLst>
          </p:cNvPr>
          <p:cNvPicPr>
            <a:picLocks noChangeAspect="1"/>
          </p:cNvPicPr>
          <p:nvPr/>
        </p:nvPicPr>
        <p:blipFill>
          <a:blip r:embed="rId2"/>
          <a:stretch>
            <a:fillRect/>
          </a:stretch>
        </p:blipFill>
        <p:spPr>
          <a:xfrm>
            <a:off x="4126674" y="1639614"/>
            <a:ext cx="4250832" cy="2451538"/>
          </a:xfrm>
          <a:prstGeom prst="rect">
            <a:avLst/>
          </a:prstGeom>
        </p:spPr>
      </p:pic>
      <p:pic>
        <p:nvPicPr>
          <p:cNvPr id="7" name="Picture 6">
            <a:extLst>
              <a:ext uri="{FF2B5EF4-FFF2-40B4-BE49-F238E27FC236}">
                <a16:creationId xmlns:a16="http://schemas.microsoft.com/office/drawing/2014/main" id="{EF754650-3F53-A5C2-F6D9-F424072B492B}"/>
              </a:ext>
            </a:extLst>
          </p:cNvPr>
          <p:cNvPicPr>
            <a:picLocks noChangeAspect="1"/>
          </p:cNvPicPr>
          <p:nvPr/>
        </p:nvPicPr>
        <p:blipFill>
          <a:blip r:embed="rId3"/>
          <a:stretch>
            <a:fillRect/>
          </a:stretch>
        </p:blipFill>
        <p:spPr>
          <a:xfrm>
            <a:off x="8065327" y="1639614"/>
            <a:ext cx="4126673" cy="5218386"/>
          </a:xfrm>
          <a:prstGeom prst="rect">
            <a:avLst/>
          </a:prstGeom>
        </p:spPr>
      </p:pic>
    </p:spTree>
    <p:extLst>
      <p:ext uri="{BB962C8B-B14F-4D97-AF65-F5344CB8AC3E}">
        <p14:creationId xmlns:p14="http://schemas.microsoft.com/office/powerpoint/2010/main" val="16893465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434757-2946-4785-E87C-DD20DF166C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F20E96-A1FF-CF1D-5C18-52D992E7156F}"/>
              </a:ext>
            </a:extLst>
          </p:cNvPr>
          <p:cNvSpPr>
            <a:spLocks noGrp="1"/>
          </p:cNvSpPr>
          <p:nvPr>
            <p:ph type="title"/>
          </p:nvPr>
        </p:nvSpPr>
        <p:spPr>
          <a:xfrm>
            <a:off x="604157" y="365125"/>
            <a:ext cx="11260957" cy="1920875"/>
          </a:xfrm>
        </p:spPr>
        <p:txBody>
          <a:bodyPr>
            <a:normAutofit fontScale="90000"/>
          </a:bodyPr>
          <a:lstStyle/>
          <a:p>
            <a:r>
              <a:rPr lang="sv-SE" dirty="0"/>
              <a:t>Uppgift 1 – grundläggande EDA</a:t>
            </a:r>
            <a:br>
              <a:rPr lang="sv-SE" dirty="0"/>
            </a:br>
            <a:r>
              <a:rPr lang="sv-SE" sz="3200" dirty="0"/>
              <a:t>e) </a:t>
            </a:r>
            <a:r>
              <a:rPr lang="en-SE" sz="3600" dirty="0"/>
              <a:t>Antal AVSLAGNA ansökningar per utbildningsnamn inom Data/IT</a:t>
            </a:r>
            <a:br>
              <a:rPr lang="en-SE" dirty="0"/>
            </a:br>
            <a:r>
              <a:rPr lang="en-SE" sz="3600" dirty="0"/>
              <a:t>– uppgift_1/e_1.sql</a:t>
            </a:r>
            <a:endParaRPr lang="sv-SE" sz="3600" dirty="0"/>
          </a:p>
        </p:txBody>
      </p:sp>
      <p:sp>
        <p:nvSpPr>
          <p:cNvPr id="3" name="Content Placeholder 2">
            <a:extLst>
              <a:ext uri="{FF2B5EF4-FFF2-40B4-BE49-F238E27FC236}">
                <a16:creationId xmlns:a16="http://schemas.microsoft.com/office/drawing/2014/main" id="{AA90E50A-BD85-E6BF-82BE-7169F08CE23B}"/>
              </a:ext>
            </a:extLst>
          </p:cNvPr>
          <p:cNvSpPr>
            <a:spLocks noGrp="1"/>
          </p:cNvSpPr>
          <p:nvPr>
            <p:ph idx="1"/>
          </p:nvPr>
        </p:nvSpPr>
        <p:spPr>
          <a:xfrm>
            <a:off x="807381" y="2286000"/>
            <a:ext cx="6263093" cy="4129005"/>
          </a:xfrm>
        </p:spPr>
        <p:txBody>
          <a:bodyPr>
            <a:normAutofit fontScale="92500" lnSpcReduction="10000"/>
          </a:bodyPr>
          <a:lstStyle/>
          <a:p>
            <a:pPr marL="0" indent="0">
              <a:buNone/>
            </a:pPr>
            <a:r>
              <a:rPr lang="sv-SE" dirty="0"/>
              <a:t>Här började jag med att bara ersätta villkoret från förra frågan från ’Beviljad’ till ’Avslag’, men upptäckte att jag fick flera dubbletter beroende på case (Data </a:t>
            </a:r>
            <a:r>
              <a:rPr lang="sv-SE" dirty="0" err="1"/>
              <a:t>Engineer</a:t>
            </a:r>
            <a:r>
              <a:rPr lang="sv-SE" dirty="0"/>
              <a:t> och Data </a:t>
            </a:r>
            <a:r>
              <a:rPr lang="sv-SE" dirty="0" err="1"/>
              <a:t>engineer</a:t>
            </a:r>
            <a:r>
              <a:rPr lang="sv-SE" dirty="0"/>
              <a:t>) och blanksteg i slutet av utbildningens namn (.Net </a:t>
            </a:r>
            <a:r>
              <a:rPr lang="sv-SE" dirty="0" err="1"/>
              <a:t>Developer</a:t>
            </a:r>
            <a:r>
              <a:rPr lang="sv-SE" dirty="0"/>
              <a:t> och .Net </a:t>
            </a:r>
            <a:r>
              <a:rPr lang="sv-SE" dirty="0" err="1"/>
              <a:t>Developer</a:t>
            </a:r>
            <a:r>
              <a:rPr lang="sv-SE" dirty="0"/>
              <a:t>_), så jag lade till </a:t>
            </a:r>
            <a:r>
              <a:rPr lang="sv-SE" dirty="0" err="1"/>
              <a:t>upper</a:t>
            </a:r>
            <a:r>
              <a:rPr lang="sv-SE" dirty="0"/>
              <a:t> för att göra alla bokstäver till versaler och trim för att ta bort eventuella blanksteg före eller efter namnet.</a:t>
            </a:r>
            <a:br>
              <a:rPr lang="sv-SE" dirty="0"/>
            </a:br>
            <a:r>
              <a:rPr lang="sv-SE" dirty="0"/>
              <a:t>Antal rader i resultatet sjönk då från 135 till 126.</a:t>
            </a:r>
            <a:endParaRPr lang="en-SE" dirty="0">
              <a:solidFill>
                <a:schemeClr val="accent6"/>
              </a:solidFill>
            </a:endParaRPr>
          </a:p>
          <a:p>
            <a:pPr marL="0" indent="0">
              <a:buNone/>
            </a:pPr>
            <a:endParaRPr lang="sv-SE" dirty="0"/>
          </a:p>
        </p:txBody>
      </p:sp>
      <p:pic>
        <p:nvPicPr>
          <p:cNvPr id="4" name="Picture 3">
            <a:extLst>
              <a:ext uri="{FF2B5EF4-FFF2-40B4-BE49-F238E27FC236}">
                <a16:creationId xmlns:a16="http://schemas.microsoft.com/office/drawing/2014/main" id="{F9F886B9-0B64-C254-EB27-A1CFD5722268}"/>
              </a:ext>
            </a:extLst>
          </p:cNvPr>
          <p:cNvPicPr>
            <a:picLocks noChangeAspect="1"/>
          </p:cNvPicPr>
          <p:nvPr/>
        </p:nvPicPr>
        <p:blipFill>
          <a:blip r:embed="rId2"/>
          <a:stretch>
            <a:fillRect/>
          </a:stretch>
        </p:blipFill>
        <p:spPr>
          <a:xfrm>
            <a:off x="7022769" y="1398302"/>
            <a:ext cx="5208351" cy="2808573"/>
          </a:xfrm>
          <a:prstGeom prst="rect">
            <a:avLst/>
          </a:prstGeom>
        </p:spPr>
      </p:pic>
      <p:pic>
        <p:nvPicPr>
          <p:cNvPr id="5" name="Picture 4">
            <a:extLst>
              <a:ext uri="{FF2B5EF4-FFF2-40B4-BE49-F238E27FC236}">
                <a16:creationId xmlns:a16="http://schemas.microsoft.com/office/drawing/2014/main" id="{BACCB0B3-34F8-6DCB-A032-40078C5D24E2}"/>
              </a:ext>
            </a:extLst>
          </p:cNvPr>
          <p:cNvPicPr>
            <a:picLocks noChangeAspect="1"/>
          </p:cNvPicPr>
          <p:nvPr/>
        </p:nvPicPr>
        <p:blipFill>
          <a:blip r:embed="rId3"/>
          <a:stretch>
            <a:fillRect/>
          </a:stretch>
        </p:blipFill>
        <p:spPr>
          <a:xfrm>
            <a:off x="7172492" y="3611563"/>
            <a:ext cx="4908904" cy="1920875"/>
          </a:xfrm>
          <a:prstGeom prst="rect">
            <a:avLst/>
          </a:prstGeom>
        </p:spPr>
      </p:pic>
      <p:pic>
        <p:nvPicPr>
          <p:cNvPr id="8" name="Picture 7">
            <a:extLst>
              <a:ext uri="{FF2B5EF4-FFF2-40B4-BE49-F238E27FC236}">
                <a16:creationId xmlns:a16="http://schemas.microsoft.com/office/drawing/2014/main" id="{FC21BC2A-B05B-2E4B-7162-7F580412D95B}"/>
              </a:ext>
            </a:extLst>
          </p:cNvPr>
          <p:cNvPicPr>
            <a:picLocks noChangeAspect="1"/>
          </p:cNvPicPr>
          <p:nvPr/>
        </p:nvPicPr>
        <p:blipFill>
          <a:blip r:embed="rId4"/>
          <a:stretch>
            <a:fillRect/>
          </a:stretch>
        </p:blipFill>
        <p:spPr>
          <a:xfrm>
            <a:off x="7172491" y="4937125"/>
            <a:ext cx="4908905" cy="1920875"/>
          </a:xfrm>
          <a:prstGeom prst="rect">
            <a:avLst/>
          </a:prstGeom>
        </p:spPr>
      </p:pic>
    </p:spTree>
    <p:extLst>
      <p:ext uri="{BB962C8B-B14F-4D97-AF65-F5344CB8AC3E}">
        <p14:creationId xmlns:p14="http://schemas.microsoft.com/office/powerpoint/2010/main" val="1949141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290A2-6A4C-8A5B-191D-58F6F782E0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89D2F2-085A-5059-D033-6C2C4B2C954C}"/>
              </a:ext>
            </a:extLst>
          </p:cNvPr>
          <p:cNvSpPr>
            <a:spLocks noGrp="1"/>
          </p:cNvSpPr>
          <p:nvPr>
            <p:ph type="title"/>
          </p:nvPr>
        </p:nvSpPr>
        <p:spPr>
          <a:xfrm>
            <a:off x="604158" y="365125"/>
            <a:ext cx="6678386" cy="2884261"/>
          </a:xfrm>
        </p:spPr>
        <p:txBody>
          <a:bodyPr>
            <a:normAutofit fontScale="90000"/>
          </a:bodyPr>
          <a:lstStyle/>
          <a:p>
            <a:r>
              <a:rPr lang="sv-SE" dirty="0"/>
              <a:t>Uppgift 1 – grundläggande EDA</a:t>
            </a:r>
            <a:br>
              <a:rPr lang="sv-SE" dirty="0"/>
            </a:br>
            <a:r>
              <a:rPr lang="sv-SE" sz="3600" dirty="0"/>
              <a:t>f</a:t>
            </a:r>
            <a:r>
              <a:rPr lang="sv-SE" sz="3200" dirty="0"/>
              <a:t>) </a:t>
            </a:r>
            <a:r>
              <a:rPr lang="en-SE" sz="3600" dirty="0"/>
              <a:t>Antal BEVILJADE ansökningar per utbildningsandordnare administrativ enhet och utbildningsnamn inom Data/IT</a:t>
            </a:r>
            <a:br>
              <a:rPr lang="en-SE" dirty="0"/>
            </a:br>
            <a:r>
              <a:rPr lang="en-SE" sz="3600" dirty="0"/>
              <a:t>– uppgift_1/f_1.sql</a:t>
            </a:r>
            <a:endParaRPr lang="sv-SE" sz="3600" dirty="0"/>
          </a:p>
        </p:txBody>
      </p:sp>
      <p:sp>
        <p:nvSpPr>
          <p:cNvPr id="3" name="Content Placeholder 2">
            <a:extLst>
              <a:ext uri="{FF2B5EF4-FFF2-40B4-BE49-F238E27FC236}">
                <a16:creationId xmlns:a16="http://schemas.microsoft.com/office/drawing/2014/main" id="{71299E33-DA42-C5F7-576A-94BD5061D8C8}"/>
              </a:ext>
            </a:extLst>
          </p:cNvPr>
          <p:cNvSpPr>
            <a:spLocks noGrp="1"/>
          </p:cNvSpPr>
          <p:nvPr>
            <p:ph idx="1"/>
          </p:nvPr>
        </p:nvSpPr>
        <p:spPr>
          <a:xfrm>
            <a:off x="604158" y="3608615"/>
            <a:ext cx="6263093" cy="2884260"/>
          </a:xfrm>
        </p:spPr>
        <p:txBody>
          <a:bodyPr>
            <a:normAutofit fontScale="92500" lnSpcReduction="10000"/>
          </a:bodyPr>
          <a:lstStyle/>
          <a:p>
            <a:pPr marL="0" indent="0">
              <a:buNone/>
            </a:pPr>
            <a:r>
              <a:rPr lang="sv-SE" dirty="0"/>
              <a:t>Jag utgick från fråga 1d och lade till utbildningsanordnarens administrativa enhet i SELECT och GROUP BY. Därmed grupperas resultatet efter unika kombinationer av </a:t>
            </a:r>
            <a:r>
              <a:rPr lang="sv-SE" dirty="0" err="1"/>
              <a:t>utbildningsnamn</a:t>
            </a:r>
            <a:r>
              <a:rPr lang="sv-SE" dirty="0"/>
              <a:t> och anordnare. Jag använder UPPER(TRIM()) för att hantera skillnader i stora och små bokstäver samt överflödiga blanksteg.</a:t>
            </a:r>
          </a:p>
          <a:p>
            <a:pPr marL="0" indent="0">
              <a:buNone/>
            </a:pPr>
            <a:endParaRPr lang="en-SE" dirty="0">
              <a:solidFill>
                <a:schemeClr val="accent6"/>
              </a:solidFill>
            </a:endParaRPr>
          </a:p>
          <a:p>
            <a:pPr marL="0" indent="0">
              <a:buNone/>
            </a:pPr>
            <a:endParaRPr lang="sv-SE" dirty="0"/>
          </a:p>
        </p:txBody>
      </p:sp>
      <p:pic>
        <p:nvPicPr>
          <p:cNvPr id="6" name="Picture 5">
            <a:extLst>
              <a:ext uri="{FF2B5EF4-FFF2-40B4-BE49-F238E27FC236}">
                <a16:creationId xmlns:a16="http://schemas.microsoft.com/office/drawing/2014/main" id="{09ECEB34-2D7B-2F96-E95A-B353B74ACBBB}"/>
              </a:ext>
            </a:extLst>
          </p:cNvPr>
          <p:cNvPicPr>
            <a:picLocks noChangeAspect="1"/>
          </p:cNvPicPr>
          <p:nvPr/>
        </p:nvPicPr>
        <p:blipFill>
          <a:blip r:embed="rId2"/>
          <a:stretch>
            <a:fillRect/>
          </a:stretch>
        </p:blipFill>
        <p:spPr>
          <a:xfrm>
            <a:off x="7087342" y="709328"/>
            <a:ext cx="4908905" cy="2061847"/>
          </a:xfrm>
          <a:prstGeom prst="rect">
            <a:avLst/>
          </a:prstGeom>
        </p:spPr>
      </p:pic>
      <p:pic>
        <p:nvPicPr>
          <p:cNvPr id="7" name="Picture 6">
            <a:extLst>
              <a:ext uri="{FF2B5EF4-FFF2-40B4-BE49-F238E27FC236}">
                <a16:creationId xmlns:a16="http://schemas.microsoft.com/office/drawing/2014/main" id="{652BEB1A-57E4-C784-525E-9150DE23CA22}"/>
              </a:ext>
            </a:extLst>
          </p:cNvPr>
          <p:cNvPicPr>
            <a:picLocks noChangeAspect="1"/>
          </p:cNvPicPr>
          <p:nvPr/>
        </p:nvPicPr>
        <p:blipFill>
          <a:blip r:embed="rId3"/>
          <a:stretch>
            <a:fillRect/>
          </a:stretch>
        </p:blipFill>
        <p:spPr>
          <a:xfrm>
            <a:off x="7054145" y="2771175"/>
            <a:ext cx="4975301" cy="4201125"/>
          </a:xfrm>
          <a:prstGeom prst="rect">
            <a:avLst/>
          </a:prstGeom>
        </p:spPr>
      </p:pic>
    </p:spTree>
    <p:extLst>
      <p:ext uri="{BB962C8B-B14F-4D97-AF65-F5344CB8AC3E}">
        <p14:creationId xmlns:p14="http://schemas.microsoft.com/office/powerpoint/2010/main" val="36911777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2C9455-1789-8FBF-256E-1CAC40D606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6A8714-4863-2464-053B-48C444B59ED6}"/>
              </a:ext>
            </a:extLst>
          </p:cNvPr>
          <p:cNvSpPr>
            <a:spLocks noGrp="1"/>
          </p:cNvSpPr>
          <p:nvPr>
            <p:ph type="title"/>
          </p:nvPr>
        </p:nvSpPr>
        <p:spPr>
          <a:xfrm>
            <a:off x="604158" y="365125"/>
            <a:ext cx="7147460" cy="2884261"/>
          </a:xfrm>
        </p:spPr>
        <p:txBody>
          <a:bodyPr>
            <a:normAutofit/>
          </a:bodyPr>
          <a:lstStyle/>
          <a:p>
            <a:r>
              <a:rPr lang="sv-SE" dirty="0"/>
              <a:t>Uppgift 1 – grundläggande EDA</a:t>
            </a:r>
            <a:br>
              <a:rPr lang="sv-SE" dirty="0"/>
            </a:br>
            <a:r>
              <a:rPr lang="sv-SE" sz="3600" dirty="0"/>
              <a:t>g</a:t>
            </a:r>
            <a:r>
              <a:rPr lang="sv-SE" sz="3200" dirty="0"/>
              <a:t>) </a:t>
            </a:r>
            <a:r>
              <a:rPr lang="en-SE" sz="3600" dirty="0"/>
              <a:t>Topp 5 län efter antal beviljade ansökningar</a:t>
            </a:r>
            <a:br>
              <a:rPr lang="en-SE" dirty="0"/>
            </a:br>
            <a:r>
              <a:rPr lang="en-SE" sz="3600" dirty="0"/>
              <a:t>– uppgift_1/g_1.sql</a:t>
            </a:r>
            <a:endParaRPr lang="sv-SE" sz="3600" dirty="0"/>
          </a:p>
        </p:txBody>
      </p:sp>
      <p:sp>
        <p:nvSpPr>
          <p:cNvPr id="3" name="Content Placeholder 2">
            <a:extLst>
              <a:ext uri="{FF2B5EF4-FFF2-40B4-BE49-F238E27FC236}">
                <a16:creationId xmlns:a16="http://schemas.microsoft.com/office/drawing/2014/main" id="{04F6CDCF-2C6E-EA6C-70AE-630AFE72FB2F}"/>
              </a:ext>
            </a:extLst>
          </p:cNvPr>
          <p:cNvSpPr>
            <a:spLocks noGrp="1"/>
          </p:cNvSpPr>
          <p:nvPr>
            <p:ph idx="1"/>
          </p:nvPr>
        </p:nvSpPr>
        <p:spPr>
          <a:xfrm>
            <a:off x="604158" y="3608615"/>
            <a:ext cx="6263093" cy="2884260"/>
          </a:xfrm>
        </p:spPr>
        <p:txBody>
          <a:bodyPr>
            <a:normAutofit fontScale="77500" lnSpcReduction="20000"/>
          </a:bodyPr>
          <a:lstStyle/>
          <a:p>
            <a:pPr marL="0" indent="0">
              <a:buNone/>
            </a:pPr>
            <a:r>
              <a:rPr lang="sv-SE" dirty="0"/>
              <a:t>En av skillnaderna i denna uppgift mot tidigare är att sortera efter våra räknade rader och därför får vår </a:t>
            </a:r>
            <a:r>
              <a:rPr lang="sv-SE" dirty="0" err="1"/>
              <a:t>count</a:t>
            </a:r>
            <a:r>
              <a:rPr lang="sv-SE" dirty="0"/>
              <a:t>(*) ett kolumnalias, ”Beviljade kurser”.</a:t>
            </a:r>
            <a:br>
              <a:rPr lang="sv-SE" dirty="0"/>
            </a:br>
            <a:r>
              <a:rPr lang="sv-SE" dirty="0"/>
              <a:t>En annan är att vi bara vill se topp 5, därav </a:t>
            </a:r>
            <a:r>
              <a:rPr lang="sv-SE" dirty="0" err="1"/>
              <a:t>fetch</a:t>
            </a:r>
            <a:r>
              <a:rPr lang="sv-SE" dirty="0"/>
              <a:t> </a:t>
            </a:r>
            <a:r>
              <a:rPr lang="sv-SE" dirty="0" err="1"/>
              <a:t>first</a:t>
            </a:r>
            <a:r>
              <a:rPr lang="sv-SE" dirty="0"/>
              <a:t> 5 </a:t>
            </a:r>
            <a:r>
              <a:rPr lang="sv-SE" dirty="0" err="1"/>
              <a:t>rows</a:t>
            </a:r>
            <a:r>
              <a:rPr lang="sv-SE" dirty="0"/>
              <a:t> </a:t>
            </a:r>
            <a:r>
              <a:rPr lang="sv-SE" dirty="0" err="1"/>
              <a:t>only</a:t>
            </a:r>
            <a:r>
              <a:rPr lang="sv-SE" dirty="0"/>
              <a:t>.</a:t>
            </a:r>
            <a:br>
              <a:rPr lang="sv-SE" dirty="0"/>
            </a:br>
            <a:br>
              <a:rPr lang="sv-SE" dirty="0"/>
            </a:br>
            <a:r>
              <a:rPr lang="sv-SE" dirty="0"/>
              <a:t>Bonus: Vill vi inte få med ”Flera kommuner” i resultatet, utan endast få faktiska län, kan vi lägga till </a:t>
            </a:r>
            <a:r>
              <a:rPr lang="sv-SE" dirty="0">
                <a:solidFill>
                  <a:schemeClr val="accent6"/>
                </a:solidFill>
              </a:rPr>
              <a:t>AND UPPER(TRIM(län)) &lt;&gt; 'FLERA KOMMUNER’ </a:t>
            </a:r>
            <a:r>
              <a:rPr lang="sv-SE" dirty="0"/>
              <a:t>till vårt </a:t>
            </a:r>
            <a:r>
              <a:rPr lang="sv-SE" dirty="0">
                <a:solidFill>
                  <a:schemeClr val="accent6"/>
                </a:solidFill>
              </a:rPr>
              <a:t>WHERE</a:t>
            </a:r>
            <a:r>
              <a:rPr lang="sv-SE" dirty="0"/>
              <a:t>-villkor.</a:t>
            </a:r>
          </a:p>
          <a:p>
            <a:pPr marL="0" indent="0">
              <a:buNone/>
            </a:pPr>
            <a:endParaRPr lang="sv-SE" dirty="0"/>
          </a:p>
          <a:p>
            <a:pPr marL="0" indent="0">
              <a:buNone/>
            </a:pPr>
            <a:endParaRPr lang="en-SE" dirty="0">
              <a:solidFill>
                <a:schemeClr val="accent6"/>
              </a:solidFill>
            </a:endParaRPr>
          </a:p>
          <a:p>
            <a:pPr marL="0" indent="0">
              <a:buNone/>
            </a:pPr>
            <a:endParaRPr lang="sv-SE" dirty="0"/>
          </a:p>
        </p:txBody>
      </p:sp>
      <p:pic>
        <p:nvPicPr>
          <p:cNvPr id="8" name="Picture 7">
            <a:extLst>
              <a:ext uri="{FF2B5EF4-FFF2-40B4-BE49-F238E27FC236}">
                <a16:creationId xmlns:a16="http://schemas.microsoft.com/office/drawing/2014/main" id="{CF42FA08-5113-889D-9EC8-0EB913942386}"/>
              </a:ext>
            </a:extLst>
          </p:cNvPr>
          <p:cNvPicPr>
            <a:picLocks noChangeAspect="1"/>
          </p:cNvPicPr>
          <p:nvPr/>
        </p:nvPicPr>
        <p:blipFill>
          <a:blip r:embed="rId2"/>
          <a:stretch>
            <a:fillRect/>
          </a:stretch>
        </p:blipFill>
        <p:spPr>
          <a:xfrm>
            <a:off x="7533921" y="630117"/>
            <a:ext cx="4699963" cy="2800326"/>
          </a:xfrm>
          <a:prstGeom prst="rect">
            <a:avLst/>
          </a:prstGeom>
        </p:spPr>
      </p:pic>
      <p:pic>
        <p:nvPicPr>
          <p:cNvPr id="9" name="Picture 8">
            <a:extLst>
              <a:ext uri="{FF2B5EF4-FFF2-40B4-BE49-F238E27FC236}">
                <a16:creationId xmlns:a16="http://schemas.microsoft.com/office/drawing/2014/main" id="{1DF63862-CA42-AA6D-FCFC-48CF3FA0134F}"/>
              </a:ext>
            </a:extLst>
          </p:cNvPr>
          <p:cNvPicPr>
            <a:picLocks noChangeAspect="1"/>
          </p:cNvPicPr>
          <p:nvPr/>
        </p:nvPicPr>
        <p:blipFill>
          <a:blip r:embed="rId3"/>
          <a:stretch>
            <a:fillRect/>
          </a:stretch>
        </p:blipFill>
        <p:spPr>
          <a:xfrm>
            <a:off x="7201631" y="3408217"/>
            <a:ext cx="5403696" cy="3641621"/>
          </a:xfrm>
          <a:prstGeom prst="rect">
            <a:avLst/>
          </a:prstGeom>
        </p:spPr>
      </p:pic>
    </p:spTree>
    <p:extLst>
      <p:ext uri="{BB962C8B-B14F-4D97-AF65-F5344CB8AC3E}">
        <p14:creationId xmlns:p14="http://schemas.microsoft.com/office/powerpoint/2010/main" val="2780813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8D2A50-365A-56EA-25C4-6204256D38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5C1E26-B7F9-0AC2-F9B6-1D7726FBDB50}"/>
              </a:ext>
            </a:extLst>
          </p:cNvPr>
          <p:cNvSpPr>
            <a:spLocks noGrp="1"/>
          </p:cNvSpPr>
          <p:nvPr>
            <p:ph type="title"/>
          </p:nvPr>
        </p:nvSpPr>
        <p:spPr>
          <a:xfrm>
            <a:off x="604158" y="365125"/>
            <a:ext cx="7147460" cy="2884261"/>
          </a:xfrm>
        </p:spPr>
        <p:txBody>
          <a:bodyPr>
            <a:normAutofit/>
          </a:bodyPr>
          <a:lstStyle/>
          <a:p>
            <a:r>
              <a:rPr lang="sv-SE" dirty="0"/>
              <a:t>Uppgift 1 – grundläggande EDA</a:t>
            </a:r>
            <a:br>
              <a:rPr lang="sv-SE" dirty="0"/>
            </a:br>
            <a:r>
              <a:rPr lang="sv-SE" sz="2400" dirty="0"/>
              <a:t>h) </a:t>
            </a:r>
            <a:r>
              <a:rPr lang="en-GB" sz="2400" dirty="0"/>
              <a:t>Andel </a:t>
            </a:r>
            <a:r>
              <a:rPr lang="en-GB" sz="2400" dirty="0" err="1"/>
              <a:t>distans</a:t>
            </a:r>
            <a:r>
              <a:rPr lang="en-GB" sz="2400" dirty="0"/>
              <a:t> och </a:t>
            </a:r>
            <a:r>
              <a:rPr lang="en-GB" sz="2400" dirty="0" err="1"/>
              <a:t>andel</a:t>
            </a:r>
            <a:r>
              <a:rPr lang="en-GB" sz="2400" dirty="0"/>
              <a:t> </a:t>
            </a:r>
            <a:r>
              <a:rPr lang="en-GB" sz="2400" dirty="0" err="1"/>
              <a:t>bundna</a:t>
            </a:r>
            <a:r>
              <a:rPr lang="en-GB" sz="2400" dirty="0"/>
              <a:t> </a:t>
            </a:r>
            <a:r>
              <a:rPr lang="en-GB" sz="2400" dirty="0" err="1"/>
              <a:t>utbildningar</a:t>
            </a:r>
            <a:r>
              <a:rPr lang="en-GB" sz="2400" dirty="0"/>
              <a:t> </a:t>
            </a:r>
            <a:r>
              <a:rPr lang="en-GB" sz="2400" dirty="0" err="1"/>
              <a:t>inom</a:t>
            </a:r>
            <a:r>
              <a:rPr lang="en-GB" sz="2400" dirty="0"/>
              <a:t> </a:t>
            </a:r>
            <a:r>
              <a:rPr lang="en-GB" sz="2400" dirty="0" err="1"/>
              <a:t>respektive</a:t>
            </a:r>
            <a:r>
              <a:rPr lang="en-GB" sz="2400" dirty="0"/>
              <a:t> </a:t>
            </a:r>
            <a:r>
              <a:rPr lang="en-GB" sz="2400" dirty="0" err="1"/>
              <a:t>utbildingsområde</a:t>
            </a:r>
            <a:br>
              <a:rPr lang="en-SE" sz="2400" dirty="0"/>
            </a:br>
            <a:r>
              <a:rPr lang="en-SE" sz="3600" dirty="0"/>
              <a:t>– uppgift_1/h_1.sql</a:t>
            </a:r>
            <a:endParaRPr lang="sv-SE" sz="3600" dirty="0"/>
          </a:p>
        </p:txBody>
      </p:sp>
      <p:sp>
        <p:nvSpPr>
          <p:cNvPr id="3" name="Content Placeholder 2">
            <a:extLst>
              <a:ext uri="{FF2B5EF4-FFF2-40B4-BE49-F238E27FC236}">
                <a16:creationId xmlns:a16="http://schemas.microsoft.com/office/drawing/2014/main" id="{FED14A56-CE5F-0C39-D9C6-BBD283799029}"/>
              </a:ext>
            </a:extLst>
          </p:cNvPr>
          <p:cNvSpPr>
            <a:spLocks noGrp="1"/>
          </p:cNvSpPr>
          <p:nvPr>
            <p:ph idx="1"/>
          </p:nvPr>
        </p:nvSpPr>
        <p:spPr>
          <a:xfrm>
            <a:off x="604158" y="3034145"/>
            <a:ext cx="6263093" cy="3458730"/>
          </a:xfrm>
        </p:spPr>
        <p:txBody>
          <a:bodyPr>
            <a:noAutofit/>
          </a:bodyPr>
          <a:lstStyle/>
          <a:p>
            <a:pPr marL="0" marR="0">
              <a:buNone/>
            </a:pPr>
            <a:r>
              <a:rPr lang="sv-SE" sz="2000" dirty="0">
                <a:latin typeface="+mj-lt"/>
              </a:rPr>
              <a:t>I denna fråga använder vi aggregeringsfunktionen COUNT och </a:t>
            </a:r>
            <a:r>
              <a:rPr lang="sv-SE" sz="2000" dirty="0" err="1">
                <a:latin typeface="+mj-lt"/>
              </a:rPr>
              <a:t>villkorsuttycket</a:t>
            </a:r>
            <a:r>
              <a:rPr lang="sv-SE" sz="2000" dirty="0">
                <a:latin typeface="+mj-lt"/>
              </a:rPr>
              <a:t> CASE.</a:t>
            </a:r>
            <a:br>
              <a:rPr lang="sv-SE" sz="2000" dirty="0">
                <a:latin typeface="+mj-lt"/>
              </a:rPr>
            </a:br>
            <a:br>
              <a:rPr lang="sv-SE" sz="2000" dirty="0">
                <a:latin typeface="+mj-lt"/>
              </a:rPr>
            </a:br>
            <a:r>
              <a:rPr lang="en-SE" sz="2000" dirty="0">
                <a:solidFill>
                  <a:schemeClr val="accent6"/>
                </a:solidFill>
                <a:latin typeface="+mj-lt"/>
              </a:rPr>
              <a:t> </a:t>
            </a:r>
            <a:r>
              <a:rPr lang="en-SE" sz="2000" b="1" dirty="0">
                <a:solidFill>
                  <a:schemeClr val="accent6"/>
                </a:solidFill>
                <a:latin typeface="+mj-lt"/>
              </a:rPr>
              <a:t>round</a:t>
            </a:r>
            <a:r>
              <a:rPr lang="en-SE" sz="2000" dirty="0">
                <a:solidFill>
                  <a:schemeClr val="accent6"/>
                </a:solidFill>
                <a:latin typeface="+mj-lt"/>
              </a:rPr>
              <a:t>(</a:t>
            </a:r>
            <a:r>
              <a:rPr lang="en-SE" sz="2000" b="1" dirty="0">
                <a:solidFill>
                  <a:schemeClr val="accent6"/>
                </a:solidFill>
                <a:latin typeface="+mj-lt"/>
              </a:rPr>
              <a:t>COUNT</a:t>
            </a:r>
            <a:r>
              <a:rPr lang="en-SE" sz="2000" dirty="0">
                <a:solidFill>
                  <a:schemeClr val="accent6"/>
                </a:solidFill>
                <a:latin typeface="+mj-lt"/>
              </a:rPr>
              <a:t>(CASE WHEN studieform = 'Bunden' THEN 1 END) * 100.0 / </a:t>
            </a:r>
            <a:r>
              <a:rPr lang="en-SE" sz="2000" b="1" dirty="0">
                <a:solidFill>
                  <a:schemeClr val="accent6"/>
                </a:solidFill>
                <a:latin typeface="+mj-lt"/>
              </a:rPr>
              <a:t>COUNT</a:t>
            </a:r>
            <a:r>
              <a:rPr lang="en-SE" sz="2000" dirty="0">
                <a:solidFill>
                  <a:schemeClr val="accent6"/>
                </a:solidFill>
                <a:latin typeface="+mj-lt"/>
              </a:rPr>
              <a:t>(*),2) AS "Andel Bundna”.</a:t>
            </a:r>
          </a:p>
          <a:p>
            <a:pPr marL="0" indent="0">
              <a:buNone/>
            </a:pPr>
            <a:r>
              <a:rPr lang="en-SE" sz="2000" dirty="0">
                <a:latin typeface="+mj-lt"/>
              </a:rPr>
              <a:t>På ren svenska:</a:t>
            </a:r>
            <a:br>
              <a:rPr lang="en-SE" sz="2000" dirty="0">
                <a:latin typeface="+mj-lt"/>
              </a:rPr>
            </a:br>
            <a:r>
              <a:rPr lang="en-SE" sz="2000" dirty="0">
                <a:latin typeface="+mj-lt"/>
              </a:rPr>
              <a:t>För varje rad där studieformen är ”Bunden” returnerar CASE värdet 1, annars NULL. COUNT räknar sedan alla värden som inte är NULL. Antalet multipliceras med 100 och delas med det totala antalet rader inom utbildningsområdet. Slutligen avrundas resultatet till två decimaler.</a:t>
            </a:r>
          </a:p>
        </p:txBody>
      </p:sp>
      <p:pic>
        <p:nvPicPr>
          <p:cNvPr id="4" name="Picture 3">
            <a:extLst>
              <a:ext uri="{FF2B5EF4-FFF2-40B4-BE49-F238E27FC236}">
                <a16:creationId xmlns:a16="http://schemas.microsoft.com/office/drawing/2014/main" id="{E33AD26D-82A5-4667-2708-E4E24EFC242B}"/>
              </a:ext>
            </a:extLst>
          </p:cNvPr>
          <p:cNvPicPr>
            <a:picLocks noChangeAspect="1"/>
          </p:cNvPicPr>
          <p:nvPr/>
        </p:nvPicPr>
        <p:blipFill>
          <a:blip r:embed="rId2"/>
          <a:stretch>
            <a:fillRect/>
          </a:stretch>
        </p:blipFill>
        <p:spPr>
          <a:xfrm>
            <a:off x="6948076" y="1307609"/>
            <a:ext cx="5186204" cy="2301006"/>
          </a:xfrm>
          <a:prstGeom prst="rect">
            <a:avLst/>
          </a:prstGeom>
        </p:spPr>
      </p:pic>
      <p:pic>
        <p:nvPicPr>
          <p:cNvPr id="5" name="Picture 4">
            <a:extLst>
              <a:ext uri="{FF2B5EF4-FFF2-40B4-BE49-F238E27FC236}">
                <a16:creationId xmlns:a16="http://schemas.microsoft.com/office/drawing/2014/main" id="{7B6FC063-2DDE-A223-3824-241518CD515A}"/>
              </a:ext>
            </a:extLst>
          </p:cNvPr>
          <p:cNvPicPr>
            <a:picLocks noChangeAspect="1"/>
          </p:cNvPicPr>
          <p:nvPr/>
        </p:nvPicPr>
        <p:blipFill>
          <a:blip r:embed="rId3"/>
          <a:stretch>
            <a:fillRect/>
          </a:stretch>
        </p:blipFill>
        <p:spPr>
          <a:xfrm>
            <a:off x="6867251" y="3354740"/>
            <a:ext cx="5347855" cy="3562817"/>
          </a:xfrm>
          <a:prstGeom prst="rect">
            <a:avLst/>
          </a:prstGeom>
        </p:spPr>
      </p:pic>
    </p:spTree>
    <p:extLst>
      <p:ext uri="{BB962C8B-B14F-4D97-AF65-F5344CB8AC3E}">
        <p14:creationId xmlns:p14="http://schemas.microsoft.com/office/powerpoint/2010/main" val="8923225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50C743-0FAE-7F1A-A7FE-5FB6F8DB62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42E98A-71BA-48AE-2DC5-F44F4B9A070C}"/>
              </a:ext>
            </a:extLst>
          </p:cNvPr>
          <p:cNvSpPr>
            <a:spLocks noGrp="1"/>
          </p:cNvSpPr>
          <p:nvPr>
            <p:ph type="title"/>
          </p:nvPr>
        </p:nvSpPr>
        <p:spPr>
          <a:xfrm>
            <a:off x="604158" y="365125"/>
            <a:ext cx="7147460" cy="2884261"/>
          </a:xfrm>
        </p:spPr>
        <p:txBody>
          <a:bodyPr>
            <a:normAutofit/>
          </a:bodyPr>
          <a:lstStyle/>
          <a:p>
            <a:r>
              <a:rPr lang="sv-SE" dirty="0"/>
              <a:t>Uppgift 1 – grundläggande EDA</a:t>
            </a:r>
            <a:br>
              <a:rPr lang="sv-SE" dirty="0"/>
            </a:br>
            <a:r>
              <a:rPr lang="sv-SE" sz="3200" dirty="0"/>
              <a:t>i) </a:t>
            </a:r>
            <a:r>
              <a:rPr lang="en-SE" sz="3200" dirty="0"/>
              <a:t>Antal utbildningar som innehåller </a:t>
            </a:r>
            <a:br>
              <a:rPr lang="en-SE" sz="3200" dirty="0"/>
            </a:br>
            <a:r>
              <a:rPr lang="en-SE" sz="3200" dirty="0"/>
              <a:t>ordet AI</a:t>
            </a:r>
            <a:br>
              <a:rPr lang="en-SE" sz="3200" dirty="0"/>
            </a:br>
            <a:r>
              <a:rPr lang="en-SE" sz="3200" dirty="0"/>
              <a:t>– uppgift_1/i_1.sql</a:t>
            </a:r>
            <a:endParaRPr lang="sv-SE" sz="3200" dirty="0"/>
          </a:p>
        </p:txBody>
      </p:sp>
      <p:sp>
        <p:nvSpPr>
          <p:cNvPr id="3" name="Content Placeholder 2">
            <a:extLst>
              <a:ext uri="{FF2B5EF4-FFF2-40B4-BE49-F238E27FC236}">
                <a16:creationId xmlns:a16="http://schemas.microsoft.com/office/drawing/2014/main" id="{C5D00C90-11E6-1ABB-C0EE-B904E6B3ADFB}"/>
              </a:ext>
            </a:extLst>
          </p:cNvPr>
          <p:cNvSpPr>
            <a:spLocks noGrp="1"/>
          </p:cNvSpPr>
          <p:nvPr>
            <p:ph idx="1"/>
          </p:nvPr>
        </p:nvSpPr>
        <p:spPr>
          <a:xfrm>
            <a:off x="604158" y="3034145"/>
            <a:ext cx="6263093" cy="3458730"/>
          </a:xfrm>
        </p:spPr>
        <p:txBody>
          <a:bodyPr>
            <a:noAutofit/>
          </a:bodyPr>
          <a:lstStyle/>
          <a:p>
            <a:pPr marL="0">
              <a:buNone/>
            </a:pPr>
            <a:r>
              <a:rPr lang="sv-SE" sz="2400" dirty="0">
                <a:latin typeface="+mj-lt"/>
              </a:rPr>
              <a:t>Här räknar vi antal rader där </a:t>
            </a:r>
            <a:r>
              <a:rPr lang="sv-SE" sz="2400" dirty="0" err="1">
                <a:latin typeface="+mj-lt"/>
              </a:rPr>
              <a:t>utbildningsnamn</a:t>
            </a:r>
            <a:r>
              <a:rPr lang="sv-SE" sz="2400" dirty="0">
                <a:latin typeface="+mj-lt"/>
              </a:rPr>
              <a:t> innehåller ”AI” genom att använda </a:t>
            </a:r>
            <a:r>
              <a:rPr lang="en-SE" sz="2400" dirty="0">
                <a:solidFill>
                  <a:schemeClr val="accent6"/>
                </a:solidFill>
                <a:latin typeface="+mj-lt"/>
              </a:rPr>
              <a:t>WHERE utbildningsnamn LIKE '%AI%’</a:t>
            </a:r>
            <a:r>
              <a:rPr lang="en-SE" sz="2400" dirty="0">
                <a:latin typeface="+mj-lt"/>
              </a:rPr>
              <a:t> </a:t>
            </a:r>
            <a:r>
              <a:rPr lang="en-GB" sz="2400" dirty="0" err="1">
                <a:latin typeface="+mj-lt"/>
              </a:rPr>
              <a:t>som</a:t>
            </a:r>
            <a:r>
              <a:rPr lang="en-GB" sz="2400" dirty="0">
                <a:latin typeface="+mj-lt"/>
              </a:rPr>
              <a:t> </a:t>
            </a:r>
            <a:r>
              <a:rPr lang="en-GB" sz="2400" dirty="0" err="1">
                <a:latin typeface="+mj-lt"/>
              </a:rPr>
              <a:t>villkor</a:t>
            </a:r>
            <a:r>
              <a:rPr lang="en-GB" sz="2400" dirty="0">
                <a:latin typeface="+mj-lt"/>
              </a:rPr>
              <a:t>. </a:t>
            </a:r>
          </a:p>
          <a:p>
            <a:pPr marL="0">
              <a:buNone/>
            </a:pPr>
            <a:br>
              <a:rPr lang="en-GB" sz="2400" dirty="0">
                <a:latin typeface="+mj-lt"/>
              </a:rPr>
            </a:br>
            <a:r>
              <a:rPr lang="en-SE" sz="2400" dirty="0">
                <a:solidFill>
                  <a:schemeClr val="accent6"/>
                </a:solidFill>
                <a:latin typeface="+mj-lt"/>
              </a:rPr>
              <a:t>LIKE</a:t>
            </a:r>
            <a:r>
              <a:rPr lang="en-SE" sz="2400" dirty="0">
                <a:latin typeface="+mj-lt"/>
              </a:rPr>
              <a:t> används för mönstermatchning. Jokertecknen </a:t>
            </a:r>
            <a:r>
              <a:rPr lang="en-SE" sz="2400" dirty="0">
                <a:solidFill>
                  <a:schemeClr val="accent6"/>
                </a:solidFill>
                <a:latin typeface="+mj-lt"/>
              </a:rPr>
              <a:t>%</a:t>
            </a:r>
            <a:r>
              <a:rPr lang="en-SE" sz="2400" dirty="0">
                <a:latin typeface="+mj-lt"/>
              </a:rPr>
              <a:t> gör att vi hittar “AI” oavsett var i utbildningsnamnet teckensekvensen förekommer.</a:t>
            </a:r>
          </a:p>
        </p:txBody>
      </p:sp>
      <p:pic>
        <p:nvPicPr>
          <p:cNvPr id="6" name="Picture 5">
            <a:extLst>
              <a:ext uri="{FF2B5EF4-FFF2-40B4-BE49-F238E27FC236}">
                <a16:creationId xmlns:a16="http://schemas.microsoft.com/office/drawing/2014/main" id="{2E864145-E56A-67E7-CD6E-C714CCC2C824}"/>
              </a:ext>
            </a:extLst>
          </p:cNvPr>
          <p:cNvPicPr>
            <a:picLocks noChangeAspect="1"/>
          </p:cNvPicPr>
          <p:nvPr/>
        </p:nvPicPr>
        <p:blipFill>
          <a:blip r:embed="rId2"/>
          <a:stretch>
            <a:fillRect/>
          </a:stretch>
        </p:blipFill>
        <p:spPr>
          <a:xfrm>
            <a:off x="6593613" y="3771158"/>
            <a:ext cx="5471391" cy="2344882"/>
          </a:xfrm>
          <a:prstGeom prst="rect">
            <a:avLst/>
          </a:prstGeom>
        </p:spPr>
      </p:pic>
      <p:pic>
        <p:nvPicPr>
          <p:cNvPr id="7" name="Picture 6">
            <a:extLst>
              <a:ext uri="{FF2B5EF4-FFF2-40B4-BE49-F238E27FC236}">
                <a16:creationId xmlns:a16="http://schemas.microsoft.com/office/drawing/2014/main" id="{4D137016-9CBE-345A-8FAA-71A269C63319}"/>
              </a:ext>
            </a:extLst>
          </p:cNvPr>
          <p:cNvPicPr>
            <a:picLocks noChangeAspect="1"/>
          </p:cNvPicPr>
          <p:nvPr/>
        </p:nvPicPr>
        <p:blipFill>
          <a:blip r:embed="rId3"/>
          <a:stretch>
            <a:fillRect/>
          </a:stretch>
        </p:blipFill>
        <p:spPr>
          <a:xfrm>
            <a:off x="6421223" y="1339932"/>
            <a:ext cx="5816172" cy="3065813"/>
          </a:xfrm>
          <a:prstGeom prst="rect">
            <a:avLst/>
          </a:prstGeom>
        </p:spPr>
      </p:pic>
    </p:spTree>
    <p:extLst>
      <p:ext uri="{BB962C8B-B14F-4D97-AF65-F5344CB8AC3E}">
        <p14:creationId xmlns:p14="http://schemas.microsoft.com/office/powerpoint/2010/main" val="27670506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43D31A-7A9D-4E26-AEFD-9711544F1F4F}"/>
              </a:ext>
            </a:extLst>
          </p:cNvPr>
          <p:cNvSpPr>
            <a:spLocks noGrp="1"/>
          </p:cNvSpPr>
          <p:nvPr>
            <p:ph type="title"/>
          </p:nvPr>
        </p:nvSpPr>
        <p:spPr/>
        <p:txBody>
          <a:bodyPr/>
          <a:lstStyle/>
          <a:p>
            <a:r>
              <a:rPr lang="sv-SE" dirty="0"/>
              <a:t>Uppgift 2 – Intervjua Domänexpert</a:t>
            </a:r>
          </a:p>
        </p:txBody>
      </p:sp>
      <p:sp>
        <p:nvSpPr>
          <p:cNvPr id="3" name="Content Placeholder 2">
            <a:extLst>
              <a:ext uri="{FF2B5EF4-FFF2-40B4-BE49-F238E27FC236}">
                <a16:creationId xmlns:a16="http://schemas.microsoft.com/office/drawing/2014/main" id="{91E2A04C-D413-4247-E202-8C300D820F20}"/>
              </a:ext>
            </a:extLst>
          </p:cNvPr>
          <p:cNvSpPr>
            <a:spLocks noGrp="1"/>
          </p:cNvSpPr>
          <p:nvPr>
            <p:ph idx="1"/>
          </p:nvPr>
        </p:nvSpPr>
        <p:spPr/>
        <p:txBody>
          <a:bodyPr/>
          <a:lstStyle/>
          <a:p>
            <a:pPr marL="0" indent="0">
              <a:buNone/>
            </a:pPr>
            <a:r>
              <a:rPr lang="sv-SE" dirty="0"/>
              <a:t>Efter intervju med </a:t>
            </a:r>
            <a:r>
              <a:rPr lang="sv-SE" dirty="0" err="1"/>
              <a:t>stakeholder</a:t>
            </a:r>
            <a:r>
              <a:rPr lang="sv-SE" dirty="0"/>
              <a:t> är det etablerat att målet med datadriven analys är att hitta information om vilka utbildningar som har störst chans att bli beviljade, och varför. Utslagskriterier kan vara av geografisk, områdesmässig, omfattningsmässig och inriktningsmässig natur.</a:t>
            </a:r>
          </a:p>
          <a:p>
            <a:pPr marL="0" indent="0">
              <a:buNone/>
            </a:pPr>
            <a:br>
              <a:rPr lang="sv-SE" dirty="0"/>
            </a:br>
            <a:r>
              <a:rPr lang="sv-SE" dirty="0"/>
              <a:t>The </a:t>
            </a:r>
            <a:r>
              <a:rPr lang="sv-SE" dirty="0" err="1"/>
              <a:t>Skool</a:t>
            </a:r>
            <a:r>
              <a:rPr lang="sv-SE" dirty="0"/>
              <a:t> har inga begränsningar inom ovan nämnda områden.</a:t>
            </a:r>
          </a:p>
        </p:txBody>
      </p:sp>
    </p:spTree>
    <p:extLst>
      <p:ext uri="{BB962C8B-B14F-4D97-AF65-F5344CB8AC3E}">
        <p14:creationId xmlns:p14="http://schemas.microsoft.com/office/powerpoint/2010/main" val="11390386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8DFE2-CFCC-7129-309A-730EA36D0B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A2F07A-09BE-C89B-1A65-240670EDC834}"/>
              </a:ext>
            </a:extLst>
          </p:cNvPr>
          <p:cNvSpPr>
            <a:spLocks noGrp="1"/>
          </p:cNvSpPr>
          <p:nvPr>
            <p:ph type="title"/>
          </p:nvPr>
        </p:nvSpPr>
        <p:spPr/>
        <p:txBody>
          <a:bodyPr/>
          <a:lstStyle/>
          <a:p>
            <a:r>
              <a:rPr lang="sv-SE" dirty="0"/>
              <a:t>Uppgift 3 – </a:t>
            </a:r>
            <a:r>
              <a:rPr lang="sv-SE"/>
              <a:t>Datadrivna beslut</a:t>
            </a:r>
            <a:endParaRPr lang="sv-SE" dirty="0"/>
          </a:p>
        </p:txBody>
      </p:sp>
      <p:sp>
        <p:nvSpPr>
          <p:cNvPr id="3" name="Content Placeholder 2">
            <a:extLst>
              <a:ext uri="{FF2B5EF4-FFF2-40B4-BE49-F238E27FC236}">
                <a16:creationId xmlns:a16="http://schemas.microsoft.com/office/drawing/2014/main" id="{D3A2B66C-C0FB-74A4-FA0D-61F23E9FD7D1}"/>
              </a:ext>
            </a:extLst>
          </p:cNvPr>
          <p:cNvSpPr>
            <a:spLocks noGrp="1"/>
          </p:cNvSpPr>
          <p:nvPr>
            <p:ph idx="1"/>
          </p:nvPr>
        </p:nvSpPr>
        <p:spPr/>
        <p:txBody>
          <a:bodyPr/>
          <a:lstStyle/>
          <a:p>
            <a:pPr marL="0" indent="0">
              <a:buNone/>
            </a:pPr>
            <a:r>
              <a:rPr lang="sv-SE" dirty="0"/>
              <a:t>Efter intervju med </a:t>
            </a:r>
            <a:r>
              <a:rPr lang="sv-SE" dirty="0" err="1"/>
              <a:t>stakeholder</a:t>
            </a:r>
            <a:r>
              <a:rPr lang="sv-SE" dirty="0"/>
              <a:t> är det etablerat att målet med datadriven analys är att hitta information om vilka utbildningar som har störst chans att bli beviljade, och varför. Utslagskriterier kan vara av geografisk, områdesmässig, omfattningsmässig och inriktningsmässig natur.</a:t>
            </a:r>
          </a:p>
          <a:p>
            <a:pPr marL="0" indent="0">
              <a:buNone/>
            </a:pPr>
            <a:br>
              <a:rPr lang="sv-SE" dirty="0"/>
            </a:br>
            <a:r>
              <a:rPr lang="sv-SE" dirty="0"/>
              <a:t>The </a:t>
            </a:r>
            <a:r>
              <a:rPr lang="sv-SE" dirty="0" err="1"/>
              <a:t>Skool</a:t>
            </a:r>
            <a:r>
              <a:rPr lang="sv-SE" dirty="0"/>
              <a:t> har inga begränsningar inom ovan nämnda områden.</a:t>
            </a:r>
          </a:p>
        </p:txBody>
      </p:sp>
    </p:spTree>
    <p:extLst>
      <p:ext uri="{BB962C8B-B14F-4D97-AF65-F5344CB8AC3E}">
        <p14:creationId xmlns:p14="http://schemas.microsoft.com/office/powerpoint/2010/main" val="338845909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436</TotalTime>
  <Words>1005</Words>
  <Application>Microsoft Macintosh PowerPoint</Application>
  <PresentationFormat>Widescreen</PresentationFormat>
  <Paragraphs>38</Paragraphs>
  <Slides>13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Aptos</vt:lpstr>
      <vt:lpstr>Aptos Display</vt:lpstr>
      <vt:lpstr>Arial</vt:lpstr>
      <vt:lpstr>Office Theme</vt:lpstr>
      <vt:lpstr>The Skool – Jens Dossel</vt:lpstr>
      <vt:lpstr>Uppgift 0 - uppvärmning </vt:lpstr>
      <vt:lpstr>Uppgift 1 – grundläggande EDA a) Antal ansökningar per utbildningsområde, sorterat på flest ansökningar – uppgift_1/a_1.sql</vt:lpstr>
      <vt:lpstr>Uppgift 1 – grundläggande EDA b) Antal BEVILJADE ansökningar per utbildningsområde– uppgift_1/b_1.sql</vt:lpstr>
      <vt:lpstr>Uppgift 1 – grundläggande EDA c) Antal AVSLAGNA ansökningar per utbildningsområde– uppgift_1/c_1.sql</vt:lpstr>
      <vt:lpstr>Uppgift 1 – grundläggande EDA d) Antal BEVILJADE ansökningar per utbildningsnamn inom Data/IT – uppgift_1/d_1.sql</vt:lpstr>
      <vt:lpstr>Uppgift 1 – grundläggande EDA e) Antal AVSLAGNA ansökningar per utbildningsnamn inom Data/IT – uppgift_1/e_1.sql</vt:lpstr>
      <vt:lpstr>Uppgift 1 – grundläggande EDA f) Antal BEVILJADE ansökningar per utbildningsandordnare administrativ enhet och utbildningsnamn inom Data/IT – uppgift_1/f_1.sql</vt:lpstr>
      <vt:lpstr>Uppgift 1 – grundläggande EDA g) Topp 5 län efter antal beviljade ansökningar – uppgift_1/g_1.sql</vt:lpstr>
      <vt:lpstr>Uppgift 1 – grundläggande EDA h) Andel distans och andel bundna utbildningar inom respektive utbildingsområde – uppgift_1/h_1.sql</vt:lpstr>
      <vt:lpstr>Uppgift 1 – grundläggande EDA i) Antal utbildningar som innehåller  ordet AI – uppgift_1/i_1.sql</vt:lpstr>
      <vt:lpstr>Uppgift 2 – Intervjua Domänexpert</vt:lpstr>
      <vt:lpstr>Uppgift 3 – Datadrivna beslut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Jens Dossel (student syh)</dc:creator>
  <cp:lastModifiedBy>Jens Dossel (student syh)</cp:lastModifiedBy>
  <cp:revision>6</cp:revision>
  <dcterms:created xsi:type="dcterms:W3CDTF">2026-10-19T14:14:52Z</dcterms:created>
  <dcterms:modified xsi:type="dcterms:W3CDTF">2026-10-21T16:54:29Z</dcterms:modified>
</cp:coreProperties>
</file>