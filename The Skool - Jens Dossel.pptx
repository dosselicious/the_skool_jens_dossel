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24"/>
    <p:restoredTop sz="94654"/>
  </p:normalViewPr>
  <p:slideViewPr>
    <p:cSldViewPr snapToGrid="0">
      <p:cViewPr varScale="1">
        <p:scale>
          <a:sx n="62" d="100"/>
          <a:sy n="62" d="100"/>
        </p:scale>
        <p:origin x="216" y="1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E09E2-6289-3DED-6D12-1C463FDBB5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F5EEFE-A772-14D3-2060-DB1637AFD7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2BAA9-6BD3-EDEA-110E-64DAEB673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2026-10-21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B6CC1-84E1-F493-7FC0-D33F5CE95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030DF-2413-110F-6E58-F15D372A8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36804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2163-0857-75B0-2326-864500EA4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782F4-2840-09EF-C87C-0A18D3C58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16A0D-2FC5-F983-AACE-D653FAC8F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2026-10-21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0BA05-6FBC-A97D-503C-FED7CAC6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02B9D-2BB0-3045-AA70-D11FD2C1F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21756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29A44-3634-C479-B915-6FC8937B8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335C92-48C3-E649-453F-001985A99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C179E4-FED1-D2E5-69FB-0E608A153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2026-10-21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DA4B98-204A-CD0F-A83F-EE901C56B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5230D2-435B-8689-90C3-7BCC64C4A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97645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B66A9-3A3E-081F-822E-9CA65CA1A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AD2CD-0BA7-EFC3-F237-06243FBC91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FDCC55-7106-4D88-E6A2-1BCC2170B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78F9B3-11CC-5815-86D9-F8047A086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2026-10-21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12DD-6E9C-5B33-A48E-7302060B5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2624D8-6B78-59A2-EF3F-AFAE5552A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94554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61979-647C-A367-827A-9B7D1C2F9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E1AE7-BDB0-EF3C-A5DE-81E773301D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306028-258F-40FC-A883-BD57F21D04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22F79D-951F-C3C8-AEB7-880A2F5542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A07888-2C15-105F-C1C7-8EEA98EAA7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119C60-90D6-C277-C96D-F2FC2ADCA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2026-10-21</a:t>
            </a:fld>
            <a:endParaRPr lang="sv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642565-2743-34AA-CB75-27F76B861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0B839B-C5C2-81D2-A039-8687BB40B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33370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03D8A-F167-F737-4B5F-9664767FF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4C3AF5-A573-1CB7-FA5E-1EFB086C0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2026-10-21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199372-1FFA-53AF-7F3B-A0E8B69B7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6FA504-A464-DFBA-544A-4680A5BAF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85557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83532A-AA9A-8E5A-D5D8-7A2B89026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2026-10-21</a:t>
            </a:fld>
            <a:endParaRPr lang="sv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CC9E77-FE38-E778-80BD-6F0FFFB21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B2826-6704-FDE1-2488-EB5A7867E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7898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F2EE6-5683-4700-D0C3-DA34151FD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9F4D1-A1DE-6CCF-8CF3-BA1809C7D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B4F5A9-A48B-E99C-EBDF-5132AA5294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0931F9-FCEE-D643-24FB-95B72D04A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2026-10-21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AB59A5-8CBD-1B6B-C1F1-D6A9251DF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802E0A-A627-D54F-8BC6-6A5A81A7C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97316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48EEC-0251-F60D-EF53-C84175472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20BF07-EBA0-1625-CDF7-67BF5CFD3EE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632E95-0ED4-CA98-212B-945526448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D49166-D148-0FBC-897D-BCDEE8676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2026-10-21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62F951-71B8-3212-03A0-2559A47B9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42061A-47EF-E2B7-1E26-3634DB7FA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98668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A3CC2-AD2C-978D-86AF-963B17C3D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D90E29-5151-FACB-1CF6-BE5D9663B3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2A40A-FA9D-BC86-80FD-25416BAE8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2026-10-21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34179-29A9-80B9-4667-970F85FA4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FD9AFE-EFE8-EB00-C5FE-79D0A346E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55910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59448-6140-68D1-180D-6A98739917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580AC4-4A67-8E3A-7DE1-262D1F6F3F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EE54B-06BE-9DFA-7BB4-ADEA54953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2026-10-21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9FBAD-33A7-3CC1-DF5A-C7736CBDB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8C652-2324-FF9E-4C61-4B57F1E68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35992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8459DB-DD70-413F-A495-D305162B3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F297E-8245-1517-9E30-E91C388D7F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C2CCC-007E-2FBA-B5F3-99BF457148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16D705-C0C0-2245-8918-EBC3ED83AE9D}" type="datetimeFigureOut">
              <a:rPr lang="sv-SE" smtClean="0"/>
              <a:t>2026-10-21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51510-5640-49F6-A4EF-DC19565EC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945A5-B5D3-88CE-082E-B92722FE40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7146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git@github.com:dosselicious/the_skool_jens_dossel.git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4DBD8-733C-FBB4-C7C4-A25FFB0663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 dirty="0"/>
              <a:t>The </a:t>
            </a:r>
            <a:r>
              <a:rPr lang="sv-SE" dirty="0" err="1"/>
              <a:t>Skool</a:t>
            </a:r>
            <a:r>
              <a:rPr lang="sv-SE" dirty="0"/>
              <a:t> – Jens Dossel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11707-E037-C1E0-09C9-D4A77413A3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 dirty="0"/>
              <a:t>Lab i SQL1</a:t>
            </a:r>
          </a:p>
        </p:txBody>
      </p:sp>
    </p:spTree>
    <p:extLst>
      <p:ext uri="{BB962C8B-B14F-4D97-AF65-F5344CB8AC3E}">
        <p14:creationId xmlns:p14="http://schemas.microsoft.com/office/powerpoint/2010/main" val="3402290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881FE-13F5-0AE7-1E7C-6E31E348E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b="1" dirty="0"/>
              <a:t>Uppgift 0 - uppvärmning</a:t>
            </a:r>
            <a:br>
              <a:rPr lang="en-SE" dirty="0"/>
            </a:br>
            <a:endParaRPr lang="sv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E67A4-1A28-0B0C-5412-37E2AB7DE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sv-SE" dirty="0"/>
              <a:t>Skapade </a:t>
            </a:r>
            <a:r>
              <a:rPr lang="sv-SE" dirty="0" err="1"/>
              <a:t>repot</a:t>
            </a:r>
            <a:r>
              <a:rPr lang="sv-SE" dirty="0"/>
              <a:t> i </a:t>
            </a:r>
            <a:r>
              <a:rPr lang="sv-SE" dirty="0" err="1"/>
              <a:t>Github</a:t>
            </a:r>
            <a:endParaRPr lang="sv-SE" dirty="0"/>
          </a:p>
          <a:p>
            <a:r>
              <a:rPr lang="sv-SE" dirty="0"/>
              <a:t>Klonade det tomma </a:t>
            </a:r>
            <a:r>
              <a:rPr lang="sv-SE" dirty="0" err="1"/>
              <a:t>repot</a:t>
            </a:r>
            <a:r>
              <a:rPr lang="sv-SE" dirty="0"/>
              <a:t> till </a:t>
            </a:r>
            <a:r>
              <a:rPr lang="sv-SE" dirty="0" err="1"/>
              <a:t>vm:</a:t>
            </a:r>
            <a:r>
              <a:rPr lang="sv-SE" dirty="0"/>
              <a:t> </a:t>
            </a:r>
            <a:r>
              <a:rPr lang="en-SE" dirty="0">
                <a:solidFill>
                  <a:schemeClr val="accent6"/>
                </a:solidFill>
              </a:rPr>
              <a:t>git clone </a:t>
            </a:r>
            <a:r>
              <a:rPr lang="en-SE" dirty="0">
                <a:solidFill>
                  <a:srgbClr val="46788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git@github.com:dosselicious/the_skool_jens_dossel.</a:t>
            </a:r>
            <a:r>
              <a:rPr lang="en-SE" dirty="0">
                <a:solidFill>
                  <a:schemeClr val="accent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</a:t>
            </a:r>
            <a:br>
              <a:rPr lang="en-SE" dirty="0">
                <a:solidFill>
                  <a:schemeClr val="accent6"/>
                </a:solidFill>
              </a:rPr>
            </a:br>
            <a:r>
              <a:rPr lang="en-SE" dirty="0">
                <a:solidFill>
                  <a:schemeClr val="accent6"/>
                </a:solidFill>
              </a:rPr>
              <a:t>cd the_skool_jens_dossel</a:t>
            </a:r>
          </a:p>
          <a:p>
            <a:r>
              <a:rPr lang="en-GB" dirty="0"/>
              <a:t>S</a:t>
            </a:r>
            <a:r>
              <a:rPr lang="en-SE" dirty="0"/>
              <a:t>kapade .gitignore för att slippa swap-filer och macos metadata.</a:t>
            </a:r>
          </a:p>
          <a:p>
            <a:r>
              <a:rPr lang="sv-SE" dirty="0"/>
              <a:t>Gjorde första </a:t>
            </a:r>
            <a:r>
              <a:rPr lang="sv-SE" dirty="0" err="1"/>
              <a:t>commit</a:t>
            </a:r>
            <a:r>
              <a:rPr lang="sv-SE" dirty="0"/>
              <a:t>.</a:t>
            </a:r>
          </a:p>
          <a:p>
            <a:r>
              <a:rPr lang="sv-SE" dirty="0"/>
              <a:t>Laddade ner och rensade data-filen i </a:t>
            </a:r>
            <a:r>
              <a:rPr lang="sv-SE" dirty="0" err="1"/>
              <a:t>excel</a:t>
            </a:r>
            <a:r>
              <a:rPr lang="sv-SE" dirty="0"/>
              <a:t>, och skickade den sedan till </a:t>
            </a:r>
            <a:r>
              <a:rPr lang="sv-SE" dirty="0" err="1"/>
              <a:t>repot</a:t>
            </a:r>
            <a:r>
              <a:rPr lang="sv-SE" dirty="0"/>
              <a:t>: </a:t>
            </a:r>
            <a:r>
              <a:rPr lang="sv-SE" dirty="0" err="1">
                <a:solidFill>
                  <a:schemeClr val="accent6"/>
                </a:solidFill>
              </a:rPr>
              <a:t>scp</a:t>
            </a:r>
            <a:r>
              <a:rPr lang="sv-SE" dirty="0">
                <a:solidFill>
                  <a:schemeClr val="accent6"/>
                </a:solidFill>
              </a:rPr>
              <a:t> ~/</a:t>
            </a:r>
            <a:r>
              <a:rPr lang="sv-SE" dirty="0" err="1">
                <a:solidFill>
                  <a:schemeClr val="accent6"/>
                </a:solidFill>
              </a:rPr>
              <a:t>Downloads</a:t>
            </a:r>
            <a:r>
              <a:rPr lang="sv-SE" dirty="0">
                <a:solidFill>
                  <a:schemeClr val="accent6"/>
                </a:solidFill>
              </a:rPr>
              <a:t>/</a:t>
            </a:r>
            <a:r>
              <a:rPr lang="sv-SE" dirty="0" err="1">
                <a:solidFill>
                  <a:schemeClr val="accent6"/>
                </a:solidFill>
              </a:rPr>
              <a:t>data_lab.xlsx</a:t>
            </a:r>
            <a:r>
              <a:rPr lang="sv-SE" dirty="0">
                <a:solidFill>
                  <a:schemeClr val="accent6"/>
                </a:solidFill>
              </a:rPr>
              <a:t> </a:t>
            </a:r>
            <a:r>
              <a:rPr lang="sv-SE" dirty="0" err="1">
                <a:solidFill>
                  <a:schemeClr val="accent6"/>
                </a:solidFill>
              </a:rPr>
              <a:t>oracle</a:t>
            </a:r>
            <a:r>
              <a:rPr lang="sv-SE" dirty="0">
                <a:solidFill>
                  <a:schemeClr val="accent6"/>
                </a:solidFill>
              </a:rPr>
              <a:t>:/</a:t>
            </a:r>
            <a:r>
              <a:rPr lang="sv-SE" dirty="0" err="1">
                <a:solidFill>
                  <a:schemeClr val="accent6"/>
                </a:solidFill>
              </a:rPr>
              <a:t>home</a:t>
            </a:r>
            <a:r>
              <a:rPr lang="sv-SE" dirty="0">
                <a:solidFill>
                  <a:schemeClr val="accent6"/>
                </a:solidFill>
              </a:rPr>
              <a:t>/</a:t>
            </a:r>
            <a:r>
              <a:rPr lang="sv-SE" dirty="0" err="1">
                <a:solidFill>
                  <a:schemeClr val="accent6"/>
                </a:solidFill>
              </a:rPr>
              <a:t>jdossel</a:t>
            </a:r>
            <a:r>
              <a:rPr lang="sv-SE" dirty="0">
                <a:solidFill>
                  <a:schemeClr val="accent6"/>
                </a:solidFill>
              </a:rPr>
              <a:t>/</a:t>
            </a:r>
            <a:r>
              <a:rPr lang="sv-SE" dirty="0" err="1">
                <a:solidFill>
                  <a:schemeClr val="accent6"/>
                </a:solidFill>
              </a:rPr>
              <a:t>the_skool_jens_dossel</a:t>
            </a:r>
            <a:r>
              <a:rPr lang="sv-SE" dirty="0">
                <a:solidFill>
                  <a:schemeClr val="accent6"/>
                </a:solidFill>
              </a:rPr>
              <a:t>/</a:t>
            </a:r>
          </a:p>
          <a:p>
            <a:r>
              <a:rPr lang="sv-SE" dirty="0"/>
              <a:t>Skapade databasen i </a:t>
            </a:r>
            <a:r>
              <a:rPr lang="sv-SE" dirty="0" err="1"/>
              <a:t>orac</a:t>
            </a:r>
            <a:r>
              <a:rPr lang="sv-SE" dirty="0"/>
              <a:t>: </a:t>
            </a:r>
            <a:br>
              <a:rPr lang="sv-SE" dirty="0"/>
            </a:br>
            <a:r>
              <a:rPr lang="en-SE" dirty="0">
                <a:solidFill>
                  <a:schemeClr val="accent6"/>
                </a:solidFill>
              </a:rPr>
              <a:t>SQL&gt; set loadformat xlsx</a:t>
            </a:r>
            <a:br>
              <a:rPr lang="en-SE" dirty="0">
                <a:solidFill>
                  <a:schemeClr val="accent6"/>
                </a:solidFill>
              </a:rPr>
            </a:br>
            <a:r>
              <a:rPr lang="en-SE" dirty="0">
                <a:solidFill>
                  <a:schemeClr val="accent6"/>
                </a:solidFill>
              </a:rPr>
              <a:t>SQL&gt; load table data_lab data_lab.xlsx new</a:t>
            </a:r>
          </a:p>
          <a:p>
            <a:r>
              <a:rPr lang="en-SE" dirty="0"/>
              <a:t>Kontrollerade datan:</a:t>
            </a:r>
            <a:br>
              <a:rPr lang="en-SE" dirty="0"/>
            </a:br>
            <a:r>
              <a:rPr lang="en-SE" dirty="0">
                <a:solidFill>
                  <a:schemeClr val="accent6"/>
                </a:solidFill>
              </a:rPr>
              <a:t>SQL&gt; desc data_lab</a:t>
            </a:r>
            <a:br>
              <a:rPr lang="en-SE" dirty="0">
                <a:solidFill>
                  <a:schemeClr val="accent6"/>
                </a:solidFill>
              </a:rPr>
            </a:br>
            <a:r>
              <a:rPr lang="en-SE" dirty="0">
                <a:solidFill>
                  <a:schemeClr val="accent6"/>
                </a:solidFill>
              </a:rPr>
              <a:t>select count(*) from data_lab;</a:t>
            </a:r>
            <a:br>
              <a:rPr lang="en-SE" dirty="0"/>
            </a:br>
            <a:r>
              <a:rPr lang="en-SE" dirty="0"/>
              <a:t>Jag fick med samtliga kolumner och 1184 rader.</a:t>
            </a:r>
          </a:p>
          <a:p>
            <a:endParaRPr lang="en-SE" dirty="0"/>
          </a:p>
          <a:p>
            <a:endParaRPr lang="en-SE" dirty="0"/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57978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D189C-ACC6-1EB8-4052-75DC26FAE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920875"/>
          </a:xfrm>
        </p:spPr>
        <p:txBody>
          <a:bodyPr>
            <a:normAutofit/>
          </a:bodyPr>
          <a:lstStyle/>
          <a:p>
            <a:r>
              <a:rPr lang="sv-SE" dirty="0"/>
              <a:t>Uppgift 1 – grundläggande EDA</a:t>
            </a:r>
            <a:br>
              <a:rPr lang="sv-SE" dirty="0"/>
            </a:br>
            <a:r>
              <a:rPr lang="sv-SE" sz="3600" dirty="0"/>
              <a:t>a) </a:t>
            </a:r>
            <a:r>
              <a:rPr lang="en-SE" sz="3600" dirty="0"/>
              <a:t>Antal ansökningar per utbildningsområde, sorterat på flest ansökningar – uppgift_1</a:t>
            </a:r>
            <a:r>
              <a:rPr lang="en-SE" sz="3600"/>
              <a:t>/a_1.</a:t>
            </a:r>
            <a:r>
              <a:rPr lang="en-SE" sz="3600" dirty="0"/>
              <a:t>sql</a:t>
            </a:r>
            <a:endParaRPr lang="sv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0E61C-3AD8-B1E3-C1D4-C08FF6060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30549"/>
            <a:ext cx="6860059" cy="3646414"/>
          </a:xfrm>
        </p:spPr>
        <p:txBody>
          <a:bodyPr/>
          <a:lstStyle/>
          <a:p>
            <a:pPr marL="0" indent="0">
              <a:buNone/>
            </a:pPr>
            <a:r>
              <a:rPr lang="sv-SE" dirty="0"/>
              <a:t>Jag valde att se utbildningsområde och </a:t>
            </a:r>
            <a:r>
              <a:rPr lang="sv-SE" dirty="0" err="1"/>
              <a:t>count</a:t>
            </a:r>
            <a:r>
              <a:rPr lang="sv-SE" dirty="0"/>
              <a:t>(*) som antal från </a:t>
            </a:r>
            <a:r>
              <a:rPr lang="sv-SE" dirty="0" err="1"/>
              <a:t>data_lab</a:t>
            </a:r>
            <a:r>
              <a:rPr lang="sv-SE" dirty="0"/>
              <a:t>, och genom att gruppera på utbildningsområde får jag antal ansökningar, eller rader, per område. Sorterar på antal fallande. </a:t>
            </a:r>
            <a:br>
              <a:rPr lang="sv-SE" dirty="0"/>
            </a:br>
            <a:r>
              <a:rPr lang="sv-SE" dirty="0"/>
              <a:t>Scriptet avslutar </a:t>
            </a:r>
            <a:r>
              <a:rPr lang="sv-SE" dirty="0" err="1"/>
              <a:t>orac</a:t>
            </a:r>
            <a:r>
              <a:rPr lang="sv-SE" dirty="0"/>
              <a:t> med exit.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6105F8-0D7B-3FF7-C4B5-9C0460EA2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5459" y="1676517"/>
            <a:ext cx="4531766" cy="26187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A38C61-8E4C-2424-1392-28595A489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422" y="3677364"/>
            <a:ext cx="4531766" cy="3353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34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ED477-5BCD-2DC5-4D7D-AAE0738AA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AFBE9-034D-4178-F643-FFA349056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920875"/>
          </a:xfrm>
        </p:spPr>
        <p:txBody>
          <a:bodyPr>
            <a:normAutofit/>
          </a:bodyPr>
          <a:lstStyle/>
          <a:p>
            <a:r>
              <a:rPr lang="sv-SE" dirty="0"/>
              <a:t>Uppgift 1 – grundläggande EDA</a:t>
            </a:r>
            <a:br>
              <a:rPr lang="sv-SE" dirty="0"/>
            </a:br>
            <a:r>
              <a:rPr lang="sv-SE" sz="3200" dirty="0"/>
              <a:t>b) </a:t>
            </a:r>
            <a:r>
              <a:rPr lang="en-SE" sz="3200" dirty="0"/>
              <a:t>Antal BEVILJADE ansökningar per utbildningsområde– uppgift_1/b_1.sql</a:t>
            </a:r>
            <a:endParaRPr lang="sv-SE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2EE3D-0990-C53E-8D09-EAABD306F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30549"/>
            <a:ext cx="6860059" cy="3646414"/>
          </a:xfrm>
        </p:spPr>
        <p:txBody>
          <a:bodyPr/>
          <a:lstStyle/>
          <a:p>
            <a:pPr marL="0" indent="0">
              <a:buNone/>
            </a:pPr>
            <a:r>
              <a:rPr lang="sv-SE" dirty="0"/>
              <a:t>För att endast se de beviljade ansökningarna lade jag till villkoret att Beslut ska vara lika med ”Beviljad”.</a:t>
            </a:r>
            <a:br>
              <a:rPr lang="sv-SE" dirty="0"/>
            </a:br>
            <a:br>
              <a:rPr lang="sv-SE" dirty="0"/>
            </a:br>
            <a:r>
              <a:rPr lang="en-SE" dirty="0">
                <a:solidFill>
                  <a:schemeClr val="accent6"/>
                </a:solidFill>
              </a:rPr>
              <a:t>where Beslut = 'Beviljad'</a:t>
            </a:r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67C239-9839-FF77-E65C-232E7FADA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7854" y="1539556"/>
            <a:ext cx="4531766" cy="26187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AD6A94-99FB-0648-F92A-1BB390609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854" y="3592200"/>
            <a:ext cx="4531766" cy="3353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803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6EA71-12A4-DDB8-D3C4-759E7A207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9D416-68BF-6479-6DF1-79AC31708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920875"/>
          </a:xfrm>
        </p:spPr>
        <p:txBody>
          <a:bodyPr>
            <a:normAutofit/>
          </a:bodyPr>
          <a:lstStyle/>
          <a:p>
            <a:r>
              <a:rPr lang="sv-SE" dirty="0"/>
              <a:t>Uppgift 1 – grundläggande EDA</a:t>
            </a:r>
            <a:br>
              <a:rPr lang="sv-SE" dirty="0"/>
            </a:br>
            <a:r>
              <a:rPr lang="sv-SE" sz="3200" dirty="0"/>
              <a:t>c) </a:t>
            </a:r>
            <a:r>
              <a:rPr lang="en-SE" sz="3200" dirty="0"/>
              <a:t>Antal AVSLAGNA ansökningar per utbildningsområde– uppgift_1/c_1.sql</a:t>
            </a:r>
            <a:endParaRPr lang="sv-SE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9F7D4-247D-BE80-BD3B-C77C44E595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30549"/>
            <a:ext cx="6860059" cy="3646414"/>
          </a:xfrm>
        </p:spPr>
        <p:txBody>
          <a:bodyPr/>
          <a:lstStyle/>
          <a:p>
            <a:pPr marL="0" indent="0">
              <a:buNone/>
            </a:pPr>
            <a:r>
              <a:rPr lang="sv-SE" dirty="0"/>
              <a:t>För att endast se de beviljade ansökningarna ändrade jag villkoret till att Beslut ska vara lika med ”Avslag”.</a:t>
            </a:r>
            <a:br>
              <a:rPr lang="sv-SE" dirty="0"/>
            </a:br>
            <a:br>
              <a:rPr lang="sv-SE" dirty="0"/>
            </a:br>
            <a:r>
              <a:rPr lang="en-SE" dirty="0">
                <a:solidFill>
                  <a:schemeClr val="accent6"/>
                </a:solidFill>
              </a:rPr>
              <a:t>where Beslut = ‘Avslag'</a:t>
            </a:r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56442A-7B34-07AC-9D15-C6ABF6590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077" y="1441175"/>
            <a:ext cx="4302037" cy="24810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5B7B49-E9BE-18C6-9D59-8798A2092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6890" y="3611424"/>
            <a:ext cx="4414409" cy="3246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097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EF3DB-B7F9-C0E4-2981-96E310F14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69F0D-A94A-9033-F0D6-EEB1A0C06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26914" cy="1920875"/>
          </a:xfrm>
        </p:spPr>
        <p:txBody>
          <a:bodyPr>
            <a:normAutofit fontScale="90000"/>
          </a:bodyPr>
          <a:lstStyle/>
          <a:p>
            <a:r>
              <a:rPr lang="sv-SE" dirty="0"/>
              <a:t>Uppgift 1 – grundläggande EDA</a:t>
            </a:r>
            <a:br>
              <a:rPr lang="sv-SE" dirty="0"/>
            </a:br>
            <a:r>
              <a:rPr lang="sv-SE" sz="3200" dirty="0"/>
              <a:t>d) </a:t>
            </a:r>
            <a:r>
              <a:rPr lang="en-SE" sz="3600" dirty="0"/>
              <a:t>Antal BEVILJADE ansökningar per utbildningsnamn inom Data/IT</a:t>
            </a:r>
            <a:br>
              <a:rPr lang="en-SE" dirty="0"/>
            </a:br>
            <a:r>
              <a:rPr lang="en-SE" sz="3600" dirty="0"/>
              <a:t>– uppgift_1/d_1.sql</a:t>
            </a:r>
            <a:endParaRPr lang="sv-SE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555AF-AE78-583D-C54F-BCF432625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381" y="4021766"/>
            <a:ext cx="7257946" cy="23932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v-SE" dirty="0"/>
              <a:t>Här väljer jag  </a:t>
            </a:r>
            <a:r>
              <a:rPr lang="sv-SE" dirty="0" err="1">
                <a:solidFill>
                  <a:schemeClr val="accent6"/>
                </a:solidFill>
              </a:rPr>
              <a:t>select</a:t>
            </a:r>
            <a:r>
              <a:rPr lang="sv-SE" dirty="0">
                <a:solidFill>
                  <a:schemeClr val="accent6"/>
                </a:solidFill>
              </a:rPr>
              <a:t> </a:t>
            </a:r>
            <a:r>
              <a:rPr lang="sv-SE" dirty="0" err="1">
                <a:solidFill>
                  <a:schemeClr val="accent6"/>
                </a:solidFill>
              </a:rPr>
              <a:t>utbildningsnamn</a:t>
            </a:r>
            <a:r>
              <a:rPr lang="sv-SE" dirty="0">
                <a:solidFill>
                  <a:schemeClr val="accent6"/>
                </a:solidFill>
              </a:rPr>
              <a:t>, </a:t>
            </a:r>
            <a:r>
              <a:rPr lang="sv-SE" dirty="0" err="1">
                <a:solidFill>
                  <a:schemeClr val="accent6"/>
                </a:solidFill>
              </a:rPr>
              <a:t>count</a:t>
            </a:r>
            <a:r>
              <a:rPr lang="sv-SE" dirty="0">
                <a:solidFill>
                  <a:schemeClr val="accent6"/>
                </a:solidFill>
              </a:rPr>
              <a:t>(*)</a:t>
            </a:r>
            <a:r>
              <a:rPr lang="sv-SE" dirty="0"/>
              <a:t>, lägga till villkoren </a:t>
            </a:r>
            <a:r>
              <a:rPr lang="sv-SE" dirty="0" err="1">
                <a:solidFill>
                  <a:schemeClr val="accent6"/>
                </a:solidFill>
              </a:rPr>
              <a:t>where</a:t>
            </a:r>
            <a:r>
              <a:rPr lang="sv-SE" dirty="0">
                <a:solidFill>
                  <a:schemeClr val="accent6"/>
                </a:solidFill>
              </a:rPr>
              <a:t> Beslut = ’Beviljad’ and utbildningsområde = ’DATA/IT’ </a:t>
            </a:r>
            <a:r>
              <a:rPr lang="sv-SE" dirty="0"/>
              <a:t>samt gruppera på </a:t>
            </a:r>
            <a:r>
              <a:rPr lang="sv-SE" dirty="0" err="1"/>
              <a:t>utbildningsnamn</a:t>
            </a:r>
            <a:r>
              <a:rPr lang="sv-SE" dirty="0"/>
              <a:t>.</a:t>
            </a:r>
            <a:endParaRPr lang="en-SE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1F0852-23F8-86B6-4F0A-0BD4EDCAC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6674" y="1639614"/>
            <a:ext cx="4250832" cy="24515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754650-3F53-A5C2-F6D9-F424072B4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327" y="1639614"/>
            <a:ext cx="4126673" cy="521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46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4757-2946-4785-E87C-DD20DF166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20E96-A1FF-CF1D-5C18-52D992E71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157" y="365125"/>
            <a:ext cx="11260957" cy="1920875"/>
          </a:xfrm>
        </p:spPr>
        <p:txBody>
          <a:bodyPr>
            <a:normAutofit fontScale="90000"/>
          </a:bodyPr>
          <a:lstStyle/>
          <a:p>
            <a:r>
              <a:rPr lang="sv-SE" dirty="0"/>
              <a:t>Uppgift 1 – grundläggande EDA</a:t>
            </a:r>
            <a:br>
              <a:rPr lang="sv-SE" dirty="0"/>
            </a:br>
            <a:r>
              <a:rPr lang="sv-SE" sz="3200" dirty="0"/>
              <a:t>e) </a:t>
            </a:r>
            <a:r>
              <a:rPr lang="en-SE" sz="3600" dirty="0"/>
              <a:t>Antal AVSLAGNA ansökningar per utbildningsnamn inom Data/IT</a:t>
            </a:r>
            <a:br>
              <a:rPr lang="en-SE" dirty="0"/>
            </a:br>
            <a:r>
              <a:rPr lang="en-SE" sz="3600" dirty="0"/>
              <a:t>– uppgift_1/e_1.sql</a:t>
            </a:r>
            <a:endParaRPr lang="sv-SE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90E50A-BD85-E6BF-82BE-7169F08CE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381" y="2286000"/>
            <a:ext cx="6263093" cy="412900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sv-SE" dirty="0"/>
              <a:t>Här började jag med att bara ersätta villkoret från förra frågan från ’Beviljad’ till ’Avslag’, men upptäckte att jag fick flera dubbletter beroende på case (Data </a:t>
            </a:r>
            <a:r>
              <a:rPr lang="sv-SE" dirty="0" err="1"/>
              <a:t>Engineer</a:t>
            </a:r>
            <a:r>
              <a:rPr lang="sv-SE" dirty="0"/>
              <a:t> och Data </a:t>
            </a:r>
            <a:r>
              <a:rPr lang="sv-SE" dirty="0" err="1"/>
              <a:t>engineer</a:t>
            </a:r>
            <a:r>
              <a:rPr lang="sv-SE" dirty="0"/>
              <a:t>) och blanksteg i slutet av utbildningens namn (.Net </a:t>
            </a:r>
            <a:r>
              <a:rPr lang="sv-SE" dirty="0" err="1"/>
              <a:t>Developer</a:t>
            </a:r>
            <a:r>
              <a:rPr lang="sv-SE" dirty="0"/>
              <a:t> och .Net </a:t>
            </a:r>
            <a:r>
              <a:rPr lang="sv-SE" dirty="0" err="1"/>
              <a:t>Developer</a:t>
            </a:r>
            <a:r>
              <a:rPr lang="sv-SE" dirty="0"/>
              <a:t>_), så jag lade till </a:t>
            </a:r>
            <a:r>
              <a:rPr lang="sv-SE" dirty="0" err="1"/>
              <a:t>upper</a:t>
            </a:r>
            <a:r>
              <a:rPr lang="sv-SE" dirty="0"/>
              <a:t> för att göra alla bokstäver till versaler och trim för att ta bort eventuella blanksteg före eller efter namnet.</a:t>
            </a:r>
            <a:br>
              <a:rPr lang="sv-SE" dirty="0"/>
            </a:br>
            <a:r>
              <a:rPr lang="sv-SE" dirty="0"/>
              <a:t>Antal rader i resultatet sjönk då från 135 till 126.</a:t>
            </a:r>
            <a:endParaRPr lang="en-SE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F886B9-0B64-C254-EB27-A1CFD5722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769" y="1398302"/>
            <a:ext cx="5208351" cy="28085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CCB0B3-34F8-6DCB-A032-40078C5D2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92" y="3611563"/>
            <a:ext cx="4908904" cy="19208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C21BC2A-B05B-2E4B-7162-7F580412D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2491" y="4937125"/>
            <a:ext cx="4908905" cy="192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14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90A2-6A4C-8A5B-191D-58F6F782E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9D2F2-085A-5059-D033-6C2C4B2C9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158" y="365125"/>
            <a:ext cx="6678386" cy="2884261"/>
          </a:xfrm>
        </p:spPr>
        <p:txBody>
          <a:bodyPr>
            <a:normAutofit fontScale="90000"/>
          </a:bodyPr>
          <a:lstStyle/>
          <a:p>
            <a:r>
              <a:rPr lang="sv-SE" dirty="0"/>
              <a:t>Uppgift 1 – grundläggande EDA</a:t>
            </a:r>
            <a:br>
              <a:rPr lang="sv-SE" dirty="0"/>
            </a:br>
            <a:r>
              <a:rPr lang="sv-SE" sz="3600" dirty="0"/>
              <a:t>f</a:t>
            </a:r>
            <a:r>
              <a:rPr lang="sv-SE" sz="3200" dirty="0"/>
              <a:t>) </a:t>
            </a:r>
            <a:r>
              <a:rPr lang="en-SE" sz="3600" dirty="0"/>
              <a:t>Antal BEVILJADE ansökningar per utbildningsandordnare administrativ enhet och utbildningsnamn inom Data/IT</a:t>
            </a:r>
            <a:br>
              <a:rPr lang="en-SE" dirty="0"/>
            </a:br>
            <a:r>
              <a:rPr lang="en-SE" sz="3600" dirty="0"/>
              <a:t>– uppgift_1/f_1.sql</a:t>
            </a:r>
            <a:endParaRPr lang="sv-SE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99E33-DA42-C5F7-576A-94BD5061D8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158" y="3608615"/>
            <a:ext cx="6263093" cy="288426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sv-SE" dirty="0"/>
              <a:t>Jag utgick från fråga 1d och lade till utbildningsanordnarens administrativa enhet i SELECT och GROUP BY. Därmed grupperas resultatet efter unika kombinationer av </a:t>
            </a:r>
            <a:r>
              <a:rPr lang="sv-SE" dirty="0" err="1"/>
              <a:t>utbildningsnamn</a:t>
            </a:r>
            <a:r>
              <a:rPr lang="sv-SE" dirty="0"/>
              <a:t> och anordnare. Jag använder UPPER(TRIM()) för att hantera skillnader i stora och små bokstäver samt överflödiga blanksteg.</a:t>
            </a:r>
          </a:p>
          <a:p>
            <a:pPr marL="0" indent="0">
              <a:buNone/>
            </a:pPr>
            <a:endParaRPr lang="en-SE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ECEB34-2D7B-2F96-E95A-B353B74AC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7342" y="709328"/>
            <a:ext cx="4908905" cy="20618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2BEB1A-57E4-C784-525E-9150DE23C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4145" y="2771175"/>
            <a:ext cx="4975301" cy="420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177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C9455-1789-8FBF-256E-1CAC40D60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A8714-4863-2464-053B-48C444B59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158" y="365125"/>
            <a:ext cx="6678386" cy="2884261"/>
          </a:xfrm>
        </p:spPr>
        <p:txBody>
          <a:bodyPr>
            <a:normAutofit/>
          </a:bodyPr>
          <a:lstStyle/>
          <a:p>
            <a:r>
              <a:rPr lang="sv-SE" dirty="0"/>
              <a:t>Uppgift 1 – grundläggande EDA</a:t>
            </a:r>
            <a:br>
              <a:rPr lang="sv-SE" dirty="0"/>
            </a:br>
            <a:r>
              <a:rPr lang="sv-SE" sz="3600" dirty="0"/>
              <a:t>g</a:t>
            </a:r>
            <a:r>
              <a:rPr lang="sv-SE" sz="3200" dirty="0"/>
              <a:t>) </a:t>
            </a:r>
            <a:r>
              <a:rPr lang="en-SE" sz="3600" dirty="0"/>
              <a:t>Topp 5 län efter antal beviljade ansökningar</a:t>
            </a:r>
            <a:br>
              <a:rPr lang="en-SE" dirty="0"/>
            </a:br>
            <a:r>
              <a:rPr lang="en-SE" sz="3600" dirty="0"/>
              <a:t>– uppgift_1/g_1.sql</a:t>
            </a:r>
            <a:endParaRPr lang="sv-SE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6CDCF-2C6E-EA6C-70AE-630AFE72F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158" y="3608615"/>
            <a:ext cx="6263093" cy="288426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sv-SE" dirty="0"/>
              <a:t>En av skillnaderna i denna uppgift mot tidigare är att sortera efter våra räknade rader och därför får vår </a:t>
            </a:r>
            <a:r>
              <a:rPr lang="sv-SE" dirty="0" err="1"/>
              <a:t>count</a:t>
            </a:r>
            <a:r>
              <a:rPr lang="sv-SE" dirty="0"/>
              <a:t>(*) </a:t>
            </a:r>
            <a:r>
              <a:rPr lang="sv-SE"/>
              <a:t>ett kolumnalias, </a:t>
            </a:r>
            <a:r>
              <a:rPr lang="sv-SE" dirty="0"/>
              <a:t>”Beviljade kurser”.</a:t>
            </a:r>
            <a:br>
              <a:rPr lang="sv-SE" dirty="0"/>
            </a:br>
            <a:r>
              <a:rPr lang="sv-SE" dirty="0"/>
              <a:t>En annan är att vi bara vill se topp 5, därav </a:t>
            </a:r>
            <a:r>
              <a:rPr lang="sv-SE" dirty="0" err="1"/>
              <a:t>fetch</a:t>
            </a:r>
            <a:r>
              <a:rPr lang="sv-SE" dirty="0"/>
              <a:t> </a:t>
            </a:r>
            <a:r>
              <a:rPr lang="sv-SE" dirty="0" err="1"/>
              <a:t>first</a:t>
            </a:r>
            <a:r>
              <a:rPr lang="sv-SE" dirty="0"/>
              <a:t> 5 </a:t>
            </a:r>
            <a:r>
              <a:rPr lang="sv-SE" dirty="0" err="1"/>
              <a:t>rows</a:t>
            </a:r>
            <a:r>
              <a:rPr lang="sv-SE" dirty="0"/>
              <a:t> </a:t>
            </a:r>
            <a:r>
              <a:rPr lang="sv-SE" dirty="0" err="1"/>
              <a:t>only</a:t>
            </a:r>
            <a:r>
              <a:rPr lang="sv-SE" dirty="0"/>
              <a:t>.</a:t>
            </a:r>
            <a:br>
              <a:rPr lang="sv-SE" dirty="0"/>
            </a:br>
            <a:br>
              <a:rPr lang="sv-SE" dirty="0"/>
            </a:br>
            <a:r>
              <a:rPr lang="sv-SE" dirty="0"/>
              <a:t>Bonus: Vill vi inte få med ”Flera kommuner” i resultatet, utan endast få faktiska län, kan vi lägga till </a:t>
            </a:r>
            <a:r>
              <a:rPr lang="sv-SE" dirty="0">
                <a:solidFill>
                  <a:schemeClr val="accent6"/>
                </a:solidFill>
              </a:rPr>
              <a:t>AND UPPER(TRIM(län)) &lt;&gt; 'FLERA KOMMUNER’ </a:t>
            </a:r>
            <a:r>
              <a:rPr lang="sv-SE" dirty="0"/>
              <a:t>till vårt </a:t>
            </a:r>
            <a:r>
              <a:rPr lang="sv-SE" dirty="0">
                <a:solidFill>
                  <a:schemeClr val="accent6"/>
                </a:solidFill>
              </a:rPr>
              <a:t>WHERE</a:t>
            </a:r>
            <a:r>
              <a:rPr lang="sv-SE" dirty="0"/>
              <a:t>-villkor.</a:t>
            </a:r>
          </a:p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endParaRPr lang="en-SE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42FA08-5113-889D-9EC8-0EB913942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251" y="365125"/>
            <a:ext cx="5179595" cy="3086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F63862-CA42-AA6D-FCFC-48CF3FA01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3144" y="3057371"/>
            <a:ext cx="5955145" cy="401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81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</TotalTime>
  <Words>695</Words>
  <Application>Microsoft Macintosh PowerPoint</Application>
  <PresentationFormat>Widescreen</PresentationFormat>
  <Paragraphs>26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The Skool – Jens Dossel</vt:lpstr>
      <vt:lpstr>Uppgift 0 - uppvärmning </vt:lpstr>
      <vt:lpstr>Uppgift 1 – grundläggande EDA a) Antal ansökningar per utbildningsområde, sorterat på flest ansökningar – uppgift_1/a_1.sql</vt:lpstr>
      <vt:lpstr>Uppgift 1 – grundläggande EDA b) Antal BEVILJADE ansökningar per utbildningsområde– uppgift_1/b_1.sql</vt:lpstr>
      <vt:lpstr>Uppgift 1 – grundläggande EDA c) Antal AVSLAGNA ansökningar per utbildningsområde– uppgift_1/c_1.sql</vt:lpstr>
      <vt:lpstr>Uppgift 1 – grundläggande EDA d) Antal BEVILJADE ansökningar per utbildningsnamn inom Data/IT – uppgift_1/d_1.sql</vt:lpstr>
      <vt:lpstr>Uppgift 1 – grundläggande EDA e) Antal AVSLAGNA ansökningar per utbildningsnamn inom Data/IT – uppgift_1/e_1.sql</vt:lpstr>
      <vt:lpstr>Uppgift 1 – grundläggande EDA f) Antal BEVILJADE ansökningar per utbildningsandordnare administrativ enhet och utbildningsnamn inom Data/IT – uppgift_1/f_1.sql</vt:lpstr>
      <vt:lpstr>Uppgift 1 – grundläggande EDA g) Topp 5 län efter antal beviljade ansökningar – uppgift_1/g_1.sql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Jens Dossel (student syh)</dc:creator>
  <cp:lastModifiedBy>Jens Dossel (student syh)</cp:lastModifiedBy>
  <cp:revision>4</cp:revision>
  <dcterms:created xsi:type="dcterms:W3CDTF">2026-10-19T14:14:52Z</dcterms:created>
  <dcterms:modified xsi:type="dcterms:W3CDTF">2026-10-21T15:10:10Z</dcterms:modified>
</cp:coreProperties>
</file>