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10"/>
    <p:restoredTop sz="94658"/>
  </p:normalViewPr>
  <p:slideViewPr>
    <p:cSldViewPr snapToGrid="0">
      <p:cViewPr varScale="1">
        <p:scale>
          <a:sx n="88" d="100"/>
          <a:sy n="88" d="100"/>
        </p:scale>
        <p:origin x="200" y="8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2026-10-22</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dirty="0"/>
              <a:t>The </a:t>
            </a:r>
            <a:r>
              <a:rPr lang="sv-SE" dirty="0" err="1"/>
              <a:t>Skool</a:t>
            </a:r>
            <a:r>
              <a:rPr lang="sv-SE"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dirty="0"/>
              <a:t>Uppgift 0 - uppvärmning</a:t>
            </a:r>
            <a:br>
              <a:rPr lang="sv-SE" dirty="0"/>
            </a:br>
            <a:endParaRPr lang="sv-SE"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dirty="0"/>
              <a:t>Skapade </a:t>
            </a:r>
            <a:r>
              <a:rPr lang="sv-SE" dirty="0" err="1"/>
              <a:t>repot</a:t>
            </a:r>
            <a:r>
              <a:rPr lang="sv-SE" dirty="0"/>
              <a:t> i </a:t>
            </a:r>
            <a:r>
              <a:rPr lang="sv-SE" dirty="0" err="1"/>
              <a:t>Github</a:t>
            </a:r>
            <a:endParaRPr lang="sv-SE" dirty="0"/>
          </a:p>
          <a:p>
            <a:r>
              <a:rPr lang="sv-SE" dirty="0"/>
              <a:t>Klonade det tomma </a:t>
            </a:r>
            <a:r>
              <a:rPr lang="sv-SE" dirty="0" err="1"/>
              <a:t>repot</a:t>
            </a:r>
            <a:r>
              <a:rPr lang="sv-SE" dirty="0"/>
              <a:t> till </a:t>
            </a:r>
            <a:r>
              <a:rPr lang="sv-SE" dirty="0" err="1"/>
              <a:t>vm:</a:t>
            </a:r>
            <a:r>
              <a:rPr lang="sv-SE" dirty="0"/>
              <a:t> </a:t>
            </a:r>
            <a:r>
              <a:rPr lang="sv-SE" dirty="0" err="1">
                <a:solidFill>
                  <a:schemeClr val="accent6"/>
                </a:solidFill>
              </a:rPr>
              <a:t>git</a:t>
            </a:r>
            <a:r>
              <a:rPr lang="sv-SE" dirty="0">
                <a:solidFill>
                  <a:schemeClr val="accent6"/>
                </a:solidFill>
              </a:rPr>
              <a:t> </a:t>
            </a:r>
            <a:r>
              <a:rPr lang="sv-SE" dirty="0" err="1">
                <a:solidFill>
                  <a:schemeClr val="accent6"/>
                </a:solidFill>
              </a:rPr>
              <a:t>clone</a:t>
            </a:r>
            <a:r>
              <a:rPr lang="sv-SE" dirty="0">
                <a:solidFill>
                  <a:schemeClr val="accent6"/>
                </a:solidFill>
              </a:rPr>
              <a:t> </a:t>
            </a:r>
            <a:r>
              <a:rPr lang="sv-SE"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dirty="0">
                <a:solidFill>
                  <a:schemeClr val="accent6"/>
                </a:solidFill>
                <a:hlinkClick r:id="rId2">
                  <a:extLst>
                    <a:ext uri="{A12FA001-AC4F-418D-AE19-62706E023703}">
                      <ahyp:hlinkClr xmlns:ahyp="http://schemas.microsoft.com/office/drawing/2018/hyperlinkcolor" val="tx"/>
                    </a:ext>
                  </a:extLst>
                </a:hlinkClick>
              </a:rPr>
              <a:t>git</a:t>
            </a:r>
            <a:br>
              <a:rPr lang="sv-SE" dirty="0">
                <a:solidFill>
                  <a:schemeClr val="accent6"/>
                </a:solidFill>
              </a:rPr>
            </a:br>
            <a:r>
              <a:rPr lang="sv-SE" dirty="0">
                <a:solidFill>
                  <a:schemeClr val="accent6"/>
                </a:solidFill>
              </a:rPr>
              <a:t>cd </a:t>
            </a:r>
            <a:r>
              <a:rPr lang="sv-SE" dirty="0" err="1">
                <a:solidFill>
                  <a:schemeClr val="accent6"/>
                </a:solidFill>
              </a:rPr>
              <a:t>the_skool_jens_dossel</a:t>
            </a:r>
            <a:endParaRPr lang="sv-SE" dirty="0">
              <a:solidFill>
                <a:schemeClr val="accent6"/>
              </a:solidFill>
            </a:endParaRPr>
          </a:p>
          <a:p>
            <a:r>
              <a:rPr lang="sv-SE" dirty="0"/>
              <a:t>Skapade .</a:t>
            </a:r>
            <a:r>
              <a:rPr lang="sv-SE" dirty="0" err="1"/>
              <a:t>gitignore</a:t>
            </a:r>
            <a:r>
              <a:rPr lang="sv-SE" dirty="0"/>
              <a:t> för att slippa swap-filer och </a:t>
            </a:r>
            <a:r>
              <a:rPr lang="sv-SE" dirty="0" err="1"/>
              <a:t>macos</a:t>
            </a:r>
            <a:r>
              <a:rPr lang="sv-SE" dirty="0"/>
              <a:t> metadata.</a:t>
            </a:r>
          </a:p>
          <a:p>
            <a:r>
              <a:rPr lang="sv-SE" dirty="0"/>
              <a:t>Gjorde första </a:t>
            </a:r>
            <a:r>
              <a:rPr lang="sv-SE" dirty="0" err="1"/>
              <a:t>commit</a:t>
            </a:r>
            <a:r>
              <a:rPr lang="sv-SE" dirty="0"/>
              <a:t>.</a:t>
            </a:r>
          </a:p>
          <a:p>
            <a:r>
              <a:rPr lang="sv-SE" dirty="0"/>
              <a:t>Laddade ner och rensade data-filen i </a:t>
            </a:r>
            <a:r>
              <a:rPr lang="sv-SE" dirty="0" err="1"/>
              <a:t>excel</a:t>
            </a:r>
            <a:r>
              <a:rPr lang="sv-SE" dirty="0"/>
              <a:t>, och skickade den sedan till </a:t>
            </a:r>
            <a:r>
              <a:rPr lang="sv-SE" dirty="0" err="1"/>
              <a:t>repot</a:t>
            </a:r>
            <a:r>
              <a:rPr lang="sv-SE" dirty="0"/>
              <a:t>: </a:t>
            </a:r>
            <a:r>
              <a:rPr lang="sv-SE" dirty="0" err="1">
                <a:solidFill>
                  <a:schemeClr val="accent6"/>
                </a:solidFill>
              </a:rPr>
              <a:t>scp</a:t>
            </a:r>
            <a:r>
              <a:rPr lang="sv-SE" dirty="0">
                <a:solidFill>
                  <a:schemeClr val="accent6"/>
                </a:solidFill>
              </a:rPr>
              <a:t> ~/</a:t>
            </a:r>
            <a:r>
              <a:rPr lang="sv-SE" dirty="0" err="1">
                <a:solidFill>
                  <a:schemeClr val="accent6"/>
                </a:solidFill>
              </a:rPr>
              <a:t>Downloads</a:t>
            </a:r>
            <a:r>
              <a:rPr lang="sv-SE" dirty="0">
                <a:solidFill>
                  <a:schemeClr val="accent6"/>
                </a:solidFill>
              </a:rPr>
              <a:t>/</a:t>
            </a:r>
            <a:r>
              <a:rPr lang="sv-SE" dirty="0" err="1">
                <a:solidFill>
                  <a:schemeClr val="accent6"/>
                </a:solidFill>
              </a:rPr>
              <a:t>data_lab.xlsx</a:t>
            </a:r>
            <a:r>
              <a:rPr lang="sv-SE" dirty="0">
                <a:solidFill>
                  <a:schemeClr val="accent6"/>
                </a:solidFill>
              </a:rPr>
              <a:t> </a:t>
            </a:r>
            <a:r>
              <a:rPr lang="sv-SE" dirty="0" err="1">
                <a:solidFill>
                  <a:schemeClr val="accent6"/>
                </a:solidFill>
              </a:rPr>
              <a:t>oracle</a:t>
            </a:r>
            <a:r>
              <a:rPr lang="sv-SE" dirty="0">
                <a:solidFill>
                  <a:schemeClr val="accent6"/>
                </a:solidFill>
              </a:rPr>
              <a:t>:/</a:t>
            </a:r>
            <a:r>
              <a:rPr lang="sv-SE" dirty="0" err="1">
                <a:solidFill>
                  <a:schemeClr val="accent6"/>
                </a:solidFill>
              </a:rPr>
              <a:t>home</a:t>
            </a:r>
            <a:r>
              <a:rPr lang="sv-SE" dirty="0">
                <a:solidFill>
                  <a:schemeClr val="accent6"/>
                </a:solidFill>
              </a:rPr>
              <a:t>/</a:t>
            </a:r>
            <a:r>
              <a:rPr lang="sv-SE" dirty="0" err="1">
                <a:solidFill>
                  <a:schemeClr val="accent6"/>
                </a:solidFill>
              </a:rPr>
              <a:t>jdossel</a:t>
            </a:r>
            <a:r>
              <a:rPr lang="sv-SE" dirty="0">
                <a:solidFill>
                  <a:schemeClr val="accent6"/>
                </a:solidFill>
              </a:rPr>
              <a:t>/</a:t>
            </a:r>
            <a:r>
              <a:rPr lang="sv-SE" dirty="0" err="1">
                <a:solidFill>
                  <a:schemeClr val="accent6"/>
                </a:solidFill>
              </a:rPr>
              <a:t>the_skool_jens_dossel</a:t>
            </a:r>
            <a:r>
              <a:rPr lang="sv-SE" dirty="0">
                <a:solidFill>
                  <a:schemeClr val="accent6"/>
                </a:solidFill>
              </a:rPr>
              <a:t>/</a:t>
            </a:r>
          </a:p>
          <a:p>
            <a:r>
              <a:rPr lang="sv-SE" dirty="0"/>
              <a:t>Skapade databasen i </a:t>
            </a:r>
            <a:r>
              <a:rPr lang="sv-SE" dirty="0" err="1"/>
              <a:t>orac</a:t>
            </a:r>
            <a:r>
              <a:rPr lang="sv-SE" dirty="0"/>
              <a:t>: </a:t>
            </a:r>
            <a:br>
              <a:rPr lang="sv-SE" dirty="0"/>
            </a:br>
            <a:r>
              <a:rPr lang="sv-SE" dirty="0">
                <a:solidFill>
                  <a:schemeClr val="accent6"/>
                </a:solidFill>
              </a:rPr>
              <a:t>SQL&gt; set </a:t>
            </a:r>
            <a:r>
              <a:rPr lang="sv-SE" dirty="0" err="1">
                <a:solidFill>
                  <a:schemeClr val="accent6"/>
                </a:solidFill>
              </a:rPr>
              <a:t>loadformat</a:t>
            </a:r>
            <a:r>
              <a:rPr lang="sv-SE" dirty="0">
                <a:solidFill>
                  <a:schemeClr val="accent6"/>
                </a:solidFill>
              </a:rPr>
              <a:t> </a:t>
            </a:r>
            <a:r>
              <a:rPr lang="sv-SE" dirty="0" err="1">
                <a:solidFill>
                  <a:schemeClr val="accent6"/>
                </a:solidFill>
              </a:rPr>
              <a:t>xlsx</a:t>
            </a:r>
            <a:br>
              <a:rPr lang="sv-SE" dirty="0">
                <a:solidFill>
                  <a:schemeClr val="accent6"/>
                </a:solidFill>
              </a:rPr>
            </a:br>
            <a:r>
              <a:rPr lang="sv-SE" dirty="0">
                <a:solidFill>
                  <a:schemeClr val="accent6"/>
                </a:solidFill>
              </a:rPr>
              <a:t>SQL&gt; </a:t>
            </a:r>
            <a:r>
              <a:rPr lang="sv-SE" dirty="0" err="1">
                <a:solidFill>
                  <a:schemeClr val="accent6"/>
                </a:solidFill>
              </a:rPr>
              <a:t>load</a:t>
            </a:r>
            <a:r>
              <a:rPr lang="sv-SE" dirty="0">
                <a:solidFill>
                  <a:schemeClr val="accent6"/>
                </a:solidFill>
              </a:rPr>
              <a:t> table </a:t>
            </a:r>
            <a:r>
              <a:rPr lang="sv-SE" dirty="0" err="1">
                <a:solidFill>
                  <a:schemeClr val="accent6"/>
                </a:solidFill>
              </a:rPr>
              <a:t>data_lab</a:t>
            </a:r>
            <a:r>
              <a:rPr lang="sv-SE" dirty="0">
                <a:solidFill>
                  <a:schemeClr val="accent6"/>
                </a:solidFill>
              </a:rPr>
              <a:t> </a:t>
            </a:r>
            <a:r>
              <a:rPr lang="sv-SE" dirty="0" err="1">
                <a:solidFill>
                  <a:schemeClr val="accent6"/>
                </a:solidFill>
              </a:rPr>
              <a:t>data_lab.xlsx</a:t>
            </a:r>
            <a:r>
              <a:rPr lang="sv-SE" dirty="0">
                <a:solidFill>
                  <a:schemeClr val="accent6"/>
                </a:solidFill>
              </a:rPr>
              <a:t> new</a:t>
            </a:r>
          </a:p>
          <a:p>
            <a:r>
              <a:rPr lang="sv-SE" dirty="0"/>
              <a:t>Kontrollerade datan:</a:t>
            </a:r>
            <a:br>
              <a:rPr lang="sv-SE" dirty="0"/>
            </a:br>
            <a:r>
              <a:rPr lang="sv-SE" dirty="0">
                <a:solidFill>
                  <a:schemeClr val="accent6"/>
                </a:solidFill>
              </a:rPr>
              <a:t>SQL&gt; </a:t>
            </a:r>
            <a:r>
              <a:rPr lang="sv-SE" dirty="0" err="1">
                <a:solidFill>
                  <a:schemeClr val="accent6"/>
                </a:solidFill>
              </a:rPr>
              <a:t>desc</a:t>
            </a:r>
            <a:r>
              <a:rPr lang="sv-SE" dirty="0">
                <a:solidFill>
                  <a:schemeClr val="accent6"/>
                </a:solidFill>
              </a:rPr>
              <a:t> </a:t>
            </a:r>
            <a:r>
              <a:rPr lang="sv-SE" dirty="0" err="1">
                <a:solidFill>
                  <a:schemeClr val="accent6"/>
                </a:solidFill>
              </a:rPr>
              <a:t>data_lab</a:t>
            </a:r>
            <a:br>
              <a:rPr lang="sv-SE" dirty="0">
                <a:solidFill>
                  <a:schemeClr val="accent6"/>
                </a:solidFill>
              </a:rPr>
            </a:br>
            <a:r>
              <a:rPr lang="sv-SE" dirty="0" err="1">
                <a:solidFill>
                  <a:schemeClr val="accent6"/>
                </a:solidFill>
              </a:rPr>
              <a:t>select</a:t>
            </a:r>
            <a:r>
              <a:rPr lang="sv-SE" dirty="0">
                <a:solidFill>
                  <a:schemeClr val="accent6"/>
                </a:solidFill>
              </a:rPr>
              <a:t> </a:t>
            </a:r>
            <a:r>
              <a:rPr lang="sv-SE" dirty="0" err="1">
                <a:solidFill>
                  <a:schemeClr val="accent6"/>
                </a:solidFill>
              </a:rPr>
              <a:t>count</a:t>
            </a:r>
            <a:r>
              <a:rPr lang="sv-SE" dirty="0">
                <a:solidFill>
                  <a:schemeClr val="accent6"/>
                </a:solidFill>
              </a:rPr>
              <a:t>(*) from </a:t>
            </a:r>
            <a:r>
              <a:rPr lang="sv-SE" dirty="0" err="1">
                <a:solidFill>
                  <a:schemeClr val="accent6"/>
                </a:solidFill>
              </a:rPr>
              <a:t>data_lab</a:t>
            </a:r>
            <a:r>
              <a:rPr lang="sv-SE" dirty="0">
                <a:solidFill>
                  <a:schemeClr val="accent6"/>
                </a:solidFill>
              </a:rPr>
              <a:t>;</a:t>
            </a:r>
            <a:br>
              <a:rPr lang="sv-SE" dirty="0"/>
            </a:br>
            <a:r>
              <a:rPr lang="sv-SE" dirty="0"/>
              <a:t>Jag fick med samtliga kolumner och 1184 rader.</a:t>
            </a:r>
          </a:p>
          <a:p>
            <a:endParaRPr lang="sv-SE" dirty="0"/>
          </a:p>
          <a:p>
            <a:endParaRPr lang="sv-SE" dirty="0"/>
          </a:p>
          <a:p>
            <a:endParaRPr lang="sv-SE"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600" dirty="0"/>
              <a:t>a) Antal ansökningar per utbildningsområde, sorterat på flest ansökningar – uppgift_1/a_1.sql</a:t>
            </a:r>
            <a:endParaRPr lang="sv-SE"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dirty="0"/>
              <a:t>Jag valde att se utbildningsområde och </a:t>
            </a:r>
            <a:r>
              <a:rPr lang="sv-SE" dirty="0" err="1"/>
              <a:t>count</a:t>
            </a:r>
            <a:r>
              <a:rPr lang="sv-SE" dirty="0"/>
              <a:t>(*) som antal från </a:t>
            </a:r>
            <a:r>
              <a:rPr lang="sv-SE" dirty="0" err="1"/>
              <a:t>data_lab</a:t>
            </a:r>
            <a:r>
              <a:rPr lang="sv-SE" dirty="0"/>
              <a:t>, och genom att gruppera på utbildningsområde får jag antal ansökningar, eller rader, per område. Sorterar på antal fallande. </a:t>
            </a:r>
            <a:br>
              <a:rPr lang="sv-SE" dirty="0"/>
            </a:br>
            <a:r>
              <a:rPr lang="sv-SE" dirty="0"/>
              <a:t>Scriptet avslutar </a:t>
            </a:r>
            <a:r>
              <a:rPr lang="sv-SE" dirty="0" err="1"/>
              <a:t>orac</a:t>
            </a:r>
            <a:r>
              <a:rPr lang="sv-SE"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lade jag till villkoret att Beslut ska vara lika med ”Beviljad”.</a:t>
            </a:r>
            <a:br>
              <a:rPr lang="sv-SE" dirty="0"/>
            </a:br>
            <a:br>
              <a:rPr lang="sv-SE" dirty="0"/>
            </a:br>
            <a:r>
              <a:rPr lang="sv-SE" dirty="0" err="1">
                <a:solidFill>
                  <a:schemeClr val="accent6"/>
                </a:solidFill>
              </a:rPr>
              <a:t>where</a:t>
            </a:r>
            <a:r>
              <a:rPr lang="sv-SE" dirty="0">
                <a:solidFill>
                  <a:schemeClr val="accent6"/>
                </a:solidFill>
              </a:rPr>
              <a:t> Beslut = 'Beviljad'</a:t>
            </a:r>
          </a:p>
          <a:p>
            <a:pPr marL="0" indent="0">
              <a:buNone/>
            </a:pPr>
            <a:endParaRPr lang="sv-SE"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dirty="0"/>
              <a:t>Uppgift 1 – grundläggande EDA</a:t>
            </a:r>
            <a:br>
              <a:rPr lang="sv-SE" dirty="0"/>
            </a:br>
            <a:r>
              <a:rPr lang="sv-SE" sz="320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dirty="0"/>
              <a:t>För att endast se de beviljade ansökningarna ändrade jag villkoret till att Beslut ska vara lika med ”Avslag”.</a:t>
            </a:r>
            <a:br>
              <a:rPr lang="sv-SE" dirty="0"/>
            </a:br>
            <a:br>
              <a:rPr lang="sv-SE" dirty="0"/>
            </a:br>
            <a:r>
              <a:rPr lang="sv-SE" dirty="0" err="1">
                <a:solidFill>
                  <a:schemeClr val="accent6"/>
                </a:solidFill>
              </a:rPr>
              <a:t>where</a:t>
            </a:r>
            <a:r>
              <a:rPr lang="sv-SE" dirty="0">
                <a:solidFill>
                  <a:schemeClr val="accent6"/>
                </a:solidFill>
              </a:rPr>
              <a:t> Beslut = ‘Avslag'</a:t>
            </a:r>
          </a:p>
          <a:p>
            <a:pPr marL="0" indent="0">
              <a:buNone/>
            </a:pPr>
            <a:endParaRPr lang="sv-SE"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dirty="0"/>
              <a:t>Uppgift 1 – grundläggande EDA</a:t>
            </a:r>
            <a:br>
              <a:rPr lang="sv-SE" dirty="0"/>
            </a:br>
            <a:r>
              <a:rPr lang="sv-SE" sz="3200" dirty="0"/>
              <a:t>d) </a:t>
            </a:r>
            <a:r>
              <a:rPr lang="sv-SE" sz="3600" dirty="0"/>
              <a:t>Antal BEVILJADE ansökningar per </a:t>
            </a:r>
            <a:r>
              <a:rPr lang="sv-SE" sz="3600" dirty="0" err="1"/>
              <a:t>utbildningsnamn</a:t>
            </a:r>
            <a:r>
              <a:rPr lang="sv-SE" sz="3600" dirty="0"/>
              <a:t> inom Data/IT</a:t>
            </a:r>
            <a:br>
              <a:rPr lang="sv-SE" dirty="0"/>
            </a:br>
            <a:r>
              <a:rPr lang="sv-SE" sz="360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dirty="0"/>
              <a:t>Här väljer jag  </a:t>
            </a:r>
            <a:r>
              <a:rPr lang="sv-SE" dirty="0" err="1">
                <a:solidFill>
                  <a:schemeClr val="accent6"/>
                </a:solidFill>
              </a:rPr>
              <a:t>select</a:t>
            </a:r>
            <a:r>
              <a:rPr lang="sv-SE" dirty="0">
                <a:solidFill>
                  <a:schemeClr val="accent6"/>
                </a:solidFill>
              </a:rPr>
              <a:t> </a:t>
            </a:r>
            <a:r>
              <a:rPr lang="sv-SE" dirty="0" err="1">
                <a:solidFill>
                  <a:schemeClr val="accent6"/>
                </a:solidFill>
              </a:rPr>
              <a:t>utbildningsnamn</a:t>
            </a:r>
            <a:r>
              <a:rPr lang="sv-SE" dirty="0">
                <a:solidFill>
                  <a:schemeClr val="accent6"/>
                </a:solidFill>
              </a:rPr>
              <a:t>, </a:t>
            </a:r>
            <a:r>
              <a:rPr lang="sv-SE" dirty="0" err="1">
                <a:solidFill>
                  <a:schemeClr val="accent6"/>
                </a:solidFill>
              </a:rPr>
              <a:t>count</a:t>
            </a:r>
            <a:r>
              <a:rPr lang="sv-SE" dirty="0">
                <a:solidFill>
                  <a:schemeClr val="accent6"/>
                </a:solidFill>
              </a:rPr>
              <a:t>(*)</a:t>
            </a:r>
            <a:r>
              <a:rPr lang="sv-SE" dirty="0"/>
              <a:t>, lägga till villkoren </a:t>
            </a:r>
            <a:r>
              <a:rPr lang="sv-SE" dirty="0" err="1">
                <a:solidFill>
                  <a:schemeClr val="accent6"/>
                </a:solidFill>
              </a:rPr>
              <a:t>where</a:t>
            </a:r>
            <a:r>
              <a:rPr lang="sv-SE" dirty="0">
                <a:solidFill>
                  <a:schemeClr val="accent6"/>
                </a:solidFill>
              </a:rPr>
              <a:t> Beslut = ’Beviljad’ and utbildningsområde = ’DATA/IT’ </a:t>
            </a:r>
            <a:r>
              <a:rPr lang="sv-SE" dirty="0"/>
              <a:t>samt gruppera på </a:t>
            </a:r>
            <a:r>
              <a:rPr lang="sv-SE" dirty="0" err="1"/>
              <a:t>utbildningsnamn</a:t>
            </a:r>
            <a:r>
              <a:rPr lang="sv-SE" dirty="0"/>
              <a:t>.</a:t>
            </a: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dirty="0"/>
              <a:t>Uppgift 1 – grundläggande EDA</a:t>
            </a:r>
            <a:br>
              <a:rPr lang="sv-SE" dirty="0"/>
            </a:br>
            <a:r>
              <a:rPr lang="sv-SE" sz="3200" dirty="0"/>
              <a:t>e) </a:t>
            </a:r>
            <a:r>
              <a:rPr lang="sv-SE" sz="3600" dirty="0"/>
              <a:t>Antal AVSLAGNA ansökningar per </a:t>
            </a:r>
            <a:r>
              <a:rPr lang="sv-SE" sz="3600" dirty="0" err="1"/>
              <a:t>utbildningsnamn</a:t>
            </a:r>
            <a:r>
              <a:rPr lang="sv-SE" sz="3600" dirty="0"/>
              <a:t> inom Data/IT</a:t>
            </a:r>
            <a:br>
              <a:rPr lang="sv-SE" dirty="0"/>
            </a:br>
            <a:r>
              <a:rPr lang="sv-SE" sz="360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dirty="0"/>
              <a:t>Här började jag med att bara ersätta villkoret från förra frågan från ’Beviljad’ till ’Avslag’, men upptäckte att jag fick flera dubbletter beroende på case (Data </a:t>
            </a:r>
            <a:r>
              <a:rPr lang="sv-SE" dirty="0" err="1"/>
              <a:t>Engineer</a:t>
            </a:r>
            <a:r>
              <a:rPr lang="sv-SE" dirty="0"/>
              <a:t> och Data </a:t>
            </a:r>
            <a:r>
              <a:rPr lang="sv-SE" dirty="0" err="1"/>
              <a:t>engineer</a:t>
            </a:r>
            <a:r>
              <a:rPr lang="sv-SE" dirty="0"/>
              <a:t>) och blanksteg i slutet av utbildningens namn (.Net </a:t>
            </a:r>
            <a:r>
              <a:rPr lang="sv-SE" dirty="0" err="1"/>
              <a:t>Developer</a:t>
            </a:r>
            <a:r>
              <a:rPr lang="sv-SE" dirty="0"/>
              <a:t> och .Net </a:t>
            </a:r>
            <a:r>
              <a:rPr lang="sv-SE" dirty="0" err="1"/>
              <a:t>Developer</a:t>
            </a:r>
            <a:r>
              <a:rPr lang="sv-SE" dirty="0"/>
              <a:t>_), så jag lade till </a:t>
            </a:r>
            <a:r>
              <a:rPr lang="sv-SE" dirty="0" err="1"/>
              <a:t>upper</a:t>
            </a:r>
            <a:r>
              <a:rPr lang="sv-SE" dirty="0"/>
              <a:t> för att göra alla bokstäver till versaler och trim för att ta bort eventuella blanksteg före eller efter namnet.</a:t>
            </a:r>
            <a:br>
              <a:rPr lang="sv-SE" dirty="0"/>
            </a:br>
            <a:r>
              <a:rPr lang="sv-SE" dirty="0"/>
              <a:t>Antal rader i resultatet sjönk då från 135 till 126.</a:t>
            </a:r>
            <a:endParaRPr lang="sv-SE" dirty="0">
              <a:solidFill>
                <a:schemeClr val="accent6"/>
              </a:solidFill>
            </a:endParaRPr>
          </a:p>
          <a:p>
            <a:pPr marL="0" indent="0">
              <a:buNone/>
            </a:pPr>
            <a:endParaRPr lang="sv-SE"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dirty="0"/>
              <a:t>Uppgift 1 – grundläggande EDA</a:t>
            </a:r>
            <a:br>
              <a:rPr lang="sv-SE" dirty="0"/>
            </a:br>
            <a:r>
              <a:rPr lang="sv-SE" sz="3600" dirty="0"/>
              <a:t>f</a:t>
            </a:r>
            <a:r>
              <a:rPr lang="sv-SE" sz="3200" dirty="0"/>
              <a:t>) </a:t>
            </a:r>
            <a:r>
              <a:rPr lang="sv-SE" sz="3600" dirty="0"/>
              <a:t>Antal BEVILJADE ansökningar per </a:t>
            </a:r>
            <a:r>
              <a:rPr lang="sv-SE" sz="3600" dirty="0" err="1"/>
              <a:t>utbildningsandordnare</a:t>
            </a:r>
            <a:r>
              <a:rPr lang="sv-SE" sz="3600" dirty="0"/>
              <a:t> administrativ enhet och </a:t>
            </a:r>
            <a:r>
              <a:rPr lang="sv-SE" sz="3600" dirty="0" err="1"/>
              <a:t>utbildningsnamn</a:t>
            </a:r>
            <a:r>
              <a:rPr lang="sv-SE" sz="3600" dirty="0"/>
              <a:t> inom Data/IT</a:t>
            </a:r>
            <a:br>
              <a:rPr lang="sv-SE" dirty="0"/>
            </a:br>
            <a:r>
              <a:rPr lang="sv-SE" sz="360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dirty="0"/>
              <a:t>Jag utgick från fråga 1d och lade till utbildningsanordnarens administrativa enhet i SELECT och GROUP BY. Därmed grupperas resultatet efter unika kombinationer av </a:t>
            </a:r>
            <a:r>
              <a:rPr lang="sv-SE" dirty="0" err="1"/>
              <a:t>utbildningsnamn</a:t>
            </a:r>
            <a:r>
              <a:rPr lang="sv-SE" dirty="0"/>
              <a:t> och anordnare. Jag använder UPPER(TRIM()) för att hantera skillnader i stora och små bokstäver samt överflödiga blanksteg.</a:t>
            </a:r>
          </a:p>
          <a:p>
            <a:pPr marL="0" indent="0">
              <a:buNone/>
            </a:pPr>
            <a:endParaRPr lang="sv-SE" dirty="0">
              <a:solidFill>
                <a:schemeClr val="accent6"/>
              </a:solidFill>
            </a:endParaRPr>
          </a:p>
          <a:p>
            <a:pPr marL="0" indent="0">
              <a:buNone/>
            </a:pPr>
            <a:endParaRPr lang="sv-SE"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600" dirty="0"/>
              <a:t>g</a:t>
            </a:r>
            <a:r>
              <a:rPr lang="sv-SE" sz="3200" dirty="0"/>
              <a:t>) </a:t>
            </a:r>
            <a:r>
              <a:rPr lang="sv-SE" sz="3600" dirty="0"/>
              <a:t>Topp 5 län efter antal beviljade ansökningar</a:t>
            </a:r>
            <a:br>
              <a:rPr lang="sv-SE" dirty="0"/>
            </a:br>
            <a:r>
              <a:rPr lang="sv-SE" sz="360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dirty="0"/>
              <a:t>En av skillnaderna i denna uppgift mot tidigare är att sortera efter våra räknade rader och därför får vår </a:t>
            </a:r>
            <a:r>
              <a:rPr lang="sv-SE" dirty="0" err="1"/>
              <a:t>count</a:t>
            </a:r>
            <a:r>
              <a:rPr lang="sv-SE" dirty="0"/>
              <a:t>(*) ett kolumnalias, ”Beviljade kurser”.</a:t>
            </a:r>
            <a:br>
              <a:rPr lang="sv-SE" dirty="0"/>
            </a:br>
            <a:r>
              <a:rPr lang="sv-SE" dirty="0"/>
              <a:t>En annan är att vi bara vill se topp 5, därav </a:t>
            </a:r>
            <a:r>
              <a:rPr lang="sv-SE" dirty="0" err="1"/>
              <a:t>fetch</a:t>
            </a:r>
            <a:r>
              <a:rPr lang="sv-SE" dirty="0"/>
              <a:t> </a:t>
            </a:r>
            <a:r>
              <a:rPr lang="sv-SE" dirty="0" err="1"/>
              <a:t>first</a:t>
            </a:r>
            <a:r>
              <a:rPr lang="sv-SE" dirty="0"/>
              <a:t> 5 </a:t>
            </a:r>
            <a:r>
              <a:rPr lang="sv-SE" dirty="0" err="1"/>
              <a:t>rows</a:t>
            </a:r>
            <a:r>
              <a:rPr lang="sv-SE" dirty="0"/>
              <a:t> </a:t>
            </a:r>
            <a:r>
              <a:rPr lang="sv-SE" dirty="0" err="1"/>
              <a:t>only</a:t>
            </a:r>
            <a:r>
              <a:rPr lang="sv-SE" dirty="0"/>
              <a:t>.</a:t>
            </a:r>
            <a:br>
              <a:rPr lang="sv-SE" dirty="0"/>
            </a:br>
            <a:br>
              <a:rPr lang="sv-SE" dirty="0"/>
            </a:br>
            <a:r>
              <a:rPr lang="sv-SE" dirty="0"/>
              <a:t>Bonus: Vill vi inte få med ”Flera kommuner” i resultatet, utan endast få faktiska län, kan vi lägga till </a:t>
            </a:r>
            <a:r>
              <a:rPr lang="sv-SE" dirty="0">
                <a:solidFill>
                  <a:schemeClr val="accent6"/>
                </a:solidFill>
              </a:rPr>
              <a:t>AND UPPER(TRIM(län)) &lt;&gt; 'FLERA KOMMUNER’ </a:t>
            </a:r>
            <a:r>
              <a:rPr lang="sv-SE" dirty="0"/>
              <a:t>till vårt </a:t>
            </a:r>
            <a:r>
              <a:rPr lang="sv-SE" dirty="0">
                <a:solidFill>
                  <a:schemeClr val="accent6"/>
                </a:solidFill>
              </a:rPr>
              <a:t>WHERE</a:t>
            </a:r>
            <a:r>
              <a:rPr lang="sv-SE" dirty="0"/>
              <a:t>-villkor.</a:t>
            </a:r>
          </a:p>
          <a:p>
            <a:pPr marL="0" indent="0">
              <a:buNone/>
            </a:pPr>
            <a:endParaRPr lang="sv-SE" dirty="0"/>
          </a:p>
          <a:p>
            <a:pPr marL="0" indent="0">
              <a:buNone/>
            </a:pPr>
            <a:endParaRPr lang="sv-SE" dirty="0">
              <a:solidFill>
                <a:schemeClr val="accent6"/>
              </a:solidFill>
            </a:endParaRPr>
          </a:p>
          <a:p>
            <a:pPr marL="0" indent="0">
              <a:buNone/>
            </a:pPr>
            <a:endParaRPr lang="sv-SE"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2400" dirty="0"/>
              <a:t>h) Andel distans och andel bundna utbildningar inom respektive </a:t>
            </a:r>
            <a:r>
              <a:rPr lang="sv-SE" sz="2400" dirty="0" err="1"/>
              <a:t>utbildingsområde</a:t>
            </a:r>
            <a:br>
              <a:rPr lang="sv-SE" sz="2400" dirty="0"/>
            </a:br>
            <a:r>
              <a:rPr lang="sv-SE" sz="360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dirty="0">
                <a:latin typeface="+mj-lt"/>
              </a:rPr>
              <a:t>I denna fråga använder vi aggregeringsfunktionen COUNT och </a:t>
            </a:r>
            <a:r>
              <a:rPr lang="sv-SE" sz="2000" dirty="0" err="1">
                <a:latin typeface="+mj-lt"/>
              </a:rPr>
              <a:t>villkorsuttycket</a:t>
            </a:r>
            <a:r>
              <a:rPr lang="sv-SE" sz="2000" dirty="0">
                <a:latin typeface="+mj-lt"/>
              </a:rPr>
              <a:t> CASE.</a:t>
            </a:r>
            <a:br>
              <a:rPr lang="sv-SE" sz="2000" dirty="0">
                <a:latin typeface="+mj-lt"/>
              </a:rPr>
            </a:br>
            <a:br>
              <a:rPr lang="sv-SE" sz="2000" dirty="0">
                <a:latin typeface="+mj-lt"/>
              </a:rPr>
            </a:br>
            <a:r>
              <a:rPr lang="sv-SE" sz="2000" dirty="0">
                <a:solidFill>
                  <a:schemeClr val="accent6"/>
                </a:solidFill>
                <a:latin typeface="+mj-lt"/>
              </a:rPr>
              <a:t> </a:t>
            </a:r>
            <a:r>
              <a:rPr lang="sv-SE" sz="2000" b="1" dirty="0">
                <a:solidFill>
                  <a:schemeClr val="accent6"/>
                </a:solidFill>
                <a:latin typeface="+mj-lt"/>
              </a:rPr>
              <a:t>round</a:t>
            </a:r>
            <a:r>
              <a:rPr lang="sv-SE" sz="2000" dirty="0">
                <a:solidFill>
                  <a:schemeClr val="accent6"/>
                </a:solidFill>
                <a:latin typeface="+mj-lt"/>
              </a:rPr>
              <a:t>(</a:t>
            </a:r>
            <a:r>
              <a:rPr lang="sv-SE" sz="2000" b="1" dirty="0">
                <a:solidFill>
                  <a:schemeClr val="accent6"/>
                </a:solidFill>
                <a:latin typeface="+mj-lt"/>
              </a:rPr>
              <a:t>COUNT</a:t>
            </a:r>
            <a:r>
              <a:rPr lang="sv-SE" sz="2000" dirty="0">
                <a:solidFill>
                  <a:schemeClr val="accent6"/>
                </a:solidFill>
                <a:latin typeface="+mj-lt"/>
              </a:rPr>
              <a:t>(CASE WHEN studieform = 'Bunden' THEN 1 END) * 100.0 / </a:t>
            </a:r>
            <a:r>
              <a:rPr lang="sv-SE" sz="2000" b="1" dirty="0">
                <a:solidFill>
                  <a:schemeClr val="accent6"/>
                </a:solidFill>
                <a:latin typeface="+mj-lt"/>
              </a:rPr>
              <a:t>COUNT</a:t>
            </a:r>
            <a:r>
              <a:rPr lang="sv-SE" sz="2000" dirty="0">
                <a:solidFill>
                  <a:schemeClr val="accent6"/>
                </a:solidFill>
                <a:latin typeface="+mj-lt"/>
              </a:rPr>
              <a:t>(*),2) AS "Andel Bundna”.</a:t>
            </a:r>
          </a:p>
          <a:p>
            <a:pPr marL="0" indent="0">
              <a:buNone/>
            </a:pPr>
            <a:r>
              <a:rPr lang="sv-SE" sz="2000" dirty="0">
                <a:latin typeface="+mj-lt"/>
              </a:rPr>
              <a:t>På ren svenska:</a:t>
            </a:r>
            <a:br>
              <a:rPr lang="sv-SE" sz="2000" dirty="0">
                <a:latin typeface="+mj-lt"/>
              </a:rPr>
            </a:br>
            <a:r>
              <a:rPr lang="sv-SE" sz="200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dirty="0"/>
              <a:t>Uppgift 1 – grundläggande EDA</a:t>
            </a:r>
            <a:br>
              <a:rPr lang="sv-SE" dirty="0"/>
            </a:br>
            <a:r>
              <a:rPr lang="sv-SE" sz="3200" dirty="0"/>
              <a:t>i) Antal utbildningar som innehåller </a:t>
            </a:r>
            <a:br>
              <a:rPr lang="sv-SE" sz="3200" dirty="0"/>
            </a:br>
            <a:r>
              <a:rPr lang="sv-SE" sz="3200" dirty="0"/>
              <a:t>ordet AI</a:t>
            </a:r>
            <a:br>
              <a:rPr lang="sv-SE" sz="3200" dirty="0"/>
            </a:br>
            <a:r>
              <a:rPr lang="sv-SE" sz="320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dirty="0">
                <a:latin typeface="+mj-lt"/>
              </a:rPr>
              <a:t>Här räknar vi antal rader där </a:t>
            </a:r>
            <a:r>
              <a:rPr lang="sv-SE" sz="2400" dirty="0" err="1">
                <a:latin typeface="+mj-lt"/>
              </a:rPr>
              <a:t>utbildningsnamn</a:t>
            </a:r>
            <a:r>
              <a:rPr lang="sv-SE" sz="2400" dirty="0">
                <a:latin typeface="+mj-lt"/>
              </a:rPr>
              <a:t> innehåller ”AI” genom att använda </a:t>
            </a:r>
            <a:r>
              <a:rPr lang="sv-SE" sz="2400" dirty="0">
                <a:solidFill>
                  <a:schemeClr val="accent6"/>
                </a:solidFill>
                <a:latin typeface="+mj-lt"/>
              </a:rPr>
              <a:t>WHERE </a:t>
            </a:r>
            <a:r>
              <a:rPr lang="sv-SE" sz="2400" dirty="0" err="1">
                <a:solidFill>
                  <a:schemeClr val="accent6"/>
                </a:solidFill>
                <a:latin typeface="+mj-lt"/>
              </a:rPr>
              <a:t>utbildningsnamn</a:t>
            </a:r>
            <a:r>
              <a:rPr lang="sv-SE" sz="2400" dirty="0">
                <a:solidFill>
                  <a:schemeClr val="accent6"/>
                </a:solidFill>
                <a:latin typeface="+mj-lt"/>
              </a:rPr>
              <a:t> LIKE '%AI%’</a:t>
            </a:r>
            <a:r>
              <a:rPr lang="sv-SE" sz="2400" dirty="0">
                <a:latin typeface="+mj-lt"/>
              </a:rPr>
              <a:t> som villkor. </a:t>
            </a:r>
          </a:p>
          <a:p>
            <a:pPr marL="0">
              <a:buNone/>
            </a:pPr>
            <a:br>
              <a:rPr lang="sv-SE" sz="2400" dirty="0">
                <a:latin typeface="+mj-lt"/>
              </a:rPr>
            </a:br>
            <a:r>
              <a:rPr lang="sv-SE" sz="2400" dirty="0">
                <a:solidFill>
                  <a:schemeClr val="accent6"/>
                </a:solidFill>
                <a:latin typeface="+mj-lt"/>
              </a:rPr>
              <a:t>LIKE</a:t>
            </a:r>
            <a:r>
              <a:rPr lang="sv-SE" sz="2400" dirty="0">
                <a:latin typeface="+mj-lt"/>
              </a:rPr>
              <a:t> används för mönstermatchning. Jokertecknen </a:t>
            </a:r>
            <a:r>
              <a:rPr lang="sv-SE" sz="2400" dirty="0">
                <a:solidFill>
                  <a:schemeClr val="accent6"/>
                </a:solidFill>
                <a:latin typeface="+mj-lt"/>
              </a:rPr>
              <a:t>%</a:t>
            </a:r>
            <a:r>
              <a:rPr lang="sv-SE" sz="240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dirty="0"/>
              <a:t>Efter intervju med </a:t>
            </a:r>
            <a:r>
              <a:rPr lang="sv-SE" dirty="0" err="1"/>
              <a:t>stakeholder</a:t>
            </a:r>
            <a:r>
              <a:rPr lang="sv-SE"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dirty="0"/>
            </a:br>
            <a:r>
              <a:rPr lang="sv-SE" dirty="0"/>
              <a:t>The </a:t>
            </a:r>
            <a:r>
              <a:rPr lang="sv-SE" dirty="0" err="1"/>
              <a:t>Skool</a:t>
            </a:r>
            <a:r>
              <a:rPr lang="sv-SE"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dirty="0"/>
              <a:t>Jag vill börja med att undersöka vilka utbildningar som har högst beviljandegrad och hur många ansökningar resultaten bygger på.</a:t>
            </a:r>
          </a:p>
          <a:p>
            <a:pPr marL="0" indent="0">
              <a:buNone/>
            </a:pPr>
            <a:r>
              <a:rPr lang="sv-SE" dirty="0"/>
              <a:t>Därefter vill jag undersöka om de mest framgångsrika utbildningarna har några gemensamma nämnare, exempelvis utbildningsområde, SUN5-inriktning eller studieform.</a:t>
            </a:r>
          </a:p>
          <a:p>
            <a:pPr marL="0" indent="0">
              <a:buNone/>
            </a:pPr>
            <a:r>
              <a:rPr lang="sv-SE" dirty="0"/>
              <a:t>Slutligen vill jag identifiera utbildningar med hög beviljandegrad och undersöka i vilka län de inte har sökts under 2025, för att hitta möjliga etableringsmöjligheter för The </a:t>
            </a:r>
            <a:r>
              <a:rPr lang="sv-SE" dirty="0" err="1"/>
              <a:t>Skool</a:t>
            </a:r>
            <a:r>
              <a:rPr lang="sv-SE"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dirty="0"/>
              <a:t>Fråga A.1–A.4:</a:t>
            </a:r>
            <a:br>
              <a:rPr lang="sv-SE" dirty="0"/>
            </a:br>
            <a:r>
              <a:rPr lang="sv-SE" dirty="0"/>
              <a:t>Vilka utbildningar har högst beviljandegrad, hur många ansökningar ligger bakom och vilken betydelse har studieformen?</a:t>
            </a:r>
          </a:p>
          <a:p>
            <a:pPr marL="0" indent="0">
              <a:buNone/>
            </a:pPr>
            <a:r>
              <a:rPr lang="sv-SE" b="1" dirty="0"/>
              <a:t>Syfte:</a:t>
            </a:r>
            <a:br>
              <a:rPr lang="sv-SE" dirty="0"/>
            </a:br>
            <a:r>
              <a:rPr lang="sv-SE" dirty="0"/>
              <a:t>Identifiera framgångsrika utbildningar och möjliga etableringsmöjligheter för The </a:t>
            </a:r>
            <a:r>
              <a:rPr lang="sv-SE" dirty="0" err="1"/>
              <a:t>Skool</a:t>
            </a:r>
            <a:r>
              <a:rPr lang="sv-SE" dirty="0"/>
              <a:t> genom att jämföra beviljandegrad, antal ansökningar och studieform.</a:t>
            </a:r>
          </a:p>
          <a:p>
            <a:pPr marL="0" indent="0">
              <a:buNone/>
            </a:pPr>
            <a:r>
              <a:rPr lang="sv-SE" b="1" dirty="0"/>
              <a:t>Resultat:</a:t>
            </a:r>
            <a:br>
              <a:rPr lang="sv-SE" dirty="0"/>
            </a:br>
            <a:r>
              <a:rPr lang="sv-SE" dirty="0"/>
              <a:t>268 </a:t>
            </a:r>
            <a:r>
              <a:rPr lang="sv-SE" dirty="0" err="1"/>
              <a:t>utbildningsnamn</a:t>
            </a:r>
            <a:r>
              <a:rPr lang="sv-SE" dirty="0"/>
              <a:t> hade minst 80 % beviljandegrad. Vid separata analyser uppfyllde 172 kriteriet som bundna och 124 som distansutbildningar.</a:t>
            </a:r>
          </a:p>
          <a:p>
            <a:pPr marL="0" indent="0">
              <a:buNone/>
            </a:pPr>
            <a:r>
              <a:rPr lang="sv-SE" dirty="0"/>
              <a:t>Tandsköterska utmärkte sig med 17 av 17 beviljade ansökningar, fördelade på båda studieformerna.</a:t>
            </a:r>
          </a:p>
          <a:p>
            <a:pPr marL="0" indent="0">
              <a:buNone/>
            </a:pPr>
            <a:r>
              <a:rPr lang="sv-SE" dirty="0"/>
              <a:t>Totalt beviljades 42,54 % av de bundna utbildningarnas ansökningar, jämfört med 35,02 % för distans – en skillnad på 7,52 procentenheter.</a:t>
            </a:r>
          </a:p>
          <a:p>
            <a:pPr marL="0" indent="0">
              <a:buNone/>
            </a:pPr>
            <a:r>
              <a:rPr lang="sv-SE" b="1" dirty="0"/>
              <a:t>Slutsats:</a:t>
            </a:r>
            <a:br>
              <a:rPr lang="sv-SE" b="1" dirty="0"/>
            </a:br>
            <a:r>
              <a:rPr lang="sv-SE" dirty="0"/>
              <a:t>Bundna utbildningar hade generellt högre beviljandegrad under 2025. Studieformen kan därför vara relevant för The </a:t>
            </a:r>
            <a:r>
              <a:rPr lang="sv-SE" dirty="0" err="1"/>
              <a:t>Skools</a:t>
            </a:r>
            <a:r>
              <a:rPr lang="sv-SE" dirty="0"/>
              <a:t> etableringsbeslut, men skillnaden kan även bero på utbildningsområde.</a:t>
            </a:r>
          </a:p>
          <a:p>
            <a:pPr marL="0" indent="0">
              <a:buNone/>
            </a:pPr>
            <a:r>
              <a:rPr lang="sv-SE" dirty="0"/>
              <a:t>Utbildningar med hög beviljandegrad och flera ansökningar är särskilt intressanta att undersöka vidare.</a:t>
            </a:r>
          </a:p>
          <a:p>
            <a:pPr marL="0" indent="0">
              <a:buNone/>
            </a:pPr>
            <a:endParaRPr lang="sv-SE"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en-SE" b="1" dirty="0"/>
              <a:t>Fråga B.1–B.3:</a:t>
            </a:r>
            <a:br>
              <a:rPr lang="en-SE" dirty="0"/>
            </a:br>
            <a:r>
              <a:rPr lang="en-SE" dirty="0"/>
              <a:t>Vilka SUN5-inriktningar har högst beviljandegrad, hur många ansökningar ligger bakom och vilken betydelse har studieformen?</a:t>
            </a:r>
          </a:p>
          <a:p>
            <a:pPr marL="0" indent="0">
              <a:buNone/>
            </a:pPr>
            <a:r>
              <a:rPr lang="en-SE" b="1" dirty="0"/>
              <a:t>Syfte:</a:t>
            </a:r>
            <a:br>
              <a:rPr lang="en-SE" dirty="0"/>
            </a:br>
            <a:r>
              <a:rPr lang="en-SE" dirty="0"/>
              <a:t>Identifiera framgångsrika utbildningsinriktningar och undersöka om bunden utbildning eller distansutbildning ger olika resultat.</a:t>
            </a:r>
          </a:p>
          <a:p>
            <a:pPr marL="0" indent="0">
              <a:buNone/>
            </a:pPr>
            <a:r>
              <a:rPr lang="en-SE" b="1" dirty="0"/>
              <a:t>Resultat:</a:t>
            </a:r>
            <a:br>
              <a:rPr lang="en-SE" dirty="0"/>
            </a:br>
            <a:r>
              <a:rPr lang="en-SE" dirty="0"/>
              <a:t>46 SUN5-inriktningar hade minst 80 % beviljandegrad totalt. När studieformerna analyserades separat uppfyllde 47 bundna och 32 distansinriktningar samma kriterium.</a:t>
            </a:r>
          </a:p>
          <a:p>
            <a:pPr marL="0" indent="0">
              <a:buNone/>
            </a:pPr>
            <a:r>
              <a:rPr lang="en-SE" dirty="0"/>
              <a:t>Skillnaden beror på att beviljandegraden beräknas separat för varje urval.</a:t>
            </a:r>
          </a:p>
          <a:p>
            <a:pPr marL="0" indent="0">
              <a:buNone/>
            </a:pPr>
            <a:r>
              <a:rPr lang="en-SE" dirty="0"/>
              <a:t>Exempelvis hade elkonstruktörsutbildningar 100 % beviljandegrad i bunden form (3 av 3), men endast 42,86 % på distans (3 av 7). Den sammanlagda beviljandegraden blev därför 60 %.</a:t>
            </a:r>
          </a:p>
          <a:p>
            <a:pPr marL="0" indent="0">
              <a:buNone/>
            </a:pPr>
            <a:r>
              <a:rPr lang="en-SE" dirty="0"/>
              <a:t>Tandsköterskeutbildningar utmärkte sig med 100 % beviljandegrad (17 av 17), fördelat på båda studieformerna.</a:t>
            </a:r>
          </a:p>
          <a:p>
            <a:pPr marL="0" indent="0">
              <a:buNone/>
            </a:pPr>
            <a:r>
              <a:rPr lang="en-SE" b="1" dirty="0"/>
              <a:t>Slutsats:</a:t>
            </a:r>
            <a:br>
              <a:rPr lang="en-SE" dirty="0"/>
            </a:br>
            <a:r>
              <a:rPr lang="en-SE" dirty="0"/>
              <a:t>En inriktning kan vara framgångsrik inom en studieform utan att nå samma resultat totalt. The Skool bör därför väga in både studieform, beviljandegrad och antal ansökningar vid val av framtida utbildningar.</a:t>
            </a:r>
          </a:p>
          <a:p>
            <a:pPr marL="0" indent="0">
              <a:buNone/>
            </a:pPr>
            <a:endParaRPr lang="sv-SE"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en-SE" b="1" dirty="0"/>
              <a:t>Fråga C.1–C.3:</a:t>
            </a:r>
            <a:br>
              <a:rPr lang="en-SE" dirty="0"/>
            </a:br>
            <a:r>
              <a:rPr lang="en-SE" dirty="0"/>
              <a:t>Vilka utbildningsområden har högst beviljandegrad, hur många ansökningar ligger bakom och vilken betydelse har studieformen?</a:t>
            </a:r>
          </a:p>
          <a:p>
            <a:pPr marL="0" indent="0">
              <a:buNone/>
            </a:pPr>
            <a:r>
              <a:rPr lang="en-SE" b="1" dirty="0"/>
              <a:t>Syfte:</a:t>
            </a:r>
            <a:br>
              <a:rPr lang="en-SE" dirty="0"/>
            </a:br>
            <a:r>
              <a:rPr lang="en-SE" dirty="0"/>
              <a:t>Identifiera framgångsrika utbildningsområden och undersöka om bunden utbildning eller distansutbildning ger olika resultat.</a:t>
            </a:r>
          </a:p>
          <a:p>
            <a:pPr marL="0" indent="0">
              <a:buNone/>
            </a:pPr>
            <a:r>
              <a:rPr lang="en-SE" b="1" dirty="0"/>
              <a:t>Resultat:</a:t>
            </a:r>
            <a:br>
              <a:rPr lang="en-SE" dirty="0"/>
            </a:br>
            <a:r>
              <a:rPr lang="en-SE" dirty="0"/>
              <a:t>Eftersom områden räcker ett större spann än tidigare frågor, så slopades här 80%-kravet. Resultatet är spretigt. Transporttjänster vann beviljandegraden </a:t>
            </a:r>
            <a:r>
              <a:rPr lang="en-SE"/>
              <a:t>med 64.29</a:t>
            </a:r>
            <a:r>
              <a:rPr lang="en-SE" dirty="0"/>
              <a:t>% av 14 ansökningar, medan DATA/IT kom på sista plats med 14.09% av 220 ansökningar. Stor skillnad sedan på bundet eller distans.</a:t>
            </a:r>
          </a:p>
          <a:p>
            <a:pPr marL="0" indent="0">
              <a:buNone/>
            </a:pPr>
            <a:r>
              <a:rPr lang="en-SE" b="1" dirty="0"/>
              <a:t>Slutsats:</a:t>
            </a:r>
            <a:br>
              <a:rPr lang="en-SE" dirty="0"/>
            </a:br>
            <a:r>
              <a:rPr lang="en-SE" dirty="0"/>
              <a:t>Ämnet utbildningsområden är för stort och spretigt attt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dirty="0"/>
          </a:p>
        </p:txBody>
      </p:sp>
    </p:spTree>
    <p:extLst>
      <p:ext uri="{BB962C8B-B14F-4D97-AF65-F5344CB8AC3E}">
        <p14:creationId xmlns:p14="http://schemas.microsoft.com/office/powerpoint/2010/main" val="13141623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610</TotalTime>
  <Words>1516</Words>
  <Application>Microsoft Macintosh PowerPoint</Application>
  <PresentationFormat>Widescreen</PresentationFormat>
  <Paragraphs>60</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9</cp:revision>
  <dcterms:created xsi:type="dcterms:W3CDTF">2026-10-19T14:14:52Z</dcterms:created>
  <dcterms:modified xsi:type="dcterms:W3CDTF">2026-10-22T18:50:49Z</dcterms:modified>
</cp:coreProperties>
</file>