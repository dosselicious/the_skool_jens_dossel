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35"/>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eller studieform.</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räcker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
            </a:r>
            <a:r>
              <a:rPr lang="sv-SE" noProof="0" dirty="0" err="1"/>
              <a:t>attt</a:t>
            </a:r>
            <a:r>
              <a:rPr lang="sv-SE" noProof="0" dirty="0"/>
              <a: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dirty="0"/>
            </a:br>
            <a:r>
              <a:rPr lang="sv-SE" noProof="0" dirty="0"/>
              <a:t>Undersöka om det finns samband mellan utbildningens längd, antalet sökta utbildningsomgångar och beviljandegraden, samt hur många omgångar som faktiskt beviljas.</a:t>
            </a:r>
          </a:p>
          <a:p>
            <a:pPr marL="0" indent="0">
              <a:buNone/>
            </a:pPr>
            <a:r>
              <a:rPr lang="sv-SE" b="1" noProof="0" dirty="0"/>
              <a:t>Resultat:</a:t>
            </a:r>
            <a:br>
              <a:rPr lang="sv-SE" noProof="0" dirty="0"/>
            </a:br>
            <a:r>
              <a:rPr lang="sv-SE" noProof="0" dirty="0"/>
              <a:t>Resultatet visar stora skillnader. Ca 90% av alla beviljade utbildningar har 3 omgångar, och 118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B25-E496-195A-FBF9-C010DDBE7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4D3ED-E543-7ADB-D6F5-5BF80A2609F7}"/>
              </a:ext>
            </a:extLst>
          </p:cNvPr>
          <p:cNvSpPr>
            <a:spLocks noGrp="1"/>
          </p:cNvSpPr>
          <p:nvPr>
            <p:ph type="title"/>
          </p:nvPr>
        </p:nvSpPr>
        <p:spPr/>
        <p:txBody>
          <a:bodyPr/>
          <a:lstStyle/>
          <a:p>
            <a:r>
              <a:rPr lang="sv-SE" noProof="0" dirty="0"/>
              <a:t>Uppgift 3 – Datadrivna beslut – Fråga F</a:t>
            </a:r>
          </a:p>
        </p:txBody>
      </p:sp>
      <p:sp>
        <p:nvSpPr>
          <p:cNvPr id="3" name="Content Placeholder 2">
            <a:extLst>
              <a:ext uri="{FF2B5EF4-FFF2-40B4-BE49-F238E27FC236}">
                <a16:creationId xmlns:a16="http://schemas.microsoft.com/office/drawing/2014/main" id="{BDDA153D-A154-9941-24FB-943BE0DC09E4}"/>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noProof="0" dirty="0"/>
              <a:t>Nu har The </a:t>
            </a:r>
            <a:r>
              <a:rPr lang="sv-SE" noProof="0" dirty="0" err="1"/>
              <a:t>Skool</a:t>
            </a:r>
            <a:r>
              <a:rPr lang="sv-SE" noProof="0" dirty="0"/>
              <a:t> fått svar på hur beviljandegraden sett ut fördelat på en mängd olika faktorer, och egentligen är det upp till dem att analysera affärsmöjligheterna nu.</a:t>
            </a:r>
          </a:p>
          <a:p>
            <a:pPr marL="0" indent="0">
              <a:buNone/>
            </a:pPr>
            <a:r>
              <a:rPr lang="sv-SE" noProof="0" dirty="0"/>
              <a:t>Men vi ska hjälpa dem med en sista fråga.</a:t>
            </a:r>
            <a:br>
              <a:rPr lang="sv-SE" noProof="0" dirty="0"/>
            </a:br>
            <a:r>
              <a:rPr lang="sv-SE" noProof="0" dirty="0"/>
              <a:t>Vi vet redan vilka SUN5-inriktningar som hade 100% beviljandegrad, att inga områden fick 100%, att 3 utbildningsomgångar är det MYH verkar föredra och att 300 YH-poäng och högre verkar vara mest attraktiva, men:</a:t>
            </a:r>
            <a:br>
              <a:rPr lang="sv-SE" noProof="0" dirty="0"/>
            </a:br>
            <a:br>
              <a:rPr lang="sv-SE" noProof="0" dirty="0"/>
            </a:br>
            <a:r>
              <a:rPr lang="sv-SE" b="1" noProof="0" dirty="0"/>
              <a:t>Vilka bundna utbildningar har 100 % beviljandegrad, och i vilka län saknas ansökningar om dessa utbildningar?</a:t>
            </a:r>
          </a:p>
          <a:p>
            <a:pPr marL="0" indent="0">
              <a:buNone/>
            </a:pPr>
            <a:r>
              <a:rPr lang="sv-SE" noProof="0" dirty="0"/>
              <a:t>Eftersom behovet av dessa kompetenser bedömdes vara högt, så </a:t>
            </a:r>
            <a:r>
              <a:rPr lang="sv-SE" noProof="0" dirty="0" err="1"/>
              <a:t>kanska</a:t>
            </a:r>
            <a:r>
              <a:rPr lang="sv-SE" noProof="0" dirty="0"/>
              <a:t> det alltså finnas ett fortsatt behov i de län där de aldrig ansöktes.</a:t>
            </a:r>
          </a:p>
          <a:p>
            <a:pPr marL="0" indent="0">
              <a:buNone/>
            </a:pPr>
            <a:r>
              <a:rPr lang="sv-SE" noProof="0" dirty="0"/>
              <a:t>Först skapar vi två </a:t>
            </a:r>
            <a:r>
              <a:rPr lang="sv-SE" noProof="0" dirty="0" err="1"/>
              <a:t>datasets</a:t>
            </a:r>
            <a:r>
              <a:rPr lang="sv-SE" noProof="0" dirty="0"/>
              <a:t> med CTE för att ta reda på vilka utbildningar som haft 100% beviljandegrad och minst 3 ansökningar, och vilka olika län som finns, och sedan en cross </a:t>
            </a:r>
            <a:r>
              <a:rPr lang="sv-SE" noProof="0" dirty="0" err="1"/>
              <a:t>join</a:t>
            </a:r>
            <a:r>
              <a:rPr lang="sv-SE" noProof="0" dirty="0"/>
              <a:t> för att kunna kombinera dataseten och sist skapar vi frågan vilka av utbildningarna från första datasetet har INTE med något av de unika länen från det andra setet. </a:t>
            </a:r>
          </a:p>
          <a:p>
            <a:pPr marL="0" indent="0">
              <a:buNone/>
            </a:pPr>
            <a:endParaRPr lang="sv-SE" noProof="0" dirty="0"/>
          </a:p>
        </p:txBody>
      </p:sp>
    </p:spTree>
    <p:extLst>
      <p:ext uri="{BB962C8B-B14F-4D97-AF65-F5344CB8AC3E}">
        <p14:creationId xmlns:p14="http://schemas.microsoft.com/office/powerpoint/2010/main" val="23417244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BFF33-0326-BC9F-71F7-A9196F8C7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64028-6295-FA9E-F5C9-D79C84662C84}"/>
              </a:ext>
            </a:extLst>
          </p:cNvPr>
          <p:cNvSpPr>
            <a:spLocks noGrp="1"/>
          </p:cNvSpPr>
          <p:nvPr>
            <p:ph type="title"/>
          </p:nvPr>
        </p:nvSpPr>
        <p:spPr/>
        <p:txBody>
          <a:bodyPr/>
          <a:lstStyle/>
          <a:p>
            <a:r>
              <a:rPr lang="sv-SE" noProof="0" dirty="0"/>
              <a:t>Uppgift 3 – Datadrivna beslut – Fråga F forts</a:t>
            </a:r>
          </a:p>
        </p:txBody>
      </p:sp>
      <p:sp>
        <p:nvSpPr>
          <p:cNvPr id="3" name="Content Placeholder 2">
            <a:extLst>
              <a:ext uri="{FF2B5EF4-FFF2-40B4-BE49-F238E27FC236}">
                <a16:creationId xmlns:a16="http://schemas.microsoft.com/office/drawing/2014/main" id="{4566FB10-AB1E-2C77-5F3C-228B4E8A9D70}"/>
              </a:ext>
            </a:extLst>
          </p:cNvPr>
          <p:cNvSpPr>
            <a:spLocks noGrp="1"/>
          </p:cNvSpPr>
          <p:nvPr>
            <p:ph idx="1"/>
          </p:nvPr>
        </p:nvSpPr>
        <p:spPr>
          <a:xfrm>
            <a:off x="838200" y="1690688"/>
            <a:ext cx="10515600" cy="4926050"/>
          </a:xfrm>
        </p:spPr>
        <p:txBody>
          <a:bodyPr>
            <a:normAutofit fontScale="92500" lnSpcReduction="10000"/>
          </a:bodyPr>
          <a:lstStyle/>
          <a:p>
            <a:pPr marL="0" indent="0">
              <a:buNone/>
            </a:pPr>
            <a:r>
              <a:rPr lang="sv-SE" noProof="0" dirty="0"/>
              <a:t>Jag vill här understryka att min roll inte är affärsutvecklare åt The </a:t>
            </a:r>
            <a:r>
              <a:rPr lang="sv-SE" noProof="0" dirty="0" err="1"/>
              <a:t>Skool</a:t>
            </a:r>
            <a:r>
              <a:rPr lang="sv-SE" noProof="0" dirty="0"/>
              <a:t>. Om jag hade varit det, så hade jag velat ha flera års data att jämföra för att se eventuella trender etc.</a:t>
            </a:r>
            <a:br>
              <a:rPr lang="sv-SE" noProof="0" dirty="0"/>
            </a:br>
            <a:endParaRPr lang="sv-SE" noProof="0" dirty="0"/>
          </a:p>
          <a:p>
            <a:pPr marL="0" indent="0">
              <a:buNone/>
            </a:pPr>
            <a:r>
              <a:rPr lang="sv-SE" noProof="0"/>
              <a:t>Men mitt råd, baserat på resultaten, hade varit att satsa på utbildningar till tandsköterska i de län de INTE förekom i 2025 års lista, och i övrigt undersöka utbildningar på 300–600 YH-poäng och planera utifrån att tre utbildningsomgångar oftast beviljas. </a:t>
            </a:r>
          </a:p>
          <a:p>
            <a:pPr marL="0" indent="0">
              <a:buNone/>
            </a:pPr>
            <a:endParaRPr lang="sv-SE" noProof="0" dirty="0"/>
          </a:p>
          <a:p>
            <a:pPr marL="0" indent="0">
              <a:buNone/>
            </a:pPr>
            <a:r>
              <a:rPr lang="sv-SE" noProof="0" dirty="0"/>
              <a:t>Så nästa steg är troligen att boka in möten med företrädare för tandvården i de länen för att sondera behovet närmare, samt om möjligt kontrollera varifrån studenterna på de 6 distans-utbildningarna till tandsköterska kom från för att eventuellt prioritera ned län med många studenter där.</a:t>
            </a:r>
          </a:p>
        </p:txBody>
      </p:sp>
    </p:spTree>
    <p:extLst>
      <p:ext uri="{BB962C8B-B14F-4D97-AF65-F5344CB8AC3E}">
        <p14:creationId xmlns:p14="http://schemas.microsoft.com/office/powerpoint/2010/main" val="42085889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899</TotalTime>
  <Words>2169</Words>
  <Application>Microsoft Macintosh PowerPoint</Application>
  <PresentationFormat>Widescreen</PresentationFormat>
  <Paragraphs>80</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lpstr>Uppgift 3 – Datadrivna beslut – Fråga F</vt:lpstr>
      <vt:lpstr>Uppgift 3 – Datadrivna beslut – Fråga F forts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12</cp:revision>
  <dcterms:created xsi:type="dcterms:W3CDTF">2026-10-19T14:14:52Z</dcterms:created>
  <dcterms:modified xsi:type="dcterms:W3CDTF">2026-10-26T13:58:25Z</dcterms:modified>
</cp:coreProperties>
</file>