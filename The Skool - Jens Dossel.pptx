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335"/>
    <p:restoredTop sz="94658"/>
  </p:normalViewPr>
  <p:slideViewPr>
    <p:cSldViewPr snapToGrid="0">
      <p:cViewPr varScale="1">
        <p:scale>
          <a:sx n="116" d="100"/>
          <a:sy n="116" d="100"/>
        </p:scale>
        <p:origin x="208" y="2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E09E2-6289-3DED-6D12-1C463FDBB55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sv-SE"/>
          </a:p>
        </p:txBody>
      </p:sp>
      <p:sp>
        <p:nvSpPr>
          <p:cNvPr id="3" name="Subtitle 2">
            <a:extLst>
              <a:ext uri="{FF2B5EF4-FFF2-40B4-BE49-F238E27FC236}">
                <a16:creationId xmlns:a16="http://schemas.microsoft.com/office/drawing/2014/main" id="{38F5EEFE-A772-14D3-2060-DB1637AFD7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sv-SE"/>
          </a:p>
        </p:txBody>
      </p:sp>
      <p:sp>
        <p:nvSpPr>
          <p:cNvPr id="4" name="Date Placeholder 3">
            <a:extLst>
              <a:ext uri="{FF2B5EF4-FFF2-40B4-BE49-F238E27FC236}">
                <a16:creationId xmlns:a16="http://schemas.microsoft.com/office/drawing/2014/main" id="{BFC2BAA9-6BD3-EDEA-110E-64DAEB6737BF}"/>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5" name="Footer Placeholder 4">
            <a:extLst>
              <a:ext uri="{FF2B5EF4-FFF2-40B4-BE49-F238E27FC236}">
                <a16:creationId xmlns:a16="http://schemas.microsoft.com/office/drawing/2014/main" id="{61FB6CC1-84E1-F493-7FC0-D33F5CE95376}"/>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83030DF-2413-110F-6E58-F15D372A86B1}"/>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936804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B2163-0857-75B0-2326-864500EA4DF9}"/>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60B782F4-2840-09EF-C87C-0A18D3C5863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FF716A0D-2FC5-F983-AACE-D653FAC8FD8C}"/>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5" name="Footer Placeholder 4">
            <a:extLst>
              <a:ext uri="{FF2B5EF4-FFF2-40B4-BE49-F238E27FC236}">
                <a16:creationId xmlns:a16="http://schemas.microsoft.com/office/drawing/2014/main" id="{3D30BA05-6FBC-A97D-503C-FED7CAC60BB2}"/>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C2302B9D-2BB0-3045-AA70-D11FD2C1F10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7217568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29A44-3634-C479-B915-6FC8937B89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sv-SE"/>
          </a:p>
        </p:txBody>
      </p:sp>
      <p:sp>
        <p:nvSpPr>
          <p:cNvPr id="3" name="Text Placeholder 2">
            <a:extLst>
              <a:ext uri="{FF2B5EF4-FFF2-40B4-BE49-F238E27FC236}">
                <a16:creationId xmlns:a16="http://schemas.microsoft.com/office/drawing/2014/main" id="{77335C92-48C3-E649-453F-001985A99C0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7C179E4-FED1-D2E5-69FB-0E608A153229}"/>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5" name="Footer Placeholder 4">
            <a:extLst>
              <a:ext uri="{FF2B5EF4-FFF2-40B4-BE49-F238E27FC236}">
                <a16:creationId xmlns:a16="http://schemas.microsoft.com/office/drawing/2014/main" id="{68DA4B98-204A-CD0F-A83F-EE901C56BF41}"/>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FA5230D2-435B-8689-90C3-7BCC64C4AA5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349764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B66A9-3A3E-081F-822E-9CA65CA1A5AC}"/>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361AD2CD-0BA7-EFC3-F237-06243FBC91A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Content Placeholder 3">
            <a:extLst>
              <a:ext uri="{FF2B5EF4-FFF2-40B4-BE49-F238E27FC236}">
                <a16:creationId xmlns:a16="http://schemas.microsoft.com/office/drawing/2014/main" id="{C3FDCC55-7106-4D88-E6A2-1BCC2170BFA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Date Placeholder 4">
            <a:extLst>
              <a:ext uri="{FF2B5EF4-FFF2-40B4-BE49-F238E27FC236}">
                <a16:creationId xmlns:a16="http://schemas.microsoft.com/office/drawing/2014/main" id="{B278F9B3-11CC-5815-86D9-F8047A086C39}"/>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6" name="Footer Placeholder 5">
            <a:extLst>
              <a:ext uri="{FF2B5EF4-FFF2-40B4-BE49-F238E27FC236}">
                <a16:creationId xmlns:a16="http://schemas.microsoft.com/office/drawing/2014/main" id="{479712DD-6E9C-5B33-A48E-7302060B5E88}"/>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A82624D8-6B78-59A2-EF3F-AFAE5552ADD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994554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61979-647C-A367-827A-9B7D1C2F9F4E}"/>
              </a:ext>
            </a:extLst>
          </p:cNvPr>
          <p:cNvSpPr>
            <a:spLocks noGrp="1"/>
          </p:cNvSpPr>
          <p:nvPr>
            <p:ph type="title"/>
          </p:nvPr>
        </p:nvSpPr>
        <p:spPr>
          <a:xfrm>
            <a:off x="839788" y="365125"/>
            <a:ext cx="10515600" cy="1325563"/>
          </a:xfrm>
        </p:spPr>
        <p:txBody>
          <a:bodyPr/>
          <a:lstStyle/>
          <a:p>
            <a:r>
              <a:rPr lang="en-GB"/>
              <a:t>Click to edit Master title style</a:t>
            </a:r>
            <a:endParaRPr lang="sv-SE"/>
          </a:p>
        </p:txBody>
      </p:sp>
      <p:sp>
        <p:nvSpPr>
          <p:cNvPr id="3" name="Text Placeholder 2">
            <a:extLst>
              <a:ext uri="{FF2B5EF4-FFF2-40B4-BE49-F238E27FC236}">
                <a16:creationId xmlns:a16="http://schemas.microsoft.com/office/drawing/2014/main" id="{87BE1AE7-BDB0-EF3C-A5DE-81E773301D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306028-258F-40FC-A883-BD57F21D04E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Text Placeholder 4">
            <a:extLst>
              <a:ext uri="{FF2B5EF4-FFF2-40B4-BE49-F238E27FC236}">
                <a16:creationId xmlns:a16="http://schemas.microsoft.com/office/drawing/2014/main" id="{9F22F79D-951F-C3C8-AEB7-880A2F5542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9A07888-2C15-105F-C1C7-8EEA98EAA78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7" name="Date Placeholder 6">
            <a:extLst>
              <a:ext uri="{FF2B5EF4-FFF2-40B4-BE49-F238E27FC236}">
                <a16:creationId xmlns:a16="http://schemas.microsoft.com/office/drawing/2014/main" id="{FF119C60-90D6-C277-C96D-F2FC2ADCACF0}"/>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8" name="Footer Placeholder 7">
            <a:extLst>
              <a:ext uri="{FF2B5EF4-FFF2-40B4-BE49-F238E27FC236}">
                <a16:creationId xmlns:a16="http://schemas.microsoft.com/office/drawing/2014/main" id="{E1642565-2743-34AA-CB75-27F76B861401}"/>
              </a:ext>
            </a:extLst>
          </p:cNvPr>
          <p:cNvSpPr>
            <a:spLocks noGrp="1"/>
          </p:cNvSpPr>
          <p:nvPr>
            <p:ph type="ftr" sz="quarter" idx="11"/>
          </p:nvPr>
        </p:nvSpPr>
        <p:spPr/>
        <p:txBody>
          <a:bodyPr/>
          <a:lstStyle/>
          <a:p>
            <a:endParaRPr lang="sv-SE"/>
          </a:p>
        </p:txBody>
      </p:sp>
      <p:sp>
        <p:nvSpPr>
          <p:cNvPr id="9" name="Slide Number Placeholder 8">
            <a:extLst>
              <a:ext uri="{FF2B5EF4-FFF2-40B4-BE49-F238E27FC236}">
                <a16:creationId xmlns:a16="http://schemas.microsoft.com/office/drawing/2014/main" id="{400B839B-C5C2-81D2-A039-8687BB40B43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7333701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03D8A-F167-F737-4B5F-9664767FF266}"/>
              </a:ext>
            </a:extLst>
          </p:cNvPr>
          <p:cNvSpPr>
            <a:spLocks noGrp="1"/>
          </p:cNvSpPr>
          <p:nvPr>
            <p:ph type="title"/>
          </p:nvPr>
        </p:nvSpPr>
        <p:spPr/>
        <p:txBody>
          <a:bodyPr/>
          <a:lstStyle/>
          <a:p>
            <a:r>
              <a:rPr lang="en-GB"/>
              <a:t>Click to edit Master title style</a:t>
            </a:r>
            <a:endParaRPr lang="sv-SE"/>
          </a:p>
        </p:txBody>
      </p:sp>
      <p:sp>
        <p:nvSpPr>
          <p:cNvPr id="3" name="Date Placeholder 2">
            <a:extLst>
              <a:ext uri="{FF2B5EF4-FFF2-40B4-BE49-F238E27FC236}">
                <a16:creationId xmlns:a16="http://schemas.microsoft.com/office/drawing/2014/main" id="{F64C3AF5-A573-1CB7-FA5E-1EFB086C008F}"/>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4" name="Footer Placeholder 3">
            <a:extLst>
              <a:ext uri="{FF2B5EF4-FFF2-40B4-BE49-F238E27FC236}">
                <a16:creationId xmlns:a16="http://schemas.microsoft.com/office/drawing/2014/main" id="{50199372-1FFA-53AF-7F3B-A0E8B69B74BA}"/>
              </a:ext>
            </a:extLst>
          </p:cNvPr>
          <p:cNvSpPr>
            <a:spLocks noGrp="1"/>
          </p:cNvSpPr>
          <p:nvPr>
            <p:ph type="ftr" sz="quarter" idx="11"/>
          </p:nvPr>
        </p:nvSpPr>
        <p:spPr/>
        <p:txBody>
          <a:bodyPr/>
          <a:lstStyle/>
          <a:p>
            <a:endParaRPr lang="sv-SE"/>
          </a:p>
        </p:txBody>
      </p:sp>
      <p:sp>
        <p:nvSpPr>
          <p:cNvPr id="5" name="Slide Number Placeholder 4">
            <a:extLst>
              <a:ext uri="{FF2B5EF4-FFF2-40B4-BE49-F238E27FC236}">
                <a16:creationId xmlns:a16="http://schemas.microsoft.com/office/drawing/2014/main" id="{C96FA504-A464-DFBA-544A-4680A5BAF164}"/>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585557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83532A-AA9A-8E5A-D5D8-7A2B89026B47}"/>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3" name="Footer Placeholder 2">
            <a:extLst>
              <a:ext uri="{FF2B5EF4-FFF2-40B4-BE49-F238E27FC236}">
                <a16:creationId xmlns:a16="http://schemas.microsoft.com/office/drawing/2014/main" id="{53CC9E77-FE38-E778-80BD-6F0FFFB210DC}"/>
              </a:ext>
            </a:extLst>
          </p:cNvPr>
          <p:cNvSpPr>
            <a:spLocks noGrp="1"/>
          </p:cNvSpPr>
          <p:nvPr>
            <p:ph type="ftr" sz="quarter" idx="11"/>
          </p:nvPr>
        </p:nvSpPr>
        <p:spPr/>
        <p:txBody>
          <a:bodyPr/>
          <a:lstStyle/>
          <a:p>
            <a:endParaRPr lang="sv-SE"/>
          </a:p>
        </p:txBody>
      </p:sp>
      <p:sp>
        <p:nvSpPr>
          <p:cNvPr id="4" name="Slide Number Placeholder 3">
            <a:extLst>
              <a:ext uri="{FF2B5EF4-FFF2-40B4-BE49-F238E27FC236}">
                <a16:creationId xmlns:a16="http://schemas.microsoft.com/office/drawing/2014/main" id="{C66B2826-6704-FDE1-2488-EB5A7867E9A8}"/>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887898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F2EE6-5683-4700-D0C3-DA34151FDE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Content Placeholder 2">
            <a:extLst>
              <a:ext uri="{FF2B5EF4-FFF2-40B4-BE49-F238E27FC236}">
                <a16:creationId xmlns:a16="http://schemas.microsoft.com/office/drawing/2014/main" id="{3D69F4D1-A1DE-6CCF-8CF3-BA1809C7D6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Text Placeholder 3">
            <a:extLst>
              <a:ext uri="{FF2B5EF4-FFF2-40B4-BE49-F238E27FC236}">
                <a16:creationId xmlns:a16="http://schemas.microsoft.com/office/drawing/2014/main" id="{F3B4F5A9-A48B-E99C-EBDF-5132AA5294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30931F9-FCEE-D643-24FB-95B72D04A6AD}"/>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6" name="Footer Placeholder 5">
            <a:extLst>
              <a:ext uri="{FF2B5EF4-FFF2-40B4-BE49-F238E27FC236}">
                <a16:creationId xmlns:a16="http://schemas.microsoft.com/office/drawing/2014/main" id="{7FAB59A5-8CBD-1B6B-C1F1-D6A9251DF1FA}"/>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35802E0A-A627-D54F-8BC6-6A5A81A7CCD5}"/>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997316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48EEC-0251-F60D-EF53-C841754729D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Picture Placeholder 2">
            <a:extLst>
              <a:ext uri="{FF2B5EF4-FFF2-40B4-BE49-F238E27FC236}">
                <a16:creationId xmlns:a16="http://schemas.microsoft.com/office/drawing/2014/main" id="{1420BF07-EBA0-1625-CDF7-67BF5CFD3EE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a:extLst>
              <a:ext uri="{FF2B5EF4-FFF2-40B4-BE49-F238E27FC236}">
                <a16:creationId xmlns:a16="http://schemas.microsoft.com/office/drawing/2014/main" id="{4C632E95-0ED4-CA98-212B-945526448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D49166-D148-0FBC-897D-BCDEE8676C3E}"/>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6" name="Footer Placeholder 5">
            <a:extLst>
              <a:ext uri="{FF2B5EF4-FFF2-40B4-BE49-F238E27FC236}">
                <a16:creationId xmlns:a16="http://schemas.microsoft.com/office/drawing/2014/main" id="{B262F951-71B8-3212-03A0-2559A47B9DDB}"/>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B242061A-47EF-E2B7-1E26-3634DB7FA0B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898668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3CC2-AD2C-978D-86AF-963B17C3DF74}"/>
              </a:ext>
            </a:extLst>
          </p:cNvPr>
          <p:cNvSpPr>
            <a:spLocks noGrp="1"/>
          </p:cNvSpPr>
          <p:nvPr>
            <p:ph type="title"/>
          </p:nvPr>
        </p:nvSpPr>
        <p:spPr/>
        <p:txBody>
          <a:bodyPr/>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A2D90E29-5151-FACB-1CF6-BE5D9663B3E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B622A40A-FA9D-BC86-80FD-25416BAE8CFD}"/>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5" name="Footer Placeholder 4">
            <a:extLst>
              <a:ext uri="{FF2B5EF4-FFF2-40B4-BE49-F238E27FC236}">
                <a16:creationId xmlns:a16="http://schemas.microsoft.com/office/drawing/2014/main" id="{99E34179-29A9-80B9-4667-970F85FA49E0}"/>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EFD9AFE-EFE8-EB00-C5FE-79D0A346EE40}"/>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155910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B59448-6140-68D1-180D-6A98739917A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CF580AC4-4A67-8E3A-7DE1-262D1F6F3FF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9C8EE54B-06BE-9DFA-7BB4-ADEA549536CD}"/>
              </a:ext>
            </a:extLst>
          </p:cNvPr>
          <p:cNvSpPr>
            <a:spLocks noGrp="1"/>
          </p:cNvSpPr>
          <p:nvPr>
            <p:ph type="dt" sz="half" idx="10"/>
          </p:nvPr>
        </p:nvSpPr>
        <p:spPr/>
        <p:txBody>
          <a:bodyPr/>
          <a:lstStyle/>
          <a:p>
            <a:fld id="{6C16D705-C0C0-2245-8918-EBC3ED83AE9D}" type="datetimeFigureOut">
              <a:rPr lang="sv-SE" smtClean="0"/>
              <a:t>2026-10-23</a:t>
            </a:fld>
            <a:endParaRPr lang="sv-SE"/>
          </a:p>
        </p:txBody>
      </p:sp>
      <p:sp>
        <p:nvSpPr>
          <p:cNvPr id="5" name="Footer Placeholder 4">
            <a:extLst>
              <a:ext uri="{FF2B5EF4-FFF2-40B4-BE49-F238E27FC236}">
                <a16:creationId xmlns:a16="http://schemas.microsoft.com/office/drawing/2014/main" id="{11D9FBAD-33A7-3CC1-DF5A-C7736CBDB5A9}"/>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A898C652-2324-FF9E-4C61-4B57F1E68117}"/>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4135992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8459DB-DD70-413F-A495-D305162B3A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sv-SE"/>
          </a:p>
        </p:txBody>
      </p:sp>
      <p:sp>
        <p:nvSpPr>
          <p:cNvPr id="3" name="Text Placeholder 2">
            <a:extLst>
              <a:ext uri="{FF2B5EF4-FFF2-40B4-BE49-F238E27FC236}">
                <a16:creationId xmlns:a16="http://schemas.microsoft.com/office/drawing/2014/main" id="{D41F297E-8245-1517-9E30-E91C388D7F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60DC2CCC-007E-2FBA-B5F3-99BF457148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16D705-C0C0-2245-8918-EBC3ED83AE9D}" type="datetimeFigureOut">
              <a:rPr lang="sv-SE" smtClean="0"/>
              <a:t>2026-10-23</a:t>
            </a:fld>
            <a:endParaRPr lang="sv-SE"/>
          </a:p>
        </p:txBody>
      </p:sp>
      <p:sp>
        <p:nvSpPr>
          <p:cNvPr id="5" name="Footer Placeholder 4">
            <a:extLst>
              <a:ext uri="{FF2B5EF4-FFF2-40B4-BE49-F238E27FC236}">
                <a16:creationId xmlns:a16="http://schemas.microsoft.com/office/drawing/2014/main" id="{39551510-5640-49F6-A4EF-DC19565EC5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Slide Number Placeholder 5">
            <a:extLst>
              <a:ext uri="{FF2B5EF4-FFF2-40B4-BE49-F238E27FC236}">
                <a16:creationId xmlns:a16="http://schemas.microsoft.com/office/drawing/2014/main" id="{DAA945A5-B5D3-88CE-082E-B92722FE40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B4785A-5206-5C4A-B0FA-198E3231A515}" type="slidenum">
              <a:rPr lang="sv-SE" smtClean="0"/>
              <a:t>‹#›</a:t>
            </a:fld>
            <a:endParaRPr lang="sv-SE"/>
          </a:p>
        </p:txBody>
      </p:sp>
    </p:spTree>
    <p:extLst>
      <p:ext uri="{BB962C8B-B14F-4D97-AF65-F5344CB8AC3E}">
        <p14:creationId xmlns:p14="http://schemas.microsoft.com/office/powerpoint/2010/main" val="9571462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mailto:git@github.com:dosselicious/the_skool_jens_dossel.gi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4DBD8-733C-FBB4-C7C4-A25FFB06636E}"/>
              </a:ext>
            </a:extLst>
          </p:cNvPr>
          <p:cNvSpPr>
            <a:spLocks noGrp="1"/>
          </p:cNvSpPr>
          <p:nvPr>
            <p:ph type="ctrTitle"/>
          </p:nvPr>
        </p:nvSpPr>
        <p:spPr/>
        <p:txBody>
          <a:bodyPr/>
          <a:lstStyle/>
          <a:p>
            <a:r>
              <a:rPr lang="sv-SE" noProof="0" dirty="0"/>
              <a:t>The </a:t>
            </a:r>
            <a:r>
              <a:rPr lang="sv-SE" noProof="0" dirty="0" err="1"/>
              <a:t>Skool</a:t>
            </a:r>
            <a:r>
              <a:rPr lang="sv-SE" noProof="0" dirty="0"/>
              <a:t> – Jens Dossel</a:t>
            </a:r>
          </a:p>
        </p:txBody>
      </p:sp>
      <p:sp>
        <p:nvSpPr>
          <p:cNvPr id="3" name="Subtitle 2">
            <a:extLst>
              <a:ext uri="{FF2B5EF4-FFF2-40B4-BE49-F238E27FC236}">
                <a16:creationId xmlns:a16="http://schemas.microsoft.com/office/drawing/2014/main" id="{82F11707-E037-C1E0-09C9-D4A77413A3CD}"/>
              </a:ext>
            </a:extLst>
          </p:cNvPr>
          <p:cNvSpPr>
            <a:spLocks noGrp="1"/>
          </p:cNvSpPr>
          <p:nvPr>
            <p:ph type="subTitle" idx="1"/>
          </p:nvPr>
        </p:nvSpPr>
        <p:spPr/>
        <p:txBody>
          <a:bodyPr/>
          <a:lstStyle/>
          <a:p>
            <a:r>
              <a:rPr lang="sv-SE" noProof="0" dirty="0"/>
              <a:t>Lab i SQL1</a:t>
            </a:r>
          </a:p>
        </p:txBody>
      </p:sp>
    </p:spTree>
    <p:extLst>
      <p:ext uri="{BB962C8B-B14F-4D97-AF65-F5344CB8AC3E}">
        <p14:creationId xmlns:p14="http://schemas.microsoft.com/office/powerpoint/2010/main" val="3402290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881FE-13F5-0AE7-1E7C-6E31E348E70B}"/>
              </a:ext>
            </a:extLst>
          </p:cNvPr>
          <p:cNvSpPr>
            <a:spLocks noGrp="1"/>
          </p:cNvSpPr>
          <p:nvPr>
            <p:ph type="title"/>
          </p:nvPr>
        </p:nvSpPr>
        <p:spPr/>
        <p:txBody>
          <a:bodyPr/>
          <a:lstStyle/>
          <a:p>
            <a:r>
              <a:rPr lang="sv-SE" b="1" noProof="0" dirty="0"/>
              <a:t>Uppgift 0 - uppvärmning</a:t>
            </a:r>
            <a:br>
              <a:rPr lang="sv-SE" noProof="0" dirty="0"/>
            </a:br>
            <a:endParaRPr lang="sv-SE" noProof="0" dirty="0"/>
          </a:p>
        </p:txBody>
      </p:sp>
      <p:sp>
        <p:nvSpPr>
          <p:cNvPr id="3" name="Content Placeholder 2">
            <a:extLst>
              <a:ext uri="{FF2B5EF4-FFF2-40B4-BE49-F238E27FC236}">
                <a16:creationId xmlns:a16="http://schemas.microsoft.com/office/drawing/2014/main" id="{093E67A4-1A28-0B0C-5412-37E2AB7DE822}"/>
              </a:ext>
            </a:extLst>
          </p:cNvPr>
          <p:cNvSpPr>
            <a:spLocks noGrp="1"/>
          </p:cNvSpPr>
          <p:nvPr>
            <p:ph idx="1"/>
          </p:nvPr>
        </p:nvSpPr>
        <p:spPr/>
        <p:txBody>
          <a:bodyPr>
            <a:normAutofit fontScale="70000" lnSpcReduction="20000"/>
          </a:bodyPr>
          <a:lstStyle/>
          <a:p>
            <a:r>
              <a:rPr lang="sv-SE" noProof="0" dirty="0"/>
              <a:t>Skapade </a:t>
            </a:r>
            <a:r>
              <a:rPr lang="sv-SE" noProof="0" dirty="0" err="1"/>
              <a:t>repot</a:t>
            </a:r>
            <a:r>
              <a:rPr lang="sv-SE" noProof="0" dirty="0"/>
              <a:t> i </a:t>
            </a:r>
            <a:r>
              <a:rPr lang="sv-SE" noProof="0" dirty="0" err="1"/>
              <a:t>Github</a:t>
            </a:r>
            <a:endParaRPr lang="sv-SE" noProof="0" dirty="0"/>
          </a:p>
          <a:p>
            <a:r>
              <a:rPr lang="sv-SE" noProof="0" dirty="0"/>
              <a:t>Klonade det tomma </a:t>
            </a:r>
            <a:r>
              <a:rPr lang="sv-SE" noProof="0" dirty="0" err="1"/>
              <a:t>repot</a:t>
            </a:r>
            <a:r>
              <a:rPr lang="sv-SE" noProof="0" dirty="0"/>
              <a:t> till </a:t>
            </a:r>
            <a:r>
              <a:rPr lang="sv-SE" noProof="0" dirty="0" err="1"/>
              <a:t>vm:</a:t>
            </a:r>
            <a:r>
              <a:rPr lang="sv-SE" noProof="0" dirty="0"/>
              <a:t> </a:t>
            </a:r>
            <a:r>
              <a:rPr lang="sv-SE" noProof="0" dirty="0" err="1">
                <a:solidFill>
                  <a:schemeClr val="accent6"/>
                </a:solidFill>
              </a:rPr>
              <a:t>git</a:t>
            </a:r>
            <a:r>
              <a:rPr lang="sv-SE" noProof="0" dirty="0">
                <a:solidFill>
                  <a:schemeClr val="accent6"/>
                </a:solidFill>
              </a:rPr>
              <a:t> </a:t>
            </a:r>
            <a:r>
              <a:rPr lang="sv-SE" noProof="0" dirty="0" err="1">
                <a:solidFill>
                  <a:schemeClr val="accent6"/>
                </a:solidFill>
              </a:rPr>
              <a:t>clone</a:t>
            </a:r>
            <a:r>
              <a:rPr lang="sv-SE" noProof="0" dirty="0">
                <a:solidFill>
                  <a:schemeClr val="accent6"/>
                </a:solidFill>
              </a:rPr>
              <a:t> </a:t>
            </a:r>
            <a:r>
              <a:rPr lang="sv-SE" noProof="0" dirty="0">
                <a:solidFill>
                  <a:srgbClr val="467886"/>
                </a:solidFill>
                <a:hlinkClick r:id="rId2">
                  <a:extLst>
                    <a:ext uri="{A12FA001-AC4F-418D-AE19-62706E023703}">
                      <ahyp:hlinkClr xmlns:ahyp="http://schemas.microsoft.com/office/drawing/2018/hyperlinkcolor" val="tx"/>
                    </a:ext>
                  </a:extLst>
                </a:hlinkClick>
              </a:rPr>
              <a:t>git@github.com:dosselicious/the_skool_jens_dossel.</a:t>
            </a:r>
            <a:r>
              <a:rPr lang="sv-SE" noProof="0" dirty="0">
                <a:solidFill>
                  <a:schemeClr val="accent6"/>
                </a:solidFill>
                <a:hlinkClick r:id="rId2">
                  <a:extLst>
                    <a:ext uri="{A12FA001-AC4F-418D-AE19-62706E023703}">
                      <ahyp:hlinkClr xmlns:ahyp="http://schemas.microsoft.com/office/drawing/2018/hyperlinkcolor" val="tx"/>
                    </a:ext>
                  </a:extLst>
                </a:hlinkClick>
              </a:rPr>
              <a:t>git</a:t>
            </a:r>
            <a:br>
              <a:rPr lang="sv-SE" noProof="0" dirty="0">
                <a:solidFill>
                  <a:schemeClr val="accent6"/>
                </a:solidFill>
              </a:rPr>
            </a:br>
            <a:r>
              <a:rPr lang="sv-SE" noProof="0" dirty="0">
                <a:solidFill>
                  <a:schemeClr val="accent6"/>
                </a:solidFill>
              </a:rPr>
              <a:t>cd </a:t>
            </a:r>
            <a:r>
              <a:rPr lang="sv-SE" noProof="0" dirty="0" err="1">
                <a:solidFill>
                  <a:schemeClr val="accent6"/>
                </a:solidFill>
              </a:rPr>
              <a:t>the_skool_jens_dossel</a:t>
            </a:r>
            <a:endParaRPr lang="sv-SE" noProof="0" dirty="0">
              <a:solidFill>
                <a:schemeClr val="accent6"/>
              </a:solidFill>
            </a:endParaRPr>
          </a:p>
          <a:p>
            <a:r>
              <a:rPr lang="sv-SE" noProof="0" dirty="0"/>
              <a:t>Skapade .</a:t>
            </a:r>
            <a:r>
              <a:rPr lang="sv-SE" noProof="0" dirty="0" err="1"/>
              <a:t>gitignore</a:t>
            </a:r>
            <a:r>
              <a:rPr lang="sv-SE" noProof="0" dirty="0"/>
              <a:t> för att slippa swap-filer och </a:t>
            </a:r>
            <a:r>
              <a:rPr lang="sv-SE" noProof="0" dirty="0" err="1"/>
              <a:t>macos</a:t>
            </a:r>
            <a:r>
              <a:rPr lang="sv-SE" noProof="0" dirty="0"/>
              <a:t> metadata.</a:t>
            </a:r>
          </a:p>
          <a:p>
            <a:r>
              <a:rPr lang="sv-SE" noProof="0" dirty="0"/>
              <a:t>Gjorde första </a:t>
            </a:r>
            <a:r>
              <a:rPr lang="sv-SE" noProof="0" dirty="0" err="1"/>
              <a:t>commit</a:t>
            </a:r>
            <a:r>
              <a:rPr lang="sv-SE" noProof="0" dirty="0"/>
              <a:t>.</a:t>
            </a:r>
          </a:p>
          <a:p>
            <a:r>
              <a:rPr lang="sv-SE" noProof="0" dirty="0"/>
              <a:t>Laddade ner och rensade data-filen i </a:t>
            </a:r>
            <a:r>
              <a:rPr lang="sv-SE" noProof="0" dirty="0" err="1"/>
              <a:t>excel</a:t>
            </a:r>
            <a:r>
              <a:rPr lang="sv-SE" noProof="0" dirty="0"/>
              <a:t>, och skickade den sedan till </a:t>
            </a:r>
            <a:r>
              <a:rPr lang="sv-SE" noProof="0" dirty="0" err="1"/>
              <a:t>repot</a:t>
            </a:r>
            <a:r>
              <a:rPr lang="sv-SE" noProof="0" dirty="0"/>
              <a:t>: </a:t>
            </a:r>
            <a:r>
              <a:rPr lang="sv-SE" noProof="0" dirty="0" err="1">
                <a:solidFill>
                  <a:schemeClr val="accent6"/>
                </a:solidFill>
              </a:rPr>
              <a:t>scp</a:t>
            </a:r>
            <a:r>
              <a:rPr lang="sv-SE" noProof="0" dirty="0">
                <a:solidFill>
                  <a:schemeClr val="accent6"/>
                </a:solidFill>
              </a:rPr>
              <a:t> ~/</a:t>
            </a:r>
            <a:r>
              <a:rPr lang="sv-SE" noProof="0" dirty="0" err="1">
                <a:solidFill>
                  <a:schemeClr val="accent6"/>
                </a:solidFill>
              </a:rPr>
              <a:t>Downloads</a:t>
            </a:r>
            <a:r>
              <a:rPr lang="sv-SE" noProof="0" dirty="0">
                <a:solidFill>
                  <a:schemeClr val="accent6"/>
                </a:solidFill>
              </a:rPr>
              <a:t>/</a:t>
            </a:r>
            <a:r>
              <a:rPr lang="sv-SE" noProof="0" dirty="0" err="1">
                <a:solidFill>
                  <a:schemeClr val="accent6"/>
                </a:solidFill>
              </a:rPr>
              <a:t>data_lab.xlsx</a:t>
            </a:r>
            <a:r>
              <a:rPr lang="sv-SE" noProof="0" dirty="0">
                <a:solidFill>
                  <a:schemeClr val="accent6"/>
                </a:solidFill>
              </a:rPr>
              <a:t> </a:t>
            </a:r>
            <a:r>
              <a:rPr lang="sv-SE" noProof="0" dirty="0" err="1">
                <a:solidFill>
                  <a:schemeClr val="accent6"/>
                </a:solidFill>
              </a:rPr>
              <a:t>oracle</a:t>
            </a:r>
            <a:r>
              <a:rPr lang="sv-SE" noProof="0" dirty="0">
                <a:solidFill>
                  <a:schemeClr val="accent6"/>
                </a:solidFill>
              </a:rPr>
              <a:t>:/</a:t>
            </a:r>
            <a:r>
              <a:rPr lang="sv-SE" noProof="0" dirty="0" err="1">
                <a:solidFill>
                  <a:schemeClr val="accent6"/>
                </a:solidFill>
              </a:rPr>
              <a:t>home</a:t>
            </a:r>
            <a:r>
              <a:rPr lang="sv-SE" noProof="0" dirty="0">
                <a:solidFill>
                  <a:schemeClr val="accent6"/>
                </a:solidFill>
              </a:rPr>
              <a:t>/</a:t>
            </a:r>
            <a:r>
              <a:rPr lang="sv-SE" noProof="0" dirty="0" err="1">
                <a:solidFill>
                  <a:schemeClr val="accent6"/>
                </a:solidFill>
              </a:rPr>
              <a:t>jdossel</a:t>
            </a:r>
            <a:r>
              <a:rPr lang="sv-SE" noProof="0" dirty="0">
                <a:solidFill>
                  <a:schemeClr val="accent6"/>
                </a:solidFill>
              </a:rPr>
              <a:t>/</a:t>
            </a:r>
            <a:r>
              <a:rPr lang="sv-SE" noProof="0" dirty="0" err="1">
                <a:solidFill>
                  <a:schemeClr val="accent6"/>
                </a:solidFill>
              </a:rPr>
              <a:t>the_skool_jens_dossel</a:t>
            </a:r>
            <a:r>
              <a:rPr lang="sv-SE" noProof="0" dirty="0">
                <a:solidFill>
                  <a:schemeClr val="accent6"/>
                </a:solidFill>
              </a:rPr>
              <a:t>/</a:t>
            </a:r>
          </a:p>
          <a:p>
            <a:r>
              <a:rPr lang="sv-SE" noProof="0" dirty="0"/>
              <a:t>Skapade databasen i </a:t>
            </a:r>
            <a:r>
              <a:rPr lang="sv-SE" noProof="0" dirty="0" err="1"/>
              <a:t>orac</a:t>
            </a:r>
            <a:r>
              <a:rPr lang="sv-SE" noProof="0" dirty="0"/>
              <a:t>: </a:t>
            </a:r>
            <a:br>
              <a:rPr lang="sv-SE" noProof="0" dirty="0"/>
            </a:br>
            <a:r>
              <a:rPr lang="sv-SE" noProof="0" dirty="0">
                <a:solidFill>
                  <a:schemeClr val="accent6"/>
                </a:solidFill>
              </a:rPr>
              <a:t>SQL&gt; set </a:t>
            </a:r>
            <a:r>
              <a:rPr lang="sv-SE" noProof="0" dirty="0" err="1">
                <a:solidFill>
                  <a:schemeClr val="accent6"/>
                </a:solidFill>
              </a:rPr>
              <a:t>loadformat</a:t>
            </a:r>
            <a:r>
              <a:rPr lang="sv-SE" noProof="0" dirty="0">
                <a:solidFill>
                  <a:schemeClr val="accent6"/>
                </a:solidFill>
              </a:rPr>
              <a:t> </a:t>
            </a:r>
            <a:r>
              <a:rPr lang="sv-SE" noProof="0" dirty="0" err="1">
                <a:solidFill>
                  <a:schemeClr val="accent6"/>
                </a:solidFill>
              </a:rPr>
              <a:t>xlsx</a:t>
            </a:r>
            <a:br>
              <a:rPr lang="sv-SE" noProof="0" dirty="0">
                <a:solidFill>
                  <a:schemeClr val="accent6"/>
                </a:solidFill>
              </a:rPr>
            </a:br>
            <a:r>
              <a:rPr lang="sv-SE" noProof="0" dirty="0">
                <a:solidFill>
                  <a:schemeClr val="accent6"/>
                </a:solidFill>
              </a:rPr>
              <a:t>SQL&gt; </a:t>
            </a:r>
            <a:r>
              <a:rPr lang="sv-SE" noProof="0" dirty="0" err="1">
                <a:solidFill>
                  <a:schemeClr val="accent6"/>
                </a:solidFill>
              </a:rPr>
              <a:t>load</a:t>
            </a:r>
            <a:r>
              <a:rPr lang="sv-SE" noProof="0" dirty="0">
                <a:solidFill>
                  <a:schemeClr val="accent6"/>
                </a:solidFill>
              </a:rPr>
              <a:t> table </a:t>
            </a:r>
            <a:r>
              <a:rPr lang="sv-SE" noProof="0" dirty="0" err="1">
                <a:solidFill>
                  <a:schemeClr val="accent6"/>
                </a:solidFill>
              </a:rPr>
              <a:t>data_lab</a:t>
            </a:r>
            <a:r>
              <a:rPr lang="sv-SE" noProof="0" dirty="0">
                <a:solidFill>
                  <a:schemeClr val="accent6"/>
                </a:solidFill>
              </a:rPr>
              <a:t> </a:t>
            </a:r>
            <a:r>
              <a:rPr lang="sv-SE" noProof="0" dirty="0" err="1">
                <a:solidFill>
                  <a:schemeClr val="accent6"/>
                </a:solidFill>
              </a:rPr>
              <a:t>data_lab.xlsx</a:t>
            </a:r>
            <a:r>
              <a:rPr lang="sv-SE" noProof="0" dirty="0">
                <a:solidFill>
                  <a:schemeClr val="accent6"/>
                </a:solidFill>
              </a:rPr>
              <a:t> new</a:t>
            </a:r>
          </a:p>
          <a:p>
            <a:r>
              <a:rPr lang="sv-SE" noProof="0" dirty="0"/>
              <a:t>Kontrollerade datan:</a:t>
            </a:r>
            <a:br>
              <a:rPr lang="sv-SE" noProof="0" dirty="0"/>
            </a:br>
            <a:r>
              <a:rPr lang="sv-SE" noProof="0" dirty="0">
                <a:solidFill>
                  <a:schemeClr val="accent6"/>
                </a:solidFill>
              </a:rPr>
              <a:t>SQL&gt; </a:t>
            </a:r>
            <a:r>
              <a:rPr lang="sv-SE" noProof="0" dirty="0" err="1">
                <a:solidFill>
                  <a:schemeClr val="accent6"/>
                </a:solidFill>
              </a:rPr>
              <a:t>desc</a:t>
            </a:r>
            <a:r>
              <a:rPr lang="sv-SE" noProof="0" dirty="0">
                <a:solidFill>
                  <a:schemeClr val="accent6"/>
                </a:solidFill>
              </a:rPr>
              <a:t> </a:t>
            </a:r>
            <a:r>
              <a:rPr lang="sv-SE" noProof="0" dirty="0" err="1">
                <a:solidFill>
                  <a:schemeClr val="accent6"/>
                </a:solidFill>
              </a:rPr>
              <a:t>data_lab</a:t>
            </a:r>
            <a:br>
              <a:rPr lang="sv-SE" noProof="0" dirty="0">
                <a:solidFill>
                  <a:schemeClr val="accent6"/>
                </a:solidFill>
              </a:rPr>
            </a:br>
            <a:r>
              <a:rPr lang="sv-SE" noProof="0" dirty="0" err="1">
                <a:solidFill>
                  <a:schemeClr val="accent6"/>
                </a:solidFill>
              </a:rPr>
              <a:t>select</a:t>
            </a:r>
            <a:r>
              <a:rPr lang="sv-SE" noProof="0" dirty="0">
                <a:solidFill>
                  <a:schemeClr val="accent6"/>
                </a:solidFill>
              </a:rPr>
              <a:t> </a:t>
            </a:r>
            <a:r>
              <a:rPr lang="sv-SE" noProof="0" dirty="0" err="1">
                <a:solidFill>
                  <a:schemeClr val="accent6"/>
                </a:solidFill>
              </a:rPr>
              <a:t>count</a:t>
            </a:r>
            <a:r>
              <a:rPr lang="sv-SE" noProof="0" dirty="0">
                <a:solidFill>
                  <a:schemeClr val="accent6"/>
                </a:solidFill>
              </a:rPr>
              <a:t>(*) from </a:t>
            </a:r>
            <a:r>
              <a:rPr lang="sv-SE" noProof="0" dirty="0" err="1">
                <a:solidFill>
                  <a:schemeClr val="accent6"/>
                </a:solidFill>
              </a:rPr>
              <a:t>data_lab</a:t>
            </a:r>
            <a:r>
              <a:rPr lang="sv-SE" noProof="0" dirty="0">
                <a:solidFill>
                  <a:schemeClr val="accent6"/>
                </a:solidFill>
              </a:rPr>
              <a:t>;</a:t>
            </a:r>
            <a:br>
              <a:rPr lang="sv-SE" noProof="0" dirty="0"/>
            </a:br>
            <a:r>
              <a:rPr lang="sv-SE" noProof="0" dirty="0"/>
              <a:t>Jag fick med samtliga kolumner och 1184 rader.</a:t>
            </a:r>
          </a:p>
          <a:p>
            <a:endParaRPr lang="sv-SE" noProof="0" dirty="0"/>
          </a:p>
          <a:p>
            <a:endParaRPr lang="sv-SE" noProof="0" dirty="0"/>
          </a:p>
          <a:p>
            <a:endParaRPr lang="sv-SE" noProof="0" dirty="0"/>
          </a:p>
        </p:txBody>
      </p:sp>
    </p:spTree>
    <p:extLst>
      <p:ext uri="{BB962C8B-B14F-4D97-AF65-F5344CB8AC3E}">
        <p14:creationId xmlns:p14="http://schemas.microsoft.com/office/powerpoint/2010/main" val="26579781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D189C-ACC6-1EB8-4052-75DC26FAE24E}"/>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600" noProof="0" dirty="0"/>
              <a:t>a) Antal ansökningar per utbildningsområde, sorterat på flest ansökningar – uppgift_1/a_1.sql</a:t>
            </a:r>
            <a:endParaRPr lang="sv-SE" noProof="0" dirty="0"/>
          </a:p>
        </p:txBody>
      </p:sp>
      <p:sp>
        <p:nvSpPr>
          <p:cNvPr id="3" name="Content Placeholder 2">
            <a:extLst>
              <a:ext uri="{FF2B5EF4-FFF2-40B4-BE49-F238E27FC236}">
                <a16:creationId xmlns:a16="http://schemas.microsoft.com/office/drawing/2014/main" id="{2610E61C-3AD8-B1E3-C1D4-C08FF6060501}"/>
              </a:ext>
            </a:extLst>
          </p:cNvPr>
          <p:cNvSpPr>
            <a:spLocks noGrp="1"/>
          </p:cNvSpPr>
          <p:nvPr>
            <p:ph idx="1"/>
          </p:nvPr>
        </p:nvSpPr>
        <p:spPr>
          <a:xfrm>
            <a:off x="838200" y="2530549"/>
            <a:ext cx="6860059" cy="3646414"/>
          </a:xfrm>
        </p:spPr>
        <p:txBody>
          <a:bodyPr/>
          <a:lstStyle/>
          <a:p>
            <a:pPr marL="0" indent="0">
              <a:buNone/>
            </a:pPr>
            <a:r>
              <a:rPr lang="sv-SE" noProof="0" dirty="0"/>
              <a:t>Jag valde att se utbildningsområde och </a:t>
            </a:r>
            <a:r>
              <a:rPr lang="sv-SE" noProof="0" dirty="0" err="1"/>
              <a:t>count</a:t>
            </a:r>
            <a:r>
              <a:rPr lang="sv-SE" noProof="0" dirty="0"/>
              <a:t>(*) som antal från </a:t>
            </a:r>
            <a:r>
              <a:rPr lang="sv-SE" noProof="0" dirty="0" err="1"/>
              <a:t>data_lab</a:t>
            </a:r>
            <a:r>
              <a:rPr lang="sv-SE" noProof="0" dirty="0"/>
              <a:t>, och genom att gruppera på utbildningsområde får jag antal ansökningar, eller rader, per område. Sorterar på antal fallande. </a:t>
            </a:r>
            <a:br>
              <a:rPr lang="sv-SE" noProof="0" dirty="0"/>
            </a:br>
            <a:r>
              <a:rPr lang="sv-SE" noProof="0" dirty="0"/>
              <a:t>Scriptet avslutar </a:t>
            </a:r>
            <a:r>
              <a:rPr lang="sv-SE" noProof="0" dirty="0" err="1"/>
              <a:t>orac</a:t>
            </a:r>
            <a:r>
              <a:rPr lang="sv-SE" noProof="0" dirty="0"/>
              <a:t> med exit.</a:t>
            </a:r>
          </a:p>
        </p:txBody>
      </p:sp>
      <p:pic>
        <p:nvPicPr>
          <p:cNvPr id="6" name="Picture 5">
            <a:extLst>
              <a:ext uri="{FF2B5EF4-FFF2-40B4-BE49-F238E27FC236}">
                <a16:creationId xmlns:a16="http://schemas.microsoft.com/office/drawing/2014/main" id="{BB6105F8-0D7B-3FF7-C4B5-9C0460EA28F0}"/>
              </a:ext>
            </a:extLst>
          </p:cNvPr>
          <p:cNvPicPr>
            <a:picLocks noChangeAspect="1"/>
          </p:cNvPicPr>
          <p:nvPr/>
        </p:nvPicPr>
        <p:blipFill>
          <a:blip r:embed="rId2"/>
          <a:stretch>
            <a:fillRect/>
          </a:stretch>
        </p:blipFill>
        <p:spPr>
          <a:xfrm>
            <a:off x="7445459" y="1676517"/>
            <a:ext cx="4531766" cy="2618766"/>
          </a:xfrm>
          <a:prstGeom prst="rect">
            <a:avLst/>
          </a:prstGeom>
        </p:spPr>
      </p:pic>
      <p:pic>
        <p:nvPicPr>
          <p:cNvPr id="7" name="Picture 6">
            <a:extLst>
              <a:ext uri="{FF2B5EF4-FFF2-40B4-BE49-F238E27FC236}">
                <a16:creationId xmlns:a16="http://schemas.microsoft.com/office/drawing/2014/main" id="{DCA38C61-8E4C-2424-1392-28595A489D94}"/>
              </a:ext>
            </a:extLst>
          </p:cNvPr>
          <p:cNvPicPr>
            <a:picLocks noChangeAspect="1"/>
          </p:cNvPicPr>
          <p:nvPr/>
        </p:nvPicPr>
        <p:blipFill>
          <a:blip r:embed="rId3"/>
          <a:stretch>
            <a:fillRect/>
          </a:stretch>
        </p:blipFill>
        <p:spPr>
          <a:xfrm>
            <a:off x="7461422" y="3677364"/>
            <a:ext cx="4531766" cy="3353631"/>
          </a:xfrm>
          <a:prstGeom prst="rect">
            <a:avLst/>
          </a:prstGeom>
        </p:spPr>
      </p:pic>
    </p:spTree>
    <p:extLst>
      <p:ext uri="{BB962C8B-B14F-4D97-AF65-F5344CB8AC3E}">
        <p14:creationId xmlns:p14="http://schemas.microsoft.com/office/powerpoint/2010/main" val="1807334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ED477-5BCD-2DC5-4D7D-AAE0738AA9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CAFBE9-034D-4178-F643-FFA3490560DB}"/>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200" noProof="0" dirty="0"/>
              <a:t>b) Antal BEVILJADE ansökningar per utbildningsområde– uppgift_1/b_1.sql</a:t>
            </a:r>
          </a:p>
        </p:txBody>
      </p:sp>
      <p:sp>
        <p:nvSpPr>
          <p:cNvPr id="3" name="Content Placeholder 2">
            <a:extLst>
              <a:ext uri="{FF2B5EF4-FFF2-40B4-BE49-F238E27FC236}">
                <a16:creationId xmlns:a16="http://schemas.microsoft.com/office/drawing/2014/main" id="{AE32EE3D-0990-C53E-8D09-EAABD306F712}"/>
              </a:ext>
            </a:extLst>
          </p:cNvPr>
          <p:cNvSpPr>
            <a:spLocks noGrp="1"/>
          </p:cNvSpPr>
          <p:nvPr>
            <p:ph idx="1"/>
          </p:nvPr>
        </p:nvSpPr>
        <p:spPr>
          <a:xfrm>
            <a:off x="838200" y="2530549"/>
            <a:ext cx="6860059" cy="3646414"/>
          </a:xfrm>
        </p:spPr>
        <p:txBody>
          <a:bodyPr/>
          <a:lstStyle/>
          <a:p>
            <a:pPr marL="0" indent="0">
              <a:buNone/>
            </a:pPr>
            <a:r>
              <a:rPr lang="sv-SE" noProof="0" dirty="0"/>
              <a:t>För att endast se de beviljade ansökningarna lade jag till villkoret att Beslut ska vara lika med ”Beviljad”.</a:t>
            </a:r>
            <a:br>
              <a:rPr lang="sv-SE" noProof="0" dirty="0"/>
            </a:br>
            <a:br>
              <a:rPr lang="sv-SE" noProof="0" dirty="0"/>
            </a:br>
            <a:r>
              <a:rPr lang="sv-SE" noProof="0" dirty="0" err="1">
                <a:solidFill>
                  <a:schemeClr val="accent6"/>
                </a:solidFill>
              </a:rPr>
              <a:t>where</a:t>
            </a:r>
            <a:r>
              <a:rPr lang="sv-SE" noProof="0" dirty="0">
                <a:solidFill>
                  <a:schemeClr val="accent6"/>
                </a:solidFill>
              </a:rPr>
              <a:t> Beslut = 'Beviljad'</a:t>
            </a:r>
          </a:p>
          <a:p>
            <a:pPr marL="0" indent="0">
              <a:buNone/>
            </a:pPr>
            <a:endParaRPr lang="sv-SE" noProof="0" dirty="0"/>
          </a:p>
        </p:txBody>
      </p:sp>
      <p:pic>
        <p:nvPicPr>
          <p:cNvPr id="8" name="Picture 7">
            <a:extLst>
              <a:ext uri="{FF2B5EF4-FFF2-40B4-BE49-F238E27FC236}">
                <a16:creationId xmlns:a16="http://schemas.microsoft.com/office/drawing/2014/main" id="{8C67C239-9839-FF77-E65C-232E7FADA020}"/>
              </a:ext>
            </a:extLst>
          </p:cNvPr>
          <p:cNvPicPr>
            <a:picLocks noChangeAspect="1"/>
          </p:cNvPicPr>
          <p:nvPr/>
        </p:nvPicPr>
        <p:blipFill>
          <a:blip r:embed="rId2"/>
          <a:stretch>
            <a:fillRect/>
          </a:stretch>
        </p:blipFill>
        <p:spPr>
          <a:xfrm>
            <a:off x="7337854" y="1539556"/>
            <a:ext cx="4531766" cy="2618766"/>
          </a:xfrm>
          <a:prstGeom prst="rect">
            <a:avLst/>
          </a:prstGeom>
        </p:spPr>
      </p:pic>
      <p:pic>
        <p:nvPicPr>
          <p:cNvPr id="9" name="Picture 8">
            <a:extLst>
              <a:ext uri="{FF2B5EF4-FFF2-40B4-BE49-F238E27FC236}">
                <a16:creationId xmlns:a16="http://schemas.microsoft.com/office/drawing/2014/main" id="{43AD6A94-99FB-0648-F92A-1BB3906090C4}"/>
              </a:ext>
            </a:extLst>
          </p:cNvPr>
          <p:cNvPicPr>
            <a:picLocks noChangeAspect="1"/>
          </p:cNvPicPr>
          <p:nvPr/>
        </p:nvPicPr>
        <p:blipFill>
          <a:blip r:embed="rId3"/>
          <a:stretch>
            <a:fillRect/>
          </a:stretch>
        </p:blipFill>
        <p:spPr>
          <a:xfrm>
            <a:off x="7337854" y="3592200"/>
            <a:ext cx="4531766" cy="3353631"/>
          </a:xfrm>
          <a:prstGeom prst="rect">
            <a:avLst/>
          </a:prstGeom>
        </p:spPr>
      </p:pic>
    </p:spTree>
    <p:extLst>
      <p:ext uri="{BB962C8B-B14F-4D97-AF65-F5344CB8AC3E}">
        <p14:creationId xmlns:p14="http://schemas.microsoft.com/office/powerpoint/2010/main" val="2183803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6EA71-12A4-DDB8-D3C4-759E7A207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9D416-68BF-6479-6DF1-79AC31708361}"/>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200" noProof="0" dirty="0"/>
              <a:t>c) Antal AVSLAGNA ansökningar per utbildningsområde– uppgift_1/c_1.sql</a:t>
            </a:r>
          </a:p>
        </p:txBody>
      </p:sp>
      <p:sp>
        <p:nvSpPr>
          <p:cNvPr id="3" name="Content Placeholder 2">
            <a:extLst>
              <a:ext uri="{FF2B5EF4-FFF2-40B4-BE49-F238E27FC236}">
                <a16:creationId xmlns:a16="http://schemas.microsoft.com/office/drawing/2014/main" id="{0E59F7D4-247D-BE80-BD3B-C77C44E59550}"/>
              </a:ext>
            </a:extLst>
          </p:cNvPr>
          <p:cNvSpPr>
            <a:spLocks noGrp="1"/>
          </p:cNvSpPr>
          <p:nvPr>
            <p:ph idx="1"/>
          </p:nvPr>
        </p:nvSpPr>
        <p:spPr>
          <a:xfrm>
            <a:off x="838200" y="2530549"/>
            <a:ext cx="6860059" cy="3646414"/>
          </a:xfrm>
        </p:spPr>
        <p:txBody>
          <a:bodyPr/>
          <a:lstStyle/>
          <a:p>
            <a:pPr marL="0" indent="0">
              <a:buNone/>
            </a:pPr>
            <a:r>
              <a:rPr lang="sv-SE" noProof="0" dirty="0"/>
              <a:t>För att endast se de beviljade ansökningarna ändrade jag villkoret till att Beslut ska vara lika med ”Avslag”.</a:t>
            </a:r>
            <a:br>
              <a:rPr lang="sv-SE" noProof="0" dirty="0"/>
            </a:br>
            <a:br>
              <a:rPr lang="sv-SE" noProof="0" dirty="0"/>
            </a:br>
            <a:r>
              <a:rPr lang="sv-SE" noProof="0" dirty="0" err="1">
                <a:solidFill>
                  <a:schemeClr val="accent6"/>
                </a:solidFill>
              </a:rPr>
              <a:t>where</a:t>
            </a:r>
            <a:r>
              <a:rPr lang="sv-SE" noProof="0" dirty="0">
                <a:solidFill>
                  <a:schemeClr val="accent6"/>
                </a:solidFill>
              </a:rPr>
              <a:t> Beslut = ‘Avslag'</a:t>
            </a:r>
          </a:p>
          <a:p>
            <a:pPr marL="0" indent="0">
              <a:buNone/>
            </a:pPr>
            <a:endParaRPr lang="sv-SE" noProof="0" dirty="0"/>
          </a:p>
        </p:txBody>
      </p:sp>
      <p:pic>
        <p:nvPicPr>
          <p:cNvPr id="4" name="Picture 3">
            <a:extLst>
              <a:ext uri="{FF2B5EF4-FFF2-40B4-BE49-F238E27FC236}">
                <a16:creationId xmlns:a16="http://schemas.microsoft.com/office/drawing/2014/main" id="{9156442A-7B34-07AC-9D15-C6ABF6590DB5}"/>
              </a:ext>
            </a:extLst>
          </p:cNvPr>
          <p:cNvPicPr>
            <a:picLocks noChangeAspect="1"/>
          </p:cNvPicPr>
          <p:nvPr/>
        </p:nvPicPr>
        <p:blipFill>
          <a:blip r:embed="rId2"/>
          <a:stretch>
            <a:fillRect/>
          </a:stretch>
        </p:blipFill>
        <p:spPr>
          <a:xfrm>
            <a:off x="7563077" y="1441175"/>
            <a:ext cx="4302037" cy="2481069"/>
          </a:xfrm>
          <a:prstGeom prst="rect">
            <a:avLst/>
          </a:prstGeom>
        </p:spPr>
      </p:pic>
      <p:pic>
        <p:nvPicPr>
          <p:cNvPr id="5" name="Picture 4">
            <a:extLst>
              <a:ext uri="{FF2B5EF4-FFF2-40B4-BE49-F238E27FC236}">
                <a16:creationId xmlns:a16="http://schemas.microsoft.com/office/drawing/2014/main" id="{4A5B7B49-E9BE-18C6-9D59-8798A2092462}"/>
              </a:ext>
            </a:extLst>
          </p:cNvPr>
          <p:cNvPicPr>
            <a:picLocks noChangeAspect="1"/>
          </p:cNvPicPr>
          <p:nvPr/>
        </p:nvPicPr>
        <p:blipFill>
          <a:blip r:embed="rId3"/>
          <a:stretch>
            <a:fillRect/>
          </a:stretch>
        </p:blipFill>
        <p:spPr>
          <a:xfrm>
            <a:off x="7506890" y="3611424"/>
            <a:ext cx="4414409" cy="3246576"/>
          </a:xfrm>
          <a:prstGeom prst="rect">
            <a:avLst/>
          </a:prstGeom>
        </p:spPr>
      </p:pic>
    </p:spTree>
    <p:extLst>
      <p:ext uri="{BB962C8B-B14F-4D97-AF65-F5344CB8AC3E}">
        <p14:creationId xmlns:p14="http://schemas.microsoft.com/office/powerpoint/2010/main" val="3777097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EF3DB-B7F9-C0E4-2981-96E310F148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669F0D-A94A-9033-F0D6-EEB1A0C065B5}"/>
              </a:ext>
            </a:extLst>
          </p:cNvPr>
          <p:cNvSpPr>
            <a:spLocks noGrp="1"/>
          </p:cNvSpPr>
          <p:nvPr>
            <p:ph type="title"/>
          </p:nvPr>
        </p:nvSpPr>
        <p:spPr>
          <a:xfrm>
            <a:off x="838200" y="365125"/>
            <a:ext cx="11026914" cy="1920875"/>
          </a:xfrm>
        </p:spPr>
        <p:txBody>
          <a:bodyPr>
            <a:normAutofit fontScale="90000"/>
          </a:bodyPr>
          <a:lstStyle/>
          <a:p>
            <a:r>
              <a:rPr lang="sv-SE" noProof="0" dirty="0"/>
              <a:t>Uppgift 1 – grundläggande EDA</a:t>
            </a:r>
            <a:br>
              <a:rPr lang="sv-SE" noProof="0" dirty="0"/>
            </a:br>
            <a:r>
              <a:rPr lang="sv-SE" sz="3200" noProof="0" dirty="0"/>
              <a:t>d) </a:t>
            </a:r>
            <a:r>
              <a:rPr lang="sv-SE" sz="3600" noProof="0" dirty="0"/>
              <a:t>Antal BEVILJADE ansökningar per </a:t>
            </a:r>
            <a:r>
              <a:rPr lang="sv-SE" sz="3600" noProof="0" dirty="0" err="1"/>
              <a:t>utbildningsnamn</a:t>
            </a:r>
            <a:r>
              <a:rPr lang="sv-SE" sz="3600" noProof="0" dirty="0"/>
              <a:t> inom Data/IT</a:t>
            </a:r>
            <a:br>
              <a:rPr lang="sv-SE" noProof="0" dirty="0"/>
            </a:br>
            <a:r>
              <a:rPr lang="sv-SE" sz="3600" noProof="0" dirty="0"/>
              <a:t>– uppgift_1/d_1.sql</a:t>
            </a:r>
          </a:p>
        </p:txBody>
      </p:sp>
      <p:sp>
        <p:nvSpPr>
          <p:cNvPr id="3" name="Content Placeholder 2">
            <a:extLst>
              <a:ext uri="{FF2B5EF4-FFF2-40B4-BE49-F238E27FC236}">
                <a16:creationId xmlns:a16="http://schemas.microsoft.com/office/drawing/2014/main" id="{A1D555AF-AE78-583D-C54F-BCF432625DBE}"/>
              </a:ext>
            </a:extLst>
          </p:cNvPr>
          <p:cNvSpPr>
            <a:spLocks noGrp="1"/>
          </p:cNvSpPr>
          <p:nvPr>
            <p:ph idx="1"/>
          </p:nvPr>
        </p:nvSpPr>
        <p:spPr>
          <a:xfrm>
            <a:off x="807381" y="4021766"/>
            <a:ext cx="7257946" cy="2393239"/>
          </a:xfrm>
        </p:spPr>
        <p:txBody>
          <a:bodyPr>
            <a:normAutofit/>
          </a:bodyPr>
          <a:lstStyle/>
          <a:p>
            <a:pPr marL="0" indent="0">
              <a:buNone/>
            </a:pPr>
            <a:r>
              <a:rPr lang="sv-SE" noProof="0" dirty="0"/>
              <a:t>Här väljer jag  </a:t>
            </a:r>
            <a:r>
              <a:rPr lang="sv-SE" noProof="0" dirty="0" err="1">
                <a:solidFill>
                  <a:schemeClr val="accent6"/>
                </a:solidFill>
              </a:rPr>
              <a:t>select</a:t>
            </a:r>
            <a:r>
              <a:rPr lang="sv-SE" noProof="0" dirty="0">
                <a:solidFill>
                  <a:schemeClr val="accent6"/>
                </a:solidFill>
              </a:rPr>
              <a:t> </a:t>
            </a:r>
            <a:r>
              <a:rPr lang="sv-SE" noProof="0" dirty="0" err="1">
                <a:solidFill>
                  <a:schemeClr val="accent6"/>
                </a:solidFill>
              </a:rPr>
              <a:t>utbildningsnamn</a:t>
            </a:r>
            <a:r>
              <a:rPr lang="sv-SE" noProof="0" dirty="0">
                <a:solidFill>
                  <a:schemeClr val="accent6"/>
                </a:solidFill>
              </a:rPr>
              <a:t>, </a:t>
            </a:r>
            <a:r>
              <a:rPr lang="sv-SE" noProof="0" dirty="0" err="1">
                <a:solidFill>
                  <a:schemeClr val="accent6"/>
                </a:solidFill>
              </a:rPr>
              <a:t>count</a:t>
            </a:r>
            <a:r>
              <a:rPr lang="sv-SE" noProof="0" dirty="0">
                <a:solidFill>
                  <a:schemeClr val="accent6"/>
                </a:solidFill>
              </a:rPr>
              <a:t>(*)</a:t>
            </a:r>
            <a:r>
              <a:rPr lang="sv-SE" noProof="0" dirty="0"/>
              <a:t>, lägga till villkoren </a:t>
            </a:r>
            <a:r>
              <a:rPr lang="sv-SE" noProof="0" dirty="0" err="1">
                <a:solidFill>
                  <a:schemeClr val="accent6"/>
                </a:solidFill>
              </a:rPr>
              <a:t>where</a:t>
            </a:r>
            <a:r>
              <a:rPr lang="sv-SE" noProof="0" dirty="0">
                <a:solidFill>
                  <a:schemeClr val="accent6"/>
                </a:solidFill>
              </a:rPr>
              <a:t> Beslut = ’Beviljad’ and utbildningsområde = ’DATA/IT’ </a:t>
            </a:r>
            <a:r>
              <a:rPr lang="sv-SE" noProof="0" dirty="0"/>
              <a:t>samt gruppera på </a:t>
            </a:r>
            <a:r>
              <a:rPr lang="sv-SE" noProof="0" dirty="0" err="1"/>
              <a:t>utbildningsnamn</a:t>
            </a:r>
            <a:r>
              <a:rPr lang="sv-SE" noProof="0" dirty="0"/>
              <a:t>.</a:t>
            </a:r>
            <a:endParaRPr lang="sv-SE" noProof="0" dirty="0">
              <a:solidFill>
                <a:schemeClr val="accent6"/>
              </a:solidFill>
            </a:endParaRPr>
          </a:p>
          <a:p>
            <a:pPr marL="0" indent="0">
              <a:buNone/>
            </a:pPr>
            <a:endParaRPr lang="sv-SE" noProof="0" dirty="0"/>
          </a:p>
        </p:txBody>
      </p:sp>
      <p:pic>
        <p:nvPicPr>
          <p:cNvPr id="6" name="Picture 5">
            <a:extLst>
              <a:ext uri="{FF2B5EF4-FFF2-40B4-BE49-F238E27FC236}">
                <a16:creationId xmlns:a16="http://schemas.microsoft.com/office/drawing/2014/main" id="{911F0852-23F8-86B6-4F0A-0BD4EDCACD1E}"/>
              </a:ext>
            </a:extLst>
          </p:cNvPr>
          <p:cNvPicPr>
            <a:picLocks noChangeAspect="1"/>
          </p:cNvPicPr>
          <p:nvPr/>
        </p:nvPicPr>
        <p:blipFill>
          <a:blip r:embed="rId2"/>
          <a:stretch>
            <a:fillRect/>
          </a:stretch>
        </p:blipFill>
        <p:spPr>
          <a:xfrm>
            <a:off x="4126674" y="1639614"/>
            <a:ext cx="4250832" cy="2451538"/>
          </a:xfrm>
          <a:prstGeom prst="rect">
            <a:avLst/>
          </a:prstGeom>
        </p:spPr>
      </p:pic>
      <p:pic>
        <p:nvPicPr>
          <p:cNvPr id="7" name="Picture 6">
            <a:extLst>
              <a:ext uri="{FF2B5EF4-FFF2-40B4-BE49-F238E27FC236}">
                <a16:creationId xmlns:a16="http://schemas.microsoft.com/office/drawing/2014/main" id="{EF754650-3F53-A5C2-F6D9-F424072B492B}"/>
              </a:ext>
            </a:extLst>
          </p:cNvPr>
          <p:cNvPicPr>
            <a:picLocks noChangeAspect="1"/>
          </p:cNvPicPr>
          <p:nvPr/>
        </p:nvPicPr>
        <p:blipFill>
          <a:blip r:embed="rId3"/>
          <a:stretch>
            <a:fillRect/>
          </a:stretch>
        </p:blipFill>
        <p:spPr>
          <a:xfrm>
            <a:off x="8065327" y="1639614"/>
            <a:ext cx="4126673" cy="5218386"/>
          </a:xfrm>
          <a:prstGeom prst="rect">
            <a:avLst/>
          </a:prstGeom>
        </p:spPr>
      </p:pic>
    </p:spTree>
    <p:extLst>
      <p:ext uri="{BB962C8B-B14F-4D97-AF65-F5344CB8AC3E}">
        <p14:creationId xmlns:p14="http://schemas.microsoft.com/office/powerpoint/2010/main" val="1689346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34757-2946-4785-E87C-DD20DF166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F20E96-A1FF-CF1D-5C18-52D992E7156F}"/>
              </a:ext>
            </a:extLst>
          </p:cNvPr>
          <p:cNvSpPr>
            <a:spLocks noGrp="1"/>
          </p:cNvSpPr>
          <p:nvPr>
            <p:ph type="title"/>
          </p:nvPr>
        </p:nvSpPr>
        <p:spPr>
          <a:xfrm>
            <a:off x="604157" y="365125"/>
            <a:ext cx="11260957" cy="1920875"/>
          </a:xfrm>
        </p:spPr>
        <p:txBody>
          <a:bodyPr>
            <a:normAutofit fontScale="90000"/>
          </a:bodyPr>
          <a:lstStyle/>
          <a:p>
            <a:r>
              <a:rPr lang="sv-SE" noProof="0" dirty="0"/>
              <a:t>Uppgift 1 – grundläggande EDA</a:t>
            </a:r>
            <a:br>
              <a:rPr lang="sv-SE" noProof="0" dirty="0"/>
            </a:br>
            <a:r>
              <a:rPr lang="sv-SE" sz="3200" noProof="0" dirty="0"/>
              <a:t>e) </a:t>
            </a:r>
            <a:r>
              <a:rPr lang="sv-SE" sz="3600" noProof="0" dirty="0"/>
              <a:t>Antal AVSLAGNA ansökningar per </a:t>
            </a:r>
            <a:r>
              <a:rPr lang="sv-SE" sz="3600" noProof="0" dirty="0" err="1"/>
              <a:t>utbildningsnamn</a:t>
            </a:r>
            <a:r>
              <a:rPr lang="sv-SE" sz="3600" noProof="0" dirty="0"/>
              <a:t> inom Data/IT</a:t>
            </a:r>
            <a:br>
              <a:rPr lang="sv-SE" noProof="0" dirty="0"/>
            </a:br>
            <a:r>
              <a:rPr lang="sv-SE" sz="3600" noProof="0" dirty="0"/>
              <a:t>– uppgift_1/e_1.sql</a:t>
            </a:r>
          </a:p>
        </p:txBody>
      </p:sp>
      <p:sp>
        <p:nvSpPr>
          <p:cNvPr id="3" name="Content Placeholder 2">
            <a:extLst>
              <a:ext uri="{FF2B5EF4-FFF2-40B4-BE49-F238E27FC236}">
                <a16:creationId xmlns:a16="http://schemas.microsoft.com/office/drawing/2014/main" id="{AA90E50A-BD85-E6BF-82BE-7169F08CE23B}"/>
              </a:ext>
            </a:extLst>
          </p:cNvPr>
          <p:cNvSpPr>
            <a:spLocks noGrp="1"/>
          </p:cNvSpPr>
          <p:nvPr>
            <p:ph idx="1"/>
          </p:nvPr>
        </p:nvSpPr>
        <p:spPr>
          <a:xfrm>
            <a:off x="807381" y="2286000"/>
            <a:ext cx="6263093" cy="4129005"/>
          </a:xfrm>
        </p:spPr>
        <p:txBody>
          <a:bodyPr>
            <a:normAutofit fontScale="92500" lnSpcReduction="10000"/>
          </a:bodyPr>
          <a:lstStyle/>
          <a:p>
            <a:pPr marL="0" indent="0">
              <a:buNone/>
            </a:pPr>
            <a:r>
              <a:rPr lang="sv-SE" noProof="0" dirty="0"/>
              <a:t>Här började jag med att bara ersätta villkoret från förra frågan från ’Beviljad’ till ’Avslag’, men upptäckte att jag fick flera dubbletter beroende på case (Data </a:t>
            </a:r>
            <a:r>
              <a:rPr lang="sv-SE" noProof="0" dirty="0" err="1"/>
              <a:t>Engineer</a:t>
            </a:r>
            <a:r>
              <a:rPr lang="sv-SE" noProof="0" dirty="0"/>
              <a:t> och Data </a:t>
            </a:r>
            <a:r>
              <a:rPr lang="sv-SE" noProof="0" dirty="0" err="1"/>
              <a:t>engineer</a:t>
            </a:r>
            <a:r>
              <a:rPr lang="sv-SE" noProof="0" dirty="0"/>
              <a:t>) och blanksteg i slutet av utbildningens namn (.Net </a:t>
            </a:r>
            <a:r>
              <a:rPr lang="sv-SE" noProof="0" dirty="0" err="1"/>
              <a:t>Developer</a:t>
            </a:r>
            <a:r>
              <a:rPr lang="sv-SE" noProof="0" dirty="0"/>
              <a:t> och .Net </a:t>
            </a:r>
            <a:r>
              <a:rPr lang="sv-SE" noProof="0" dirty="0" err="1"/>
              <a:t>Developer</a:t>
            </a:r>
            <a:r>
              <a:rPr lang="sv-SE" noProof="0" dirty="0"/>
              <a:t>_), så jag lade till </a:t>
            </a:r>
            <a:r>
              <a:rPr lang="sv-SE" noProof="0" dirty="0" err="1"/>
              <a:t>upper</a:t>
            </a:r>
            <a:r>
              <a:rPr lang="sv-SE" noProof="0" dirty="0"/>
              <a:t> för att göra alla bokstäver till versaler och trim för att ta bort eventuella blanksteg före eller efter namnet.</a:t>
            </a:r>
            <a:br>
              <a:rPr lang="sv-SE" noProof="0" dirty="0"/>
            </a:br>
            <a:r>
              <a:rPr lang="sv-SE" noProof="0" dirty="0"/>
              <a:t>Antal rader i resultatet sjönk då från 135 till 126.</a:t>
            </a:r>
            <a:endParaRPr lang="sv-SE" noProof="0" dirty="0">
              <a:solidFill>
                <a:schemeClr val="accent6"/>
              </a:solidFill>
            </a:endParaRPr>
          </a:p>
          <a:p>
            <a:pPr marL="0" indent="0">
              <a:buNone/>
            </a:pPr>
            <a:endParaRPr lang="sv-SE" noProof="0" dirty="0"/>
          </a:p>
        </p:txBody>
      </p:sp>
      <p:pic>
        <p:nvPicPr>
          <p:cNvPr id="4" name="Picture 3">
            <a:extLst>
              <a:ext uri="{FF2B5EF4-FFF2-40B4-BE49-F238E27FC236}">
                <a16:creationId xmlns:a16="http://schemas.microsoft.com/office/drawing/2014/main" id="{F9F886B9-0B64-C254-EB27-A1CFD5722268}"/>
              </a:ext>
            </a:extLst>
          </p:cNvPr>
          <p:cNvPicPr>
            <a:picLocks noChangeAspect="1"/>
          </p:cNvPicPr>
          <p:nvPr/>
        </p:nvPicPr>
        <p:blipFill>
          <a:blip r:embed="rId2"/>
          <a:stretch>
            <a:fillRect/>
          </a:stretch>
        </p:blipFill>
        <p:spPr>
          <a:xfrm>
            <a:off x="7022769" y="1398302"/>
            <a:ext cx="5208351" cy="2808573"/>
          </a:xfrm>
          <a:prstGeom prst="rect">
            <a:avLst/>
          </a:prstGeom>
        </p:spPr>
      </p:pic>
      <p:pic>
        <p:nvPicPr>
          <p:cNvPr id="5" name="Picture 4">
            <a:extLst>
              <a:ext uri="{FF2B5EF4-FFF2-40B4-BE49-F238E27FC236}">
                <a16:creationId xmlns:a16="http://schemas.microsoft.com/office/drawing/2014/main" id="{BACCB0B3-34F8-6DCB-A032-40078C5D24E2}"/>
              </a:ext>
            </a:extLst>
          </p:cNvPr>
          <p:cNvPicPr>
            <a:picLocks noChangeAspect="1"/>
          </p:cNvPicPr>
          <p:nvPr/>
        </p:nvPicPr>
        <p:blipFill>
          <a:blip r:embed="rId3"/>
          <a:stretch>
            <a:fillRect/>
          </a:stretch>
        </p:blipFill>
        <p:spPr>
          <a:xfrm>
            <a:off x="7172492" y="3611563"/>
            <a:ext cx="4908904" cy="1920875"/>
          </a:xfrm>
          <a:prstGeom prst="rect">
            <a:avLst/>
          </a:prstGeom>
        </p:spPr>
      </p:pic>
      <p:pic>
        <p:nvPicPr>
          <p:cNvPr id="8" name="Picture 7">
            <a:extLst>
              <a:ext uri="{FF2B5EF4-FFF2-40B4-BE49-F238E27FC236}">
                <a16:creationId xmlns:a16="http://schemas.microsoft.com/office/drawing/2014/main" id="{FC21BC2A-B05B-2E4B-7162-7F580412D95B}"/>
              </a:ext>
            </a:extLst>
          </p:cNvPr>
          <p:cNvPicPr>
            <a:picLocks noChangeAspect="1"/>
          </p:cNvPicPr>
          <p:nvPr/>
        </p:nvPicPr>
        <p:blipFill>
          <a:blip r:embed="rId4"/>
          <a:stretch>
            <a:fillRect/>
          </a:stretch>
        </p:blipFill>
        <p:spPr>
          <a:xfrm>
            <a:off x="7172491" y="4937125"/>
            <a:ext cx="4908905" cy="1920875"/>
          </a:xfrm>
          <a:prstGeom prst="rect">
            <a:avLst/>
          </a:prstGeom>
        </p:spPr>
      </p:pic>
    </p:spTree>
    <p:extLst>
      <p:ext uri="{BB962C8B-B14F-4D97-AF65-F5344CB8AC3E}">
        <p14:creationId xmlns:p14="http://schemas.microsoft.com/office/powerpoint/2010/main" val="194914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90A2-6A4C-8A5B-191D-58F6F782E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89D2F2-085A-5059-D033-6C2C4B2C954C}"/>
              </a:ext>
            </a:extLst>
          </p:cNvPr>
          <p:cNvSpPr>
            <a:spLocks noGrp="1"/>
          </p:cNvSpPr>
          <p:nvPr>
            <p:ph type="title"/>
          </p:nvPr>
        </p:nvSpPr>
        <p:spPr>
          <a:xfrm>
            <a:off x="604158" y="365125"/>
            <a:ext cx="6678386" cy="2884261"/>
          </a:xfrm>
        </p:spPr>
        <p:txBody>
          <a:bodyPr>
            <a:normAutofit fontScale="90000"/>
          </a:bodyPr>
          <a:lstStyle/>
          <a:p>
            <a:r>
              <a:rPr lang="sv-SE" noProof="0" dirty="0"/>
              <a:t>Uppgift 1 – grundläggande EDA</a:t>
            </a:r>
            <a:br>
              <a:rPr lang="sv-SE" noProof="0" dirty="0"/>
            </a:br>
            <a:r>
              <a:rPr lang="sv-SE" sz="3600" noProof="0" dirty="0"/>
              <a:t>f</a:t>
            </a:r>
            <a:r>
              <a:rPr lang="sv-SE" sz="3200" noProof="0" dirty="0"/>
              <a:t>) </a:t>
            </a:r>
            <a:r>
              <a:rPr lang="sv-SE" sz="3600" noProof="0" dirty="0"/>
              <a:t>Antal BEVILJADE ansökningar per </a:t>
            </a:r>
            <a:r>
              <a:rPr lang="sv-SE" sz="3600" noProof="0" dirty="0" err="1"/>
              <a:t>utbildningsandordnare</a:t>
            </a:r>
            <a:r>
              <a:rPr lang="sv-SE" sz="3600" noProof="0" dirty="0"/>
              <a:t> administrativ enhet och </a:t>
            </a:r>
            <a:r>
              <a:rPr lang="sv-SE" sz="3600" noProof="0" dirty="0" err="1"/>
              <a:t>utbildningsnamn</a:t>
            </a:r>
            <a:r>
              <a:rPr lang="sv-SE" sz="3600" noProof="0" dirty="0"/>
              <a:t> inom Data/IT</a:t>
            </a:r>
            <a:br>
              <a:rPr lang="sv-SE" noProof="0" dirty="0"/>
            </a:br>
            <a:r>
              <a:rPr lang="sv-SE" sz="3600" noProof="0" dirty="0"/>
              <a:t>– uppgift_1/f_1.sql</a:t>
            </a:r>
          </a:p>
        </p:txBody>
      </p:sp>
      <p:sp>
        <p:nvSpPr>
          <p:cNvPr id="3" name="Content Placeholder 2">
            <a:extLst>
              <a:ext uri="{FF2B5EF4-FFF2-40B4-BE49-F238E27FC236}">
                <a16:creationId xmlns:a16="http://schemas.microsoft.com/office/drawing/2014/main" id="{71299E33-DA42-C5F7-576A-94BD5061D8C8}"/>
              </a:ext>
            </a:extLst>
          </p:cNvPr>
          <p:cNvSpPr>
            <a:spLocks noGrp="1"/>
          </p:cNvSpPr>
          <p:nvPr>
            <p:ph idx="1"/>
          </p:nvPr>
        </p:nvSpPr>
        <p:spPr>
          <a:xfrm>
            <a:off x="604158" y="3608615"/>
            <a:ext cx="6263093" cy="2884260"/>
          </a:xfrm>
        </p:spPr>
        <p:txBody>
          <a:bodyPr>
            <a:normAutofit fontScale="92500" lnSpcReduction="10000"/>
          </a:bodyPr>
          <a:lstStyle/>
          <a:p>
            <a:pPr marL="0" indent="0">
              <a:buNone/>
            </a:pPr>
            <a:r>
              <a:rPr lang="sv-SE" noProof="0" dirty="0"/>
              <a:t>Jag utgick från fråga 1d och lade till utbildningsanordnarens administrativa enhet i SELECT och GROUP BY. Därmed grupperas resultatet efter unika kombinationer av </a:t>
            </a:r>
            <a:r>
              <a:rPr lang="sv-SE" noProof="0" dirty="0" err="1"/>
              <a:t>utbildningsnamn</a:t>
            </a:r>
            <a:r>
              <a:rPr lang="sv-SE" noProof="0" dirty="0"/>
              <a:t> och anordnare. Jag använder UPPER(TRIM()) för att hantera skillnader i stora och små bokstäver samt överflödiga blanksteg.</a:t>
            </a:r>
          </a:p>
          <a:p>
            <a:pPr marL="0" indent="0">
              <a:buNone/>
            </a:pPr>
            <a:endParaRPr lang="sv-SE" noProof="0" dirty="0">
              <a:solidFill>
                <a:schemeClr val="accent6"/>
              </a:solidFill>
            </a:endParaRPr>
          </a:p>
          <a:p>
            <a:pPr marL="0" indent="0">
              <a:buNone/>
            </a:pPr>
            <a:endParaRPr lang="sv-SE" noProof="0" dirty="0"/>
          </a:p>
        </p:txBody>
      </p:sp>
      <p:pic>
        <p:nvPicPr>
          <p:cNvPr id="6" name="Picture 5">
            <a:extLst>
              <a:ext uri="{FF2B5EF4-FFF2-40B4-BE49-F238E27FC236}">
                <a16:creationId xmlns:a16="http://schemas.microsoft.com/office/drawing/2014/main" id="{09ECEB34-2D7B-2F96-E95A-B353B74ACBBB}"/>
              </a:ext>
            </a:extLst>
          </p:cNvPr>
          <p:cNvPicPr>
            <a:picLocks noChangeAspect="1"/>
          </p:cNvPicPr>
          <p:nvPr/>
        </p:nvPicPr>
        <p:blipFill>
          <a:blip r:embed="rId2"/>
          <a:stretch>
            <a:fillRect/>
          </a:stretch>
        </p:blipFill>
        <p:spPr>
          <a:xfrm>
            <a:off x="7087342" y="709328"/>
            <a:ext cx="4908905" cy="2061847"/>
          </a:xfrm>
          <a:prstGeom prst="rect">
            <a:avLst/>
          </a:prstGeom>
        </p:spPr>
      </p:pic>
      <p:pic>
        <p:nvPicPr>
          <p:cNvPr id="7" name="Picture 6">
            <a:extLst>
              <a:ext uri="{FF2B5EF4-FFF2-40B4-BE49-F238E27FC236}">
                <a16:creationId xmlns:a16="http://schemas.microsoft.com/office/drawing/2014/main" id="{652BEB1A-57E4-C784-525E-9150DE23CA22}"/>
              </a:ext>
            </a:extLst>
          </p:cNvPr>
          <p:cNvPicPr>
            <a:picLocks noChangeAspect="1"/>
          </p:cNvPicPr>
          <p:nvPr/>
        </p:nvPicPr>
        <p:blipFill>
          <a:blip r:embed="rId3"/>
          <a:stretch>
            <a:fillRect/>
          </a:stretch>
        </p:blipFill>
        <p:spPr>
          <a:xfrm>
            <a:off x="7054145" y="2771175"/>
            <a:ext cx="4975301" cy="4201125"/>
          </a:xfrm>
          <a:prstGeom prst="rect">
            <a:avLst/>
          </a:prstGeom>
        </p:spPr>
      </p:pic>
    </p:spTree>
    <p:extLst>
      <p:ext uri="{BB962C8B-B14F-4D97-AF65-F5344CB8AC3E}">
        <p14:creationId xmlns:p14="http://schemas.microsoft.com/office/powerpoint/2010/main" val="3691177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C9455-1789-8FBF-256E-1CAC40D60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6A8714-4863-2464-053B-48C444B59ED6}"/>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3600" noProof="0" dirty="0"/>
              <a:t>g</a:t>
            </a:r>
            <a:r>
              <a:rPr lang="sv-SE" sz="3200" noProof="0" dirty="0"/>
              <a:t>) </a:t>
            </a:r>
            <a:r>
              <a:rPr lang="sv-SE" sz="3600" noProof="0" dirty="0"/>
              <a:t>Topp 5 län efter antal beviljade ansökningar</a:t>
            </a:r>
            <a:br>
              <a:rPr lang="sv-SE" noProof="0" dirty="0"/>
            </a:br>
            <a:r>
              <a:rPr lang="sv-SE" sz="3600" noProof="0" dirty="0"/>
              <a:t>– uppgift_1/g_1.sql</a:t>
            </a:r>
          </a:p>
        </p:txBody>
      </p:sp>
      <p:sp>
        <p:nvSpPr>
          <p:cNvPr id="3" name="Content Placeholder 2">
            <a:extLst>
              <a:ext uri="{FF2B5EF4-FFF2-40B4-BE49-F238E27FC236}">
                <a16:creationId xmlns:a16="http://schemas.microsoft.com/office/drawing/2014/main" id="{04F6CDCF-2C6E-EA6C-70AE-630AFE72FB2F}"/>
              </a:ext>
            </a:extLst>
          </p:cNvPr>
          <p:cNvSpPr>
            <a:spLocks noGrp="1"/>
          </p:cNvSpPr>
          <p:nvPr>
            <p:ph idx="1"/>
          </p:nvPr>
        </p:nvSpPr>
        <p:spPr>
          <a:xfrm>
            <a:off x="604158" y="3608615"/>
            <a:ext cx="6263093" cy="2884260"/>
          </a:xfrm>
        </p:spPr>
        <p:txBody>
          <a:bodyPr>
            <a:normAutofit fontScale="77500" lnSpcReduction="20000"/>
          </a:bodyPr>
          <a:lstStyle/>
          <a:p>
            <a:pPr marL="0" indent="0">
              <a:buNone/>
            </a:pPr>
            <a:r>
              <a:rPr lang="sv-SE" noProof="0" dirty="0"/>
              <a:t>En av skillnaderna i denna uppgift mot tidigare är att sortera efter våra räknade rader och därför får vår </a:t>
            </a:r>
            <a:r>
              <a:rPr lang="sv-SE" noProof="0" dirty="0" err="1"/>
              <a:t>count</a:t>
            </a:r>
            <a:r>
              <a:rPr lang="sv-SE" noProof="0" dirty="0"/>
              <a:t>(*) ett kolumnalias, ”Beviljade kurser”.</a:t>
            </a:r>
            <a:br>
              <a:rPr lang="sv-SE" noProof="0" dirty="0"/>
            </a:br>
            <a:r>
              <a:rPr lang="sv-SE" noProof="0" dirty="0"/>
              <a:t>En annan är att vi bara vill se topp 5, därav </a:t>
            </a:r>
            <a:r>
              <a:rPr lang="sv-SE" noProof="0" dirty="0" err="1"/>
              <a:t>fetch</a:t>
            </a:r>
            <a:r>
              <a:rPr lang="sv-SE" noProof="0" dirty="0"/>
              <a:t> </a:t>
            </a:r>
            <a:r>
              <a:rPr lang="sv-SE" noProof="0" dirty="0" err="1"/>
              <a:t>first</a:t>
            </a:r>
            <a:r>
              <a:rPr lang="sv-SE" noProof="0" dirty="0"/>
              <a:t> 5 </a:t>
            </a:r>
            <a:r>
              <a:rPr lang="sv-SE" noProof="0" dirty="0" err="1"/>
              <a:t>rows</a:t>
            </a:r>
            <a:r>
              <a:rPr lang="sv-SE" noProof="0" dirty="0"/>
              <a:t> </a:t>
            </a:r>
            <a:r>
              <a:rPr lang="sv-SE" noProof="0" dirty="0" err="1"/>
              <a:t>only</a:t>
            </a:r>
            <a:r>
              <a:rPr lang="sv-SE" noProof="0" dirty="0"/>
              <a:t>.</a:t>
            </a:r>
            <a:br>
              <a:rPr lang="sv-SE" noProof="0" dirty="0"/>
            </a:br>
            <a:br>
              <a:rPr lang="sv-SE" noProof="0" dirty="0"/>
            </a:br>
            <a:r>
              <a:rPr lang="sv-SE" noProof="0" dirty="0"/>
              <a:t>Bonus: Vill vi inte få med ”Flera kommuner” i resultatet, utan endast få faktiska län, kan vi lägga till </a:t>
            </a:r>
            <a:r>
              <a:rPr lang="sv-SE" noProof="0" dirty="0">
                <a:solidFill>
                  <a:schemeClr val="accent6"/>
                </a:solidFill>
              </a:rPr>
              <a:t>AND UPPER(TRIM(län)) &lt;&gt; 'FLERA KOMMUNER’ </a:t>
            </a:r>
            <a:r>
              <a:rPr lang="sv-SE" noProof="0" dirty="0"/>
              <a:t>till vårt </a:t>
            </a:r>
            <a:r>
              <a:rPr lang="sv-SE" noProof="0" dirty="0">
                <a:solidFill>
                  <a:schemeClr val="accent6"/>
                </a:solidFill>
              </a:rPr>
              <a:t>WHERE</a:t>
            </a:r>
            <a:r>
              <a:rPr lang="sv-SE" noProof="0" dirty="0"/>
              <a:t>-villkor.</a:t>
            </a:r>
          </a:p>
          <a:p>
            <a:pPr marL="0" indent="0">
              <a:buNone/>
            </a:pPr>
            <a:endParaRPr lang="sv-SE" noProof="0" dirty="0"/>
          </a:p>
          <a:p>
            <a:pPr marL="0" indent="0">
              <a:buNone/>
            </a:pPr>
            <a:endParaRPr lang="sv-SE" noProof="0" dirty="0">
              <a:solidFill>
                <a:schemeClr val="accent6"/>
              </a:solidFill>
            </a:endParaRPr>
          </a:p>
          <a:p>
            <a:pPr marL="0" indent="0">
              <a:buNone/>
            </a:pPr>
            <a:endParaRPr lang="sv-SE" noProof="0" dirty="0"/>
          </a:p>
        </p:txBody>
      </p:sp>
      <p:pic>
        <p:nvPicPr>
          <p:cNvPr id="8" name="Picture 7">
            <a:extLst>
              <a:ext uri="{FF2B5EF4-FFF2-40B4-BE49-F238E27FC236}">
                <a16:creationId xmlns:a16="http://schemas.microsoft.com/office/drawing/2014/main" id="{CF42FA08-5113-889D-9EC8-0EB913942386}"/>
              </a:ext>
            </a:extLst>
          </p:cNvPr>
          <p:cNvPicPr>
            <a:picLocks noChangeAspect="1"/>
          </p:cNvPicPr>
          <p:nvPr/>
        </p:nvPicPr>
        <p:blipFill>
          <a:blip r:embed="rId2"/>
          <a:stretch>
            <a:fillRect/>
          </a:stretch>
        </p:blipFill>
        <p:spPr>
          <a:xfrm>
            <a:off x="7533921" y="630117"/>
            <a:ext cx="4699963" cy="2800326"/>
          </a:xfrm>
          <a:prstGeom prst="rect">
            <a:avLst/>
          </a:prstGeom>
        </p:spPr>
      </p:pic>
      <p:pic>
        <p:nvPicPr>
          <p:cNvPr id="9" name="Picture 8">
            <a:extLst>
              <a:ext uri="{FF2B5EF4-FFF2-40B4-BE49-F238E27FC236}">
                <a16:creationId xmlns:a16="http://schemas.microsoft.com/office/drawing/2014/main" id="{1DF63862-CA42-AA6D-FCFC-48CF3FA0134F}"/>
              </a:ext>
            </a:extLst>
          </p:cNvPr>
          <p:cNvPicPr>
            <a:picLocks noChangeAspect="1"/>
          </p:cNvPicPr>
          <p:nvPr/>
        </p:nvPicPr>
        <p:blipFill>
          <a:blip r:embed="rId3"/>
          <a:stretch>
            <a:fillRect/>
          </a:stretch>
        </p:blipFill>
        <p:spPr>
          <a:xfrm>
            <a:off x="7201631" y="3408217"/>
            <a:ext cx="5403696" cy="3641621"/>
          </a:xfrm>
          <a:prstGeom prst="rect">
            <a:avLst/>
          </a:prstGeom>
        </p:spPr>
      </p:pic>
    </p:spTree>
    <p:extLst>
      <p:ext uri="{BB962C8B-B14F-4D97-AF65-F5344CB8AC3E}">
        <p14:creationId xmlns:p14="http://schemas.microsoft.com/office/powerpoint/2010/main" val="278081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D2A50-365A-56EA-25C4-6204256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C1E26-B7F9-0AC2-F9B6-1D7726FBDB50}"/>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2400" noProof="0" dirty="0"/>
              <a:t>h) Andel distans och andel bundna utbildningar inom respektive </a:t>
            </a:r>
            <a:r>
              <a:rPr lang="sv-SE" sz="2400" noProof="0" dirty="0" err="1"/>
              <a:t>utbildingsområde</a:t>
            </a:r>
            <a:br>
              <a:rPr lang="sv-SE" sz="2400" noProof="0" dirty="0"/>
            </a:br>
            <a:r>
              <a:rPr lang="sv-SE" sz="3600" noProof="0" dirty="0"/>
              <a:t>– uppgift_1/h_1.sql</a:t>
            </a:r>
          </a:p>
        </p:txBody>
      </p:sp>
      <p:sp>
        <p:nvSpPr>
          <p:cNvPr id="3" name="Content Placeholder 2">
            <a:extLst>
              <a:ext uri="{FF2B5EF4-FFF2-40B4-BE49-F238E27FC236}">
                <a16:creationId xmlns:a16="http://schemas.microsoft.com/office/drawing/2014/main" id="{FED14A56-CE5F-0C39-D9C6-BBD283799029}"/>
              </a:ext>
            </a:extLst>
          </p:cNvPr>
          <p:cNvSpPr>
            <a:spLocks noGrp="1"/>
          </p:cNvSpPr>
          <p:nvPr>
            <p:ph idx="1"/>
          </p:nvPr>
        </p:nvSpPr>
        <p:spPr>
          <a:xfrm>
            <a:off x="604158" y="3034145"/>
            <a:ext cx="6263093" cy="3458730"/>
          </a:xfrm>
        </p:spPr>
        <p:txBody>
          <a:bodyPr>
            <a:noAutofit/>
          </a:bodyPr>
          <a:lstStyle/>
          <a:p>
            <a:pPr marL="0" marR="0">
              <a:buNone/>
            </a:pPr>
            <a:r>
              <a:rPr lang="sv-SE" sz="2000" noProof="0" dirty="0">
                <a:latin typeface="+mj-lt"/>
              </a:rPr>
              <a:t>I denna fråga använder vi aggregeringsfunktionen COUNT och </a:t>
            </a:r>
            <a:r>
              <a:rPr lang="sv-SE" sz="2000" noProof="0" dirty="0" err="1">
                <a:latin typeface="+mj-lt"/>
              </a:rPr>
              <a:t>villkorsuttycket</a:t>
            </a:r>
            <a:r>
              <a:rPr lang="sv-SE" sz="2000" noProof="0" dirty="0">
                <a:latin typeface="+mj-lt"/>
              </a:rPr>
              <a:t> CASE.</a:t>
            </a:r>
            <a:br>
              <a:rPr lang="sv-SE" sz="2000" noProof="0" dirty="0">
                <a:latin typeface="+mj-lt"/>
              </a:rPr>
            </a:br>
            <a:br>
              <a:rPr lang="sv-SE" sz="2000" noProof="0" dirty="0">
                <a:latin typeface="+mj-lt"/>
              </a:rPr>
            </a:br>
            <a:r>
              <a:rPr lang="sv-SE" sz="2000" noProof="0" dirty="0">
                <a:solidFill>
                  <a:schemeClr val="accent6"/>
                </a:solidFill>
                <a:latin typeface="+mj-lt"/>
              </a:rPr>
              <a:t> </a:t>
            </a:r>
            <a:r>
              <a:rPr lang="sv-SE" sz="2000" b="1" noProof="0" dirty="0">
                <a:solidFill>
                  <a:schemeClr val="accent6"/>
                </a:solidFill>
                <a:latin typeface="+mj-lt"/>
              </a:rPr>
              <a:t>round</a:t>
            </a:r>
            <a:r>
              <a:rPr lang="sv-SE" sz="2000" noProof="0" dirty="0">
                <a:solidFill>
                  <a:schemeClr val="accent6"/>
                </a:solidFill>
                <a:latin typeface="+mj-lt"/>
              </a:rPr>
              <a:t>(</a:t>
            </a:r>
            <a:r>
              <a:rPr lang="sv-SE" sz="2000" b="1" noProof="0" dirty="0">
                <a:solidFill>
                  <a:schemeClr val="accent6"/>
                </a:solidFill>
                <a:latin typeface="+mj-lt"/>
              </a:rPr>
              <a:t>COUNT</a:t>
            </a:r>
            <a:r>
              <a:rPr lang="sv-SE" sz="2000" noProof="0" dirty="0">
                <a:solidFill>
                  <a:schemeClr val="accent6"/>
                </a:solidFill>
                <a:latin typeface="+mj-lt"/>
              </a:rPr>
              <a:t>(CASE WHEN studieform = 'Bunden' THEN 1 END) * 100.0 / </a:t>
            </a:r>
            <a:r>
              <a:rPr lang="sv-SE" sz="2000" b="1" noProof="0" dirty="0">
                <a:solidFill>
                  <a:schemeClr val="accent6"/>
                </a:solidFill>
                <a:latin typeface="+mj-lt"/>
              </a:rPr>
              <a:t>COUNT</a:t>
            </a:r>
            <a:r>
              <a:rPr lang="sv-SE" sz="2000" noProof="0" dirty="0">
                <a:solidFill>
                  <a:schemeClr val="accent6"/>
                </a:solidFill>
                <a:latin typeface="+mj-lt"/>
              </a:rPr>
              <a:t>(*),2) AS "Andel Bundna”.</a:t>
            </a:r>
          </a:p>
          <a:p>
            <a:pPr marL="0" indent="0">
              <a:buNone/>
            </a:pPr>
            <a:r>
              <a:rPr lang="sv-SE" sz="2000" noProof="0" dirty="0">
                <a:latin typeface="+mj-lt"/>
              </a:rPr>
              <a:t>På ren svenska:</a:t>
            </a:r>
            <a:br>
              <a:rPr lang="sv-SE" sz="2000" noProof="0" dirty="0">
                <a:latin typeface="+mj-lt"/>
              </a:rPr>
            </a:br>
            <a:r>
              <a:rPr lang="sv-SE" sz="2000" noProof="0" dirty="0">
                <a:latin typeface="+mj-lt"/>
              </a:rPr>
              <a:t>För varje rad där studieformen är ”Bunden” returnerar CASE värdet 1, annars NULL. COUNT räknar sedan alla värden som inte är NULL. Antalet multipliceras med 100 och delas med det totala antalet rader inom utbildningsområdet. Slutligen avrundas resultatet till två decimaler.</a:t>
            </a:r>
          </a:p>
        </p:txBody>
      </p:sp>
      <p:pic>
        <p:nvPicPr>
          <p:cNvPr id="4" name="Picture 3">
            <a:extLst>
              <a:ext uri="{FF2B5EF4-FFF2-40B4-BE49-F238E27FC236}">
                <a16:creationId xmlns:a16="http://schemas.microsoft.com/office/drawing/2014/main" id="{E33AD26D-82A5-4667-2708-E4E24EFC242B}"/>
              </a:ext>
            </a:extLst>
          </p:cNvPr>
          <p:cNvPicPr>
            <a:picLocks noChangeAspect="1"/>
          </p:cNvPicPr>
          <p:nvPr/>
        </p:nvPicPr>
        <p:blipFill>
          <a:blip r:embed="rId2"/>
          <a:stretch>
            <a:fillRect/>
          </a:stretch>
        </p:blipFill>
        <p:spPr>
          <a:xfrm>
            <a:off x="6948076" y="1307609"/>
            <a:ext cx="5186204" cy="2301006"/>
          </a:xfrm>
          <a:prstGeom prst="rect">
            <a:avLst/>
          </a:prstGeom>
        </p:spPr>
      </p:pic>
      <p:pic>
        <p:nvPicPr>
          <p:cNvPr id="5" name="Picture 4">
            <a:extLst>
              <a:ext uri="{FF2B5EF4-FFF2-40B4-BE49-F238E27FC236}">
                <a16:creationId xmlns:a16="http://schemas.microsoft.com/office/drawing/2014/main" id="{7B6FC063-2DDE-A223-3824-241518CD515A}"/>
              </a:ext>
            </a:extLst>
          </p:cNvPr>
          <p:cNvPicPr>
            <a:picLocks noChangeAspect="1"/>
          </p:cNvPicPr>
          <p:nvPr/>
        </p:nvPicPr>
        <p:blipFill>
          <a:blip r:embed="rId3"/>
          <a:stretch>
            <a:fillRect/>
          </a:stretch>
        </p:blipFill>
        <p:spPr>
          <a:xfrm>
            <a:off x="6867251" y="3354740"/>
            <a:ext cx="5347855" cy="3562817"/>
          </a:xfrm>
          <a:prstGeom prst="rect">
            <a:avLst/>
          </a:prstGeom>
        </p:spPr>
      </p:pic>
    </p:spTree>
    <p:extLst>
      <p:ext uri="{BB962C8B-B14F-4D97-AF65-F5344CB8AC3E}">
        <p14:creationId xmlns:p14="http://schemas.microsoft.com/office/powerpoint/2010/main" val="8923225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0C743-0FAE-7F1A-A7FE-5FB6F8DB6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42E98A-71BA-48AE-2DC5-F44F4B9A070C}"/>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3200" noProof="0" dirty="0"/>
              <a:t>i) Antal utbildningar som innehåller </a:t>
            </a:r>
            <a:br>
              <a:rPr lang="sv-SE" sz="3200" noProof="0" dirty="0"/>
            </a:br>
            <a:r>
              <a:rPr lang="sv-SE" sz="3200" noProof="0" dirty="0"/>
              <a:t>ordet AI</a:t>
            </a:r>
            <a:br>
              <a:rPr lang="sv-SE" sz="3200" noProof="0" dirty="0"/>
            </a:br>
            <a:r>
              <a:rPr lang="sv-SE" sz="3200" noProof="0" dirty="0"/>
              <a:t>– uppgift_1/i_1.sql</a:t>
            </a:r>
          </a:p>
        </p:txBody>
      </p:sp>
      <p:sp>
        <p:nvSpPr>
          <p:cNvPr id="3" name="Content Placeholder 2">
            <a:extLst>
              <a:ext uri="{FF2B5EF4-FFF2-40B4-BE49-F238E27FC236}">
                <a16:creationId xmlns:a16="http://schemas.microsoft.com/office/drawing/2014/main" id="{C5D00C90-11E6-1ABB-C0EE-B904E6B3ADFB}"/>
              </a:ext>
            </a:extLst>
          </p:cNvPr>
          <p:cNvSpPr>
            <a:spLocks noGrp="1"/>
          </p:cNvSpPr>
          <p:nvPr>
            <p:ph idx="1"/>
          </p:nvPr>
        </p:nvSpPr>
        <p:spPr>
          <a:xfrm>
            <a:off x="604158" y="3034145"/>
            <a:ext cx="6263093" cy="3458730"/>
          </a:xfrm>
        </p:spPr>
        <p:txBody>
          <a:bodyPr>
            <a:noAutofit/>
          </a:bodyPr>
          <a:lstStyle/>
          <a:p>
            <a:pPr marL="0">
              <a:buNone/>
            </a:pPr>
            <a:r>
              <a:rPr lang="sv-SE" sz="2400" noProof="0" dirty="0">
                <a:latin typeface="+mj-lt"/>
              </a:rPr>
              <a:t>Här räknar vi antal rader där </a:t>
            </a:r>
            <a:r>
              <a:rPr lang="sv-SE" sz="2400" noProof="0" dirty="0" err="1">
                <a:latin typeface="+mj-lt"/>
              </a:rPr>
              <a:t>utbildningsnamn</a:t>
            </a:r>
            <a:r>
              <a:rPr lang="sv-SE" sz="2400" noProof="0" dirty="0">
                <a:latin typeface="+mj-lt"/>
              </a:rPr>
              <a:t> innehåller ”AI” genom att använda </a:t>
            </a:r>
            <a:r>
              <a:rPr lang="sv-SE" sz="2400" noProof="0" dirty="0">
                <a:solidFill>
                  <a:schemeClr val="accent6"/>
                </a:solidFill>
                <a:latin typeface="+mj-lt"/>
              </a:rPr>
              <a:t>WHERE </a:t>
            </a:r>
            <a:r>
              <a:rPr lang="sv-SE" sz="2400" noProof="0" dirty="0" err="1">
                <a:solidFill>
                  <a:schemeClr val="accent6"/>
                </a:solidFill>
                <a:latin typeface="+mj-lt"/>
              </a:rPr>
              <a:t>utbildningsnamn</a:t>
            </a:r>
            <a:r>
              <a:rPr lang="sv-SE" sz="2400" noProof="0" dirty="0">
                <a:solidFill>
                  <a:schemeClr val="accent6"/>
                </a:solidFill>
                <a:latin typeface="+mj-lt"/>
              </a:rPr>
              <a:t> LIKE '%AI%’</a:t>
            </a:r>
            <a:r>
              <a:rPr lang="sv-SE" sz="2400" noProof="0" dirty="0">
                <a:latin typeface="+mj-lt"/>
              </a:rPr>
              <a:t> som villkor. </a:t>
            </a:r>
          </a:p>
          <a:p>
            <a:pPr marL="0">
              <a:buNone/>
            </a:pPr>
            <a:br>
              <a:rPr lang="sv-SE" sz="2400" noProof="0" dirty="0">
                <a:latin typeface="+mj-lt"/>
              </a:rPr>
            </a:br>
            <a:r>
              <a:rPr lang="sv-SE" sz="2400" noProof="0" dirty="0">
                <a:solidFill>
                  <a:schemeClr val="accent6"/>
                </a:solidFill>
                <a:latin typeface="+mj-lt"/>
              </a:rPr>
              <a:t>LIKE</a:t>
            </a:r>
            <a:r>
              <a:rPr lang="sv-SE" sz="2400" noProof="0" dirty="0">
                <a:latin typeface="+mj-lt"/>
              </a:rPr>
              <a:t> används för mönstermatchning. Jokertecknen </a:t>
            </a:r>
            <a:r>
              <a:rPr lang="sv-SE" sz="2400" noProof="0" dirty="0">
                <a:solidFill>
                  <a:schemeClr val="accent6"/>
                </a:solidFill>
                <a:latin typeface="+mj-lt"/>
              </a:rPr>
              <a:t>%</a:t>
            </a:r>
            <a:r>
              <a:rPr lang="sv-SE" sz="2400" noProof="0" dirty="0">
                <a:latin typeface="+mj-lt"/>
              </a:rPr>
              <a:t> gör att vi hittar “AI” oavsett var i utbildningsnamnet teckensekvensen förekommer.</a:t>
            </a:r>
          </a:p>
        </p:txBody>
      </p:sp>
      <p:pic>
        <p:nvPicPr>
          <p:cNvPr id="6" name="Picture 5">
            <a:extLst>
              <a:ext uri="{FF2B5EF4-FFF2-40B4-BE49-F238E27FC236}">
                <a16:creationId xmlns:a16="http://schemas.microsoft.com/office/drawing/2014/main" id="{2E864145-E56A-67E7-CD6E-C714CCC2C824}"/>
              </a:ext>
            </a:extLst>
          </p:cNvPr>
          <p:cNvPicPr>
            <a:picLocks noChangeAspect="1"/>
          </p:cNvPicPr>
          <p:nvPr/>
        </p:nvPicPr>
        <p:blipFill>
          <a:blip r:embed="rId2"/>
          <a:stretch>
            <a:fillRect/>
          </a:stretch>
        </p:blipFill>
        <p:spPr>
          <a:xfrm>
            <a:off x="6593613" y="3771158"/>
            <a:ext cx="5471391" cy="2344882"/>
          </a:xfrm>
          <a:prstGeom prst="rect">
            <a:avLst/>
          </a:prstGeom>
        </p:spPr>
      </p:pic>
      <p:pic>
        <p:nvPicPr>
          <p:cNvPr id="7" name="Picture 6">
            <a:extLst>
              <a:ext uri="{FF2B5EF4-FFF2-40B4-BE49-F238E27FC236}">
                <a16:creationId xmlns:a16="http://schemas.microsoft.com/office/drawing/2014/main" id="{4D137016-9CBE-345A-8FAA-71A269C63319}"/>
              </a:ext>
            </a:extLst>
          </p:cNvPr>
          <p:cNvPicPr>
            <a:picLocks noChangeAspect="1"/>
          </p:cNvPicPr>
          <p:nvPr/>
        </p:nvPicPr>
        <p:blipFill>
          <a:blip r:embed="rId3"/>
          <a:stretch>
            <a:fillRect/>
          </a:stretch>
        </p:blipFill>
        <p:spPr>
          <a:xfrm>
            <a:off x="6421223" y="1339932"/>
            <a:ext cx="5816172" cy="3065813"/>
          </a:xfrm>
          <a:prstGeom prst="rect">
            <a:avLst/>
          </a:prstGeom>
        </p:spPr>
      </p:pic>
    </p:spTree>
    <p:extLst>
      <p:ext uri="{BB962C8B-B14F-4D97-AF65-F5344CB8AC3E}">
        <p14:creationId xmlns:p14="http://schemas.microsoft.com/office/powerpoint/2010/main" val="2767050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3D31A-7A9D-4E26-AEFD-9711544F1F4F}"/>
              </a:ext>
            </a:extLst>
          </p:cNvPr>
          <p:cNvSpPr>
            <a:spLocks noGrp="1"/>
          </p:cNvSpPr>
          <p:nvPr>
            <p:ph type="title"/>
          </p:nvPr>
        </p:nvSpPr>
        <p:spPr/>
        <p:txBody>
          <a:bodyPr/>
          <a:lstStyle/>
          <a:p>
            <a:r>
              <a:rPr lang="sv-SE" noProof="0" dirty="0"/>
              <a:t>Uppgift 2 – Intervjua Domänexpert</a:t>
            </a:r>
          </a:p>
        </p:txBody>
      </p:sp>
      <p:sp>
        <p:nvSpPr>
          <p:cNvPr id="3" name="Content Placeholder 2">
            <a:extLst>
              <a:ext uri="{FF2B5EF4-FFF2-40B4-BE49-F238E27FC236}">
                <a16:creationId xmlns:a16="http://schemas.microsoft.com/office/drawing/2014/main" id="{91E2A04C-D413-4247-E202-8C300D820F20}"/>
              </a:ext>
            </a:extLst>
          </p:cNvPr>
          <p:cNvSpPr>
            <a:spLocks noGrp="1"/>
          </p:cNvSpPr>
          <p:nvPr>
            <p:ph idx="1"/>
          </p:nvPr>
        </p:nvSpPr>
        <p:spPr/>
        <p:txBody>
          <a:bodyPr/>
          <a:lstStyle/>
          <a:p>
            <a:pPr marL="0" indent="0">
              <a:buNone/>
            </a:pPr>
            <a:r>
              <a:rPr lang="sv-SE" noProof="0" dirty="0"/>
              <a:t>Efter intervju med </a:t>
            </a:r>
            <a:r>
              <a:rPr lang="sv-SE" noProof="0" dirty="0" err="1"/>
              <a:t>stakeholder</a:t>
            </a:r>
            <a:r>
              <a:rPr lang="sv-SE" noProof="0" dirty="0"/>
              <a:t> är det etablerat att målet med datadriven analys är att hitta information om vilka utbildningar som har störst chans att bli beviljade, och varför. Utslagskriterier kan vara av geografisk, områdesmässig, omfattningsmässig och inriktningsmässig natur.</a:t>
            </a:r>
          </a:p>
          <a:p>
            <a:pPr marL="0" indent="0">
              <a:buNone/>
            </a:pPr>
            <a:br>
              <a:rPr lang="sv-SE" noProof="0" dirty="0"/>
            </a:br>
            <a:r>
              <a:rPr lang="sv-SE" noProof="0" dirty="0"/>
              <a:t>The </a:t>
            </a:r>
            <a:r>
              <a:rPr lang="sv-SE" noProof="0" dirty="0" err="1"/>
              <a:t>Skool</a:t>
            </a:r>
            <a:r>
              <a:rPr lang="sv-SE" noProof="0" dirty="0"/>
              <a:t> har inga begränsningar inom ovan nämnda områden.</a:t>
            </a:r>
          </a:p>
        </p:txBody>
      </p:sp>
    </p:spTree>
    <p:extLst>
      <p:ext uri="{BB962C8B-B14F-4D97-AF65-F5344CB8AC3E}">
        <p14:creationId xmlns:p14="http://schemas.microsoft.com/office/powerpoint/2010/main" val="1139038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DFE2-CFCC-7129-309A-730EA36D0B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2F07A-09BE-C89B-1A65-240670EDC834}"/>
              </a:ext>
            </a:extLst>
          </p:cNvPr>
          <p:cNvSpPr>
            <a:spLocks noGrp="1"/>
          </p:cNvSpPr>
          <p:nvPr>
            <p:ph type="title"/>
          </p:nvPr>
        </p:nvSpPr>
        <p:spPr/>
        <p:txBody>
          <a:bodyPr/>
          <a:lstStyle/>
          <a:p>
            <a:r>
              <a:rPr lang="sv-SE" noProof="0" dirty="0"/>
              <a:t>Uppgift 3 – Datadrivna beslut</a:t>
            </a:r>
          </a:p>
        </p:txBody>
      </p:sp>
      <p:sp>
        <p:nvSpPr>
          <p:cNvPr id="3" name="Content Placeholder 2">
            <a:extLst>
              <a:ext uri="{FF2B5EF4-FFF2-40B4-BE49-F238E27FC236}">
                <a16:creationId xmlns:a16="http://schemas.microsoft.com/office/drawing/2014/main" id="{D3A2B66C-C0FB-74A4-FA0D-61F23E9FD7D1}"/>
              </a:ext>
            </a:extLst>
          </p:cNvPr>
          <p:cNvSpPr>
            <a:spLocks noGrp="1"/>
          </p:cNvSpPr>
          <p:nvPr>
            <p:ph idx="1"/>
          </p:nvPr>
        </p:nvSpPr>
        <p:spPr/>
        <p:txBody>
          <a:bodyPr/>
          <a:lstStyle/>
          <a:p>
            <a:pPr marL="0" indent="0">
              <a:buNone/>
            </a:pPr>
            <a:r>
              <a:rPr lang="sv-SE" noProof="0" dirty="0"/>
              <a:t>Jag vill börja med att undersöka vilka utbildningar som har högst beviljandegrad och hur många ansökningar resultaten bygger på.</a:t>
            </a:r>
          </a:p>
          <a:p>
            <a:pPr marL="0" indent="0">
              <a:buNone/>
            </a:pPr>
            <a:r>
              <a:rPr lang="sv-SE" noProof="0" dirty="0"/>
              <a:t>Därefter vill jag undersöka om de mest framgångsrika utbildningarna har några gemensamma nämnare, exempelvis utbildningsområde, SUN5-inriktning eller studieform.</a:t>
            </a:r>
          </a:p>
          <a:p>
            <a:pPr marL="0" indent="0">
              <a:buNone/>
            </a:pPr>
            <a:r>
              <a:rPr lang="sv-SE" noProof="0" dirty="0"/>
              <a:t>Slutligen vill jag identifiera utbildningar med hög beviljandegrad och undersöka i vilka län de inte har sökts under 2025, för att hitta möjliga etableringsmöjligheter för The </a:t>
            </a:r>
            <a:r>
              <a:rPr lang="sv-SE" noProof="0" dirty="0" err="1"/>
              <a:t>Skool</a:t>
            </a:r>
            <a:r>
              <a:rPr lang="sv-SE" noProof="0" dirty="0"/>
              <a:t>.</a:t>
            </a:r>
          </a:p>
        </p:txBody>
      </p:sp>
    </p:spTree>
    <p:extLst>
      <p:ext uri="{BB962C8B-B14F-4D97-AF65-F5344CB8AC3E}">
        <p14:creationId xmlns:p14="http://schemas.microsoft.com/office/powerpoint/2010/main" val="33884590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69292-0965-15D0-1E16-58AD106DF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58914-286A-B0AB-5393-AEB71A65B366}"/>
              </a:ext>
            </a:extLst>
          </p:cNvPr>
          <p:cNvSpPr>
            <a:spLocks noGrp="1"/>
          </p:cNvSpPr>
          <p:nvPr>
            <p:ph type="title"/>
          </p:nvPr>
        </p:nvSpPr>
        <p:spPr/>
        <p:txBody>
          <a:bodyPr/>
          <a:lstStyle/>
          <a:p>
            <a:r>
              <a:rPr lang="sv-SE" noProof="0" dirty="0"/>
              <a:t>Uppgift 3 – Datadrivna beslut – Fråga A</a:t>
            </a:r>
          </a:p>
        </p:txBody>
      </p:sp>
      <p:sp>
        <p:nvSpPr>
          <p:cNvPr id="3" name="Content Placeholder 2">
            <a:extLst>
              <a:ext uri="{FF2B5EF4-FFF2-40B4-BE49-F238E27FC236}">
                <a16:creationId xmlns:a16="http://schemas.microsoft.com/office/drawing/2014/main" id="{5F11B7BD-6249-4868-BA54-9387E5BA57FB}"/>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noProof="0" dirty="0"/>
              <a:t>Fråga A.1–A.4:</a:t>
            </a:r>
            <a:br>
              <a:rPr lang="sv-SE" noProof="0" dirty="0"/>
            </a:br>
            <a:r>
              <a:rPr lang="sv-SE" noProof="0" dirty="0"/>
              <a:t>Vilka utbildningar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utbildningar och möjliga etableringsmöjligheter för The </a:t>
            </a:r>
            <a:r>
              <a:rPr lang="sv-SE" noProof="0" dirty="0" err="1"/>
              <a:t>Skool</a:t>
            </a:r>
            <a:r>
              <a:rPr lang="sv-SE" noProof="0" dirty="0"/>
              <a:t> genom att jämföra beviljandegrad, antal ansökningar och studieform.</a:t>
            </a:r>
          </a:p>
          <a:p>
            <a:pPr marL="0" indent="0">
              <a:buNone/>
            </a:pPr>
            <a:r>
              <a:rPr lang="sv-SE" b="1" noProof="0" dirty="0"/>
              <a:t>Resultat:</a:t>
            </a:r>
            <a:br>
              <a:rPr lang="sv-SE" noProof="0" dirty="0"/>
            </a:br>
            <a:r>
              <a:rPr lang="sv-SE" noProof="0" dirty="0"/>
              <a:t>268 </a:t>
            </a:r>
            <a:r>
              <a:rPr lang="sv-SE" noProof="0" dirty="0" err="1"/>
              <a:t>utbildningsnamn</a:t>
            </a:r>
            <a:r>
              <a:rPr lang="sv-SE" noProof="0" dirty="0"/>
              <a:t> hade minst 80 % beviljandegrad. Vid separata analyser uppfyllde 172 kriteriet som bundna och 124 som distansutbildningar.</a:t>
            </a:r>
          </a:p>
          <a:p>
            <a:pPr marL="0" indent="0">
              <a:buNone/>
            </a:pPr>
            <a:r>
              <a:rPr lang="sv-SE" noProof="0" dirty="0"/>
              <a:t>Tandsköterska utmärkte sig med 17 av 17 beviljade ansökningar, fördelade på båda studieformerna.</a:t>
            </a:r>
          </a:p>
          <a:p>
            <a:pPr marL="0" indent="0">
              <a:buNone/>
            </a:pPr>
            <a:r>
              <a:rPr lang="sv-SE" noProof="0" dirty="0"/>
              <a:t>Totalt beviljades 42,54 % av de bundna utbildningarnas ansökningar, jämfört med 35,02 % för distans – en skillnad på 7,52 procentenheter.</a:t>
            </a:r>
          </a:p>
          <a:p>
            <a:pPr marL="0" indent="0">
              <a:buNone/>
            </a:pPr>
            <a:r>
              <a:rPr lang="sv-SE" b="1" noProof="0" dirty="0"/>
              <a:t>Slutsats:</a:t>
            </a:r>
            <a:br>
              <a:rPr lang="sv-SE" b="1" noProof="0" dirty="0"/>
            </a:br>
            <a:r>
              <a:rPr lang="sv-SE" noProof="0" dirty="0"/>
              <a:t>Bundna utbildningar hade generellt högre beviljandegrad under 2025. Studieformen kan därför vara relevant för The </a:t>
            </a:r>
            <a:r>
              <a:rPr lang="sv-SE" noProof="0" dirty="0" err="1"/>
              <a:t>Skools</a:t>
            </a:r>
            <a:r>
              <a:rPr lang="sv-SE" noProof="0" dirty="0"/>
              <a:t> etableringsbeslut, men skillnaden kan även bero på utbildningsområde.</a:t>
            </a:r>
          </a:p>
          <a:p>
            <a:pPr marL="0" indent="0">
              <a:buNone/>
            </a:pPr>
            <a:r>
              <a:rPr lang="sv-SE" noProof="0" dirty="0"/>
              <a:t>Utbildningar med hög beviljandegrad och flera ansökningar är särskilt intressanta att undersöka vidare.</a:t>
            </a:r>
          </a:p>
          <a:p>
            <a:pPr marL="0" indent="0">
              <a:buNone/>
            </a:pPr>
            <a:endParaRPr lang="sv-SE" noProof="0" dirty="0"/>
          </a:p>
        </p:txBody>
      </p:sp>
    </p:spTree>
    <p:extLst>
      <p:ext uri="{BB962C8B-B14F-4D97-AF65-F5344CB8AC3E}">
        <p14:creationId xmlns:p14="http://schemas.microsoft.com/office/powerpoint/2010/main" val="23031704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0EA1F-D7F3-DDCF-C657-3AAB4192BA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1B49E4-97FF-C22C-4A6E-8BA5AFB367AC}"/>
              </a:ext>
            </a:extLst>
          </p:cNvPr>
          <p:cNvSpPr>
            <a:spLocks noGrp="1"/>
          </p:cNvSpPr>
          <p:nvPr>
            <p:ph type="title"/>
          </p:nvPr>
        </p:nvSpPr>
        <p:spPr/>
        <p:txBody>
          <a:bodyPr/>
          <a:lstStyle/>
          <a:p>
            <a:r>
              <a:rPr lang="sv-SE" noProof="0" dirty="0"/>
              <a:t>Uppgift 3 – Datadrivna beslut – Fråga B</a:t>
            </a:r>
          </a:p>
        </p:txBody>
      </p:sp>
      <p:sp>
        <p:nvSpPr>
          <p:cNvPr id="3" name="Content Placeholder 2">
            <a:extLst>
              <a:ext uri="{FF2B5EF4-FFF2-40B4-BE49-F238E27FC236}">
                <a16:creationId xmlns:a16="http://schemas.microsoft.com/office/drawing/2014/main" id="{D35944D3-E0BC-6171-A226-AB0A9FF91F14}"/>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noProof="0" dirty="0"/>
              <a:t>Fråga B.1–B.3:</a:t>
            </a:r>
            <a:br>
              <a:rPr lang="sv-SE" noProof="0" dirty="0"/>
            </a:br>
            <a:r>
              <a:rPr lang="sv-SE" noProof="0" dirty="0"/>
              <a:t>Vilka SUN5-inriktningar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utbildningsinriktningar och undersöka om bunden utbildning eller distansutbildning ger olika resultat.</a:t>
            </a:r>
          </a:p>
          <a:p>
            <a:pPr marL="0" indent="0">
              <a:buNone/>
            </a:pPr>
            <a:r>
              <a:rPr lang="sv-SE" b="1" noProof="0" dirty="0"/>
              <a:t>Resultat:</a:t>
            </a:r>
            <a:br>
              <a:rPr lang="sv-SE" noProof="0" dirty="0"/>
            </a:br>
            <a:r>
              <a:rPr lang="sv-SE" noProof="0" dirty="0"/>
              <a:t>46 SUN5-inriktningar hade minst 80 % beviljandegrad totalt. När studieformerna analyserades separat uppfyllde 47 bundna och 32 distansinriktningar samma kriterium.</a:t>
            </a:r>
          </a:p>
          <a:p>
            <a:pPr marL="0" indent="0">
              <a:buNone/>
            </a:pPr>
            <a:r>
              <a:rPr lang="sv-SE" noProof="0" dirty="0"/>
              <a:t>Skillnaden beror på att beviljandegraden beräknas separat för varje urval.</a:t>
            </a:r>
          </a:p>
          <a:p>
            <a:pPr marL="0" indent="0">
              <a:buNone/>
            </a:pPr>
            <a:r>
              <a:rPr lang="sv-SE" noProof="0" dirty="0"/>
              <a:t>Exempelvis hade </a:t>
            </a:r>
            <a:r>
              <a:rPr lang="sv-SE" noProof="0" dirty="0" err="1"/>
              <a:t>elkonstruktörsutbildningar</a:t>
            </a:r>
            <a:r>
              <a:rPr lang="sv-SE" noProof="0" dirty="0"/>
              <a:t> 100 % beviljandegrad i bunden form (3 av 3), men endast 42,86 % på distans (3 av 7). Den sammanlagda beviljandegraden blev därför 60 %.</a:t>
            </a:r>
          </a:p>
          <a:p>
            <a:pPr marL="0" indent="0">
              <a:buNone/>
            </a:pPr>
            <a:r>
              <a:rPr lang="sv-SE" noProof="0" dirty="0"/>
              <a:t>Tandsköterskeutbildningar utmärkte sig med 100 % beviljandegrad (17 av 17), fördelat på båda studieformerna.</a:t>
            </a:r>
          </a:p>
          <a:p>
            <a:pPr marL="0" indent="0">
              <a:buNone/>
            </a:pPr>
            <a:r>
              <a:rPr lang="sv-SE" b="1" noProof="0" dirty="0"/>
              <a:t>Slutsats:</a:t>
            </a:r>
            <a:br>
              <a:rPr lang="sv-SE" noProof="0" dirty="0"/>
            </a:br>
            <a:r>
              <a:rPr lang="sv-SE" noProof="0" dirty="0"/>
              <a:t>En inriktning kan vara framgångsrik inom en studieform utan att nå samma resultat totalt. The </a:t>
            </a:r>
            <a:r>
              <a:rPr lang="sv-SE" noProof="0" dirty="0" err="1"/>
              <a:t>Skool</a:t>
            </a:r>
            <a:r>
              <a:rPr lang="sv-SE" noProof="0" dirty="0"/>
              <a:t> bör därför väga in både studieform, beviljandegrad och antal ansökningar vid val av framtida utbildningar.</a:t>
            </a:r>
          </a:p>
          <a:p>
            <a:pPr marL="0" indent="0">
              <a:buNone/>
            </a:pPr>
            <a:endParaRPr lang="sv-SE" noProof="0" dirty="0"/>
          </a:p>
        </p:txBody>
      </p:sp>
    </p:spTree>
    <p:extLst>
      <p:ext uri="{BB962C8B-B14F-4D97-AF65-F5344CB8AC3E}">
        <p14:creationId xmlns:p14="http://schemas.microsoft.com/office/powerpoint/2010/main" val="2060616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6747B-DCF9-3075-2F03-A8E143A6D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D9851-2E4F-4AA1-29C8-0498BD79B7C1}"/>
              </a:ext>
            </a:extLst>
          </p:cNvPr>
          <p:cNvSpPr>
            <a:spLocks noGrp="1"/>
          </p:cNvSpPr>
          <p:nvPr>
            <p:ph type="title"/>
          </p:nvPr>
        </p:nvSpPr>
        <p:spPr/>
        <p:txBody>
          <a:bodyPr/>
          <a:lstStyle/>
          <a:p>
            <a:r>
              <a:rPr lang="sv-SE" noProof="0" dirty="0"/>
              <a:t>Uppgift 3 – Datadrivna beslut – Fråga C</a:t>
            </a:r>
          </a:p>
        </p:txBody>
      </p:sp>
      <p:sp>
        <p:nvSpPr>
          <p:cNvPr id="3" name="Content Placeholder 2">
            <a:extLst>
              <a:ext uri="{FF2B5EF4-FFF2-40B4-BE49-F238E27FC236}">
                <a16:creationId xmlns:a16="http://schemas.microsoft.com/office/drawing/2014/main" id="{0E9485BD-E51C-7ED9-1A46-0CBE908F78FB}"/>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C.1–C.3:</a:t>
            </a:r>
            <a:br>
              <a:rPr lang="sv-SE" noProof="0" dirty="0"/>
            </a:br>
            <a:r>
              <a:rPr lang="sv-SE" noProof="0" dirty="0"/>
              <a:t>Vilka utbildningsområden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utbildningsområden och undersöka om bunden utbildning eller distansutbildning ger olika resultat.</a:t>
            </a:r>
          </a:p>
          <a:p>
            <a:pPr marL="0" indent="0">
              <a:buNone/>
            </a:pPr>
            <a:r>
              <a:rPr lang="sv-SE" b="1" noProof="0" dirty="0"/>
              <a:t>Resultat:</a:t>
            </a:r>
            <a:br>
              <a:rPr lang="sv-SE" noProof="0" dirty="0"/>
            </a:br>
            <a:r>
              <a:rPr lang="sv-SE" noProof="0" dirty="0"/>
              <a:t>Eftersom områden räcker ett större spann än tidigare frågor, så slopades här 80%-kravet. Resultatet är spretigt. Transporttjänster vann beviljandegraden med 64.29% av 14 ansökningar, medan DATA/IT kom på sista plats med 14.09% av 220 ansökningar. Stor skillnad sedan på bundet eller distans.</a:t>
            </a:r>
          </a:p>
          <a:p>
            <a:pPr marL="0" indent="0">
              <a:buNone/>
            </a:pPr>
            <a:r>
              <a:rPr lang="sv-SE" b="1" noProof="0" dirty="0"/>
              <a:t>Slutsats:</a:t>
            </a:r>
            <a:br>
              <a:rPr lang="sv-SE" noProof="0" dirty="0"/>
            </a:br>
            <a:r>
              <a:rPr lang="sv-SE" noProof="0" dirty="0"/>
              <a:t>Ämnet utbildningsområden är för stort och spretigt </a:t>
            </a:r>
            <a:r>
              <a:rPr lang="sv-SE" noProof="0" dirty="0" err="1"/>
              <a:t>attt</a:t>
            </a:r>
            <a:r>
              <a:rPr lang="sv-SE" noProof="0" dirty="0"/>
              <a:t> analysera med dessa frågor. Här bör i en större analys varje område analyseras för sig. Med gällande världsutveckling inom DATA/IT exempelvis är det rimligt att undersöka om AI-relaterade utbildningar är mer attraktiva än programmering.</a:t>
            </a:r>
          </a:p>
          <a:p>
            <a:pPr marL="0" indent="0">
              <a:buNone/>
            </a:pPr>
            <a:endParaRPr lang="sv-SE" noProof="0" dirty="0"/>
          </a:p>
        </p:txBody>
      </p:sp>
    </p:spTree>
    <p:extLst>
      <p:ext uri="{BB962C8B-B14F-4D97-AF65-F5344CB8AC3E}">
        <p14:creationId xmlns:p14="http://schemas.microsoft.com/office/powerpoint/2010/main" val="1314162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58171-0FF9-1D06-C066-0CB1AE6FB8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266BC-69B1-8984-E7BA-53B823258F6B}"/>
              </a:ext>
            </a:extLst>
          </p:cNvPr>
          <p:cNvSpPr>
            <a:spLocks noGrp="1"/>
          </p:cNvSpPr>
          <p:nvPr>
            <p:ph type="title"/>
          </p:nvPr>
        </p:nvSpPr>
        <p:spPr/>
        <p:txBody>
          <a:bodyPr/>
          <a:lstStyle/>
          <a:p>
            <a:r>
              <a:rPr lang="sv-SE" noProof="0" dirty="0"/>
              <a:t>Uppgift 3 – Datadrivna beslut – Fråga D</a:t>
            </a:r>
          </a:p>
        </p:txBody>
      </p:sp>
      <p:sp>
        <p:nvSpPr>
          <p:cNvPr id="3" name="Content Placeholder 2">
            <a:extLst>
              <a:ext uri="{FF2B5EF4-FFF2-40B4-BE49-F238E27FC236}">
                <a16:creationId xmlns:a16="http://schemas.microsoft.com/office/drawing/2014/main" id="{C2C925EB-BD74-C9C7-39AB-30770BF589F0}"/>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D.1–D.4:</a:t>
            </a:r>
            <a:br>
              <a:rPr lang="sv-SE" noProof="0" dirty="0"/>
            </a:br>
            <a:r>
              <a:rPr lang="sv-SE" noProof="0" dirty="0"/>
              <a:t>Vilka län och kommuner har högst beviljandegrad respektive högst antal beviljade kurser och platser, samt fördelning på bunden och distans</a:t>
            </a:r>
          </a:p>
          <a:p>
            <a:pPr marL="0" indent="0">
              <a:buNone/>
            </a:pPr>
            <a:r>
              <a:rPr lang="sv-SE" b="1" noProof="0" dirty="0"/>
              <a:t>Syfte:</a:t>
            </a:r>
            <a:br>
              <a:rPr lang="sv-SE" noProof="0" dirty="0"/>
            </a:br>
            <a:r>
              <a:rPr lang="sv-SE" noProof="0" dirty="0"/>
              <a:t>Identifiera geografiska skillnader och undersöka om bunden utbildning eller distansutbildning ger olika resultat.</a:t>
            </a:r>
          </a:p>
          <a:p>
            <a:pPr marL="0" indent="0">
              <a:buNone/>
            </a:pPr>
            <a:r>
              <a:rPr lang="sv-SE" b="1" noProof="0" dirty="0"/>
              <a:t>Resultat:</a:t>
            </a:r>
            <a:br>
              <a:rPr lang="sv-SE" noProof="0" dirty="0"/>
            </a:br>
            <a:r>
              <a:rPr lang="sv-SE" noProof="0" dirty="0"/>
              <a:t>Resultatet visar på skillnader i utfall geografiskt, och visar att även om ett område får en förhållandevis låg beviljandegrad, så kan det beviljas många utbildningar och platser.</a:t>
            </a:r>
          </a:p>
          <a:p>
            <a:pPr marL="0" indent="0">
              <a:buNone/>
            </a:pPr>
            <a:r>
              <a:rPr lang="sv-SE" b="1" noProof="0" dirty="0"/>
              <a:t>Slutsats:</a:t>
            </a:r>
            <a:br>
              <a:rPr lang="sv-SE" noProof="0" dirty="0"/>
            </a:br>
            <a:r>
              <a:rPr lang="sv-SE" noProof="0" dirty="0"/>
              <a:t>Frågan måste kombineras med andra i fråga om område och SUN5 för kunna analyseras vidare. En fråga att ta ställning till är om ort verkligen är intressant vid beviljande av distansutbildningar och det som bör utredas närmare är ifall vissa orter prioriteras av MYH på grund av arbetslöshet eller behov av specialistkompetens, exempelvis på grund av lokal brist på sjukvårdspersonal.</a:t>
            </a:r>
          </a:p>
          <a:p>
            <a:pPr marL="0" indent="0">
              <a:buNone/>
            </a:pPr>
            <a:endParaRPr lang="sv-SE" noProof="0" dirty="0"/>
          </a:p>
          <a:p>
            <a:pPr marL="0" indent="0">
              <a:buNone/>
            </a:pPr>
            <a:endParaRPr lang="sv-SE" noProof="0" dirty="0"/>
          </a:p>
        </p:txBody>
      </p:sp>
    </p:spTree>
    <p:extLst>
      <p:ext uri="{BB962C8B-B14F-4D97-AF65-F5344CB8AC3E}">
        <p14:creationId xmlns:p14="http://schemas.microsoft.com/office/powerpoint/2010/main" val="19760288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B3DD2-1DBE-29A8-10CF-6C62BBD7F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C4814-D5D0-7CD7-A52E-8E9684257122}"/>
              </a:ext>
            </a:extLst>
          </p:cNvPr>
          <p:cNvSpPr>
            <a:spLocks noGrp="1"/>
          </p:cNvSpPr>
          <p:nvPr>
            <p:ph type="title"/>
          </p:nvPr>
        </p:nvSpPr>
        <p:spPr/>
        <p:txBody>
          <a:bodyPr/>
          <a:lstStyle/>
          <a:p>
            <a:r>
              <a:rPr lang="sv-SE" noProof="0" dirty="0"/>
              <a:t>Uppgift 3 – Datadrivna beslut – Fråga E</a:t>
            </a:r>
          </a:p>
        </p:txBody>
      </p:sp>
      <p:sp>
        <p:nvSpPr>
          <p:cNvPr id="3" name="Content Placeholder 2">
            <a:extLst>
              <a:ext uri="{FF2B5EF4-FFF2-40B4-BE49-F238E27FC236}">
                <a16:creationId xmlns:a16="http://schemas.microsoft.com/office/drawing/2014/main" id="{A1564E59-1A33-2F35-1712-33B08064DA75}"/>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E.1–E.4:</a:t>
            </a:r>
            <a:br>
              <a:rPr lang="sv-SE" noProof="0" dirty="0"/>
            </a:br>
            <a:r>
              <a:rPr lang="sv-SE" noProof="0" dirty="0"/>
              <a:t>Hur ser beviljandegraden ut baserat på antal YH-poäng och sökta omgångar?</a:t>
            </a:r>
          </a:p>
          <a:p>
            <a:pPr marL="0" indent="0">
              <a:buNone/>
            </a:pPr>
            <a:r>
              <a:rPr lang="sv-SE" b="1" noProof="0" dirty="0"/>
              <a:t>Syfte:</a:t>
            </a:r>
            <a:br>
              <a:rPr lang="sv-SE" noProof="0"/>
            </a:br>
            <a:r>
              <a:rPr lang="sv-SE" noProof="0"/>
              <a:t>Undersöka om det finns samband mellan utbildningens längd, antalet sökta utbildningsomgångar och beviljandegraden, samt hur många omgångar som faktiskt beviljas.</a:t>
            </a:r>
          </a:p>
          <a:p>
            <a:pPr marL="0" indent="0">
              <a:buNone/>
            </a:pPr>
            <a:r>
              <a:rPr lang="sv-SE" b="1" noProof="0"/>
              <a:t>Resultat</a:t>
            </a:r>
            <a:r>
              <a:rPr lang="sv-SE" b="1" noProof="0" dirty="0"/>
              <a:t>:</a:t>
            </a:r>
            <a:br>
              <a:rPr lang="sv-SE" noProof="0" dirty="0"/>
            </a:br>
            <a:r>
              <a:rPr lang="sv-SE" noProof="0" dirty="0"/>
              <a:t>Resultatet visar stora skillnader. Ca 90% av alla beviljade utbildningar har 3 omgångar, och 118 utbildningar som sökt 5 omgångar har blivit beviljade 3.</a:t>
            </a:r>
            <a:br>
              <a:rPr lang="sv-SE" noProof="0" dirty="0"/>
            </a:br>
            <a:r>
              <a:rPr lang="sv-SE" noProof="0" dirty="0"/>
              <a:t>I fråga om YH-poäng har endast intervallet 300-399 fått fler än hälften av ansökningarna beviljade. Det största segmentet i mängd är 400-499 där 267 av 746 beviljades, eller 35,79%</a:t>
            </a:r>
          </a:p>
          <a:p>
            <a:pPr marL="0" indent="0">
              <a:buNone/>
            </a:pPr>
            <a:r>
              <a:rPr lang="sv-SE" b="1" noProof="0" dirty="0"/>
              <a:t>Slutsats:</a:t>
            </a:r>
            <a:br>
              <a:rPr lang="sv-SE" noProof="0" dirty="0"/>
            </a:br>
            <a:r>
              <a:rPr lang="sv-SE" noProof="0" dirty="0"/>
              <a:t>Resultaten visar att MYH i detta material oftast beviljar tre utbildningsomgångar, även när fler har sökts. Utbildningar på 300–399 YH-poäng har högst beviljandegrad, men det går inte att fastställa om utbildningens längd i sig påverkar beslutet.</a:t>
            </a:r>
          </a:p>
          <a:p>
            <a:pPr marL="0" indent="0">
              <a:buNone/>
            </a:pPr>
            <a:endParaRPr lang="sv-SE" noProof="0" dirty="0"/>
          </a:p>
        </p:txBody>
      </p:sp>
    </p:spTree>
    <p:extLst>
      <p:ext uri="{BB962C8B-B14F-4D97-AF65-F5344CB8AC3E}">
        <p14:creationId xmlns:p14="http://schemas.microsoft.com/office/powerpoint/2010/main" val="396346767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790</TotalTime>
  <Words>1834</Words>
  <Application>Microsoft Macintosh PowerPoint</Application>
  <PresentationFormat>Widescreen</PresentationFormat>
  <Paragraphs>70</Paragraphs>
  <Slides>18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Aptos</vt:lpstr>
      <vt:lpstr>Aptos Display</vt:lpstr>
      <vt:lpstr>Arial</vt:lpstr>
      <vt:lpstr>Office Theme</vt:lpstr>
      <vt:lpstr>The Skool – Jens Dossel</vt:lpstr>
      <vt:lpstr>Uppgift 0 - uppvärmning </vt:lpstr>
      <vt:lpstr>Uppgift 1 – grundläggande EDA a) Antal ansökningar per utbildningsområde, sorterat på flest ansökningar – uppgift_1/a_1.sql</vt:lpstr>
      <vt:lpstr>Uppgift 1 – grundläggande EDA b) Antal BEVILJADE ansökningar per utbildningsområde– uppgift_1/b_1.sql</vt:lpstr>
      <vt:lpstr>Uppgift 1 – grundläggande EDA c) Antal AVSLAGNA ansökningar per utbildningsområde– uppgift_1/c_1.sql</vt:lpstr>
      <vt:lpstr>Uppgift 1 – grundläggande EDA d) Antal BEVILJADE ansökningar per utbildningsnamn inom Data/IT – uppgift_1/d_1.sql</vt:lpstr>
      <vt:lpstr>Uppgift 1 – grundläggande EDA e) Antal AVSLAGNA ansökningar per utbildningsnamn inom Data/IT – uppgift_1/e_1.sql</vt:lpstr>
      <vt:lpstr>Uppgift 1 – grundläggande EDA f) Antal BEVILJADE ansökningar per utbildningsandordnare administrativ enhet och utbildningsnamn inom Data/IT – uppgift_1/f_1.sql</vt:lpstr>
      <vt:lpstr>Uppgift 1 – grundläggande EDA g) Topp 5 län efter antal beviljade ansökningar – uppgift_1/g_1.sql</vt:lpstr>
      <vt:lpstr>Uppgift 1 – grundläggande EDA h) Andel distans och andel bundna utbildningar inom respektive utbildingsområde – uppgift_1/h_1.sql</vt:lpstr>
      <vt:lpstr>Uppgift 1 – grundläggande EDA i) Antal utbildningar som innehåller  ordet AI – uppgift_1/i_1.sql</vt:lpstr>
      <vt:lpstr>Uppgift 2 – Intervjua Domänexpert</vt:lpstr>
      <vt:lpstr>Uppgift 3 – Datadrivna beslut</vt:lpstr>
      <vt:lpstr>Uppgift 3 – Datadrivna beslut – Fråga A</vt:lpstr>
      <vt:lpstr>Uppgift 3 – Datadrivna beslut – Fråga B</vt:lpstr>
      <vt:lpstr>Uppgift 3 – Datadrivna beslut – Fråga C</vt:lpstr>
      <vt:lpstr>Uppgift 3 – Datadrivna beslut – Fråga D</vt:lpstr>
      <vt:lpstr>Uppgift 3 – Datadrivna beslut – Fråga 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Jens Dossel (student syh)</dc:creator>
  <cp:lastModifiedBy>Jens Dossel (student syh)</cp:lastModifiedBy>
  <cp:revision>11</cp:revision>
  <dcterms:created xsi:type="dcterms:W3CDTF">2026-10-19T14:14:52Z</dcterms:created>
  <dcterms:modified xsi:type="dcterms:W3CDTF">2026-10-23T15:33:13Z</dcterms:modified>
</cp:coreProperties>
</file>